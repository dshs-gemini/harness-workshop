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914287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(1분) "오늘 여러분은 코드를 한 줄도 직접 쓰지 않고, 내 학급용 온라인 클래스룸을 만들어 인터넷 주소까지 가져갑니다. 로그인, 수업코드, 수업자료, 학습지, 맞춤 피드백까지 다섯 가지 기능입니다." 시작 시각을 알리고 바로 데모로 넘어간다.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(3분) 강사가 완성본(`checkpoint-final`)을 열어 시연한다. 화면 두 개(교사 계정 일반 창, 테스트 학생 계정 시크릿 창)를 준비해 둔다.
 진행 순서: (1) 교사로 로그인해 수업을 만들고 수업코드를 보여준다. (2) 학생 창에서 그 코드로 가입한다. (3) 교사가 자료와 학습지를 올리면 학생 창에 나타나는 것을 보여준다. (4) 학생이 제출하고 교사가 피드백을 보내면 학생 화면에 도착하는 것을 보여준다.
 "지금은 어떻게 만드는지 몰라도 됩니다. 이 흐름이 오늘 우리가 지나갈 길입니다." 시연 계정은 모두 테스트 계정이며 실제 학생 이름을 쓰지 않았음을 한 마디 한다.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(노트) 확인필요: Windows PowerShell 설치 명령 전체 문구  &lt;- "l -fsSL https://claude.ai/install.sh | bash)."
- (노트) 확인필요: Node.js 최신 설치 방법  &lt;- "js 필요), 터미널 = 컴퓨터에 글자로 명령을 내리는 창(교무실 내선 전화).""
[발표자 노트 원문]
(2분) 로드맵은 한 번만 훑는다. 기능을 한 칸씩 더하고, 모듈이 끝날 때마다 복구 지점이 있다고 예고한다.
 개인정보 원칙: "연습에서는 여러분의 두 번째 구글 계정 같은 테스트 계정만 학생 역할로 씁니다. 실제 학생 이름, 이메일은 절대 넣지 않습니다. 실제 학급에 쓸 때는 소속 기관의 개인정보 지침을 따릅니다."
 준비물이 안 된 참가자는 손을 들게 하고 조교가 휴식 전까지 돕는다.
 Claude Code 계정(사전 안내에도 반드시 포함): Claude Code는 Pro·Max·Team·Enterprise 또는 Console(API) 계정이 필요하고 무료 claude.ai 플랜으로는 쓸 수 없다(공식 문서 확인). 유료 계정 준비 여부는 연수 당일이 아니라 사전 안내 단계에서 걸러 둔다. 설치는 공식 설치 명령을 쓴다(macOS: `curl -fsSL https://claude.ai/install.sh | bash`). `[확인필요: Windows PowerShell 설치 명령 전체 문구]`
 용어 한 줄 비유: "Node.js = 도구를 돌리는 엔진, Firebase CLI = 터미널에서 Firebase에 올리는 배달 도구(설치 명령 `npm install -g firebase-tools`, Node.js 필요), 터미널 = 컴퓨터에 글자로 명령을 내리는 창(교무실 내선 전화)." `[확인필요: Node.js 최신 설치 방법]`
 `firebase login`은 브라우저 인증이 있어 모듈 7에서 시간이 길어진다. 사전 안내문에 넣고, 못 한 참가자는 휴식 시간에 마치게 한다.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(2분) 비유: "복사실에 자료 제작을 맡기는 것과 같습니다. 무엇을, 누구를 위해, 어떤 모양으로 원하는지 말해야 원하는 자료가 나옵니다." 코드의 의미를 이해하지 못해도 괜찮고, 결과가 화면에서 맞게 보이는지가 우리의 검수 기준이라고 안내한다.
 요청 문장 요령 한 줄: "무엇을 + 누구를 위해 + 확인 방법"을 적으면 좋다. 다음 슬라이드가 실습이므로 설명을 짧게 끝낸다.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(프롬프트) 확인필요: 운영체제별 폴더 만들기 명령  &lt;- "ows는 PowerShell이다. claude 실행 명령은 공식 문서에서 확인됨."
- (예상 결과) 확인필요  &lt;- "index.html(macOS) / start index.html(Windows)"
- (막힐 때) 확인필요: 권한 확인 화면의 표시 문구  &lt;- "내용을 읽고 "허용(yes)"을 고른다. 이 폴더 안의 파일 생성이라서 괜찮다."
[발표자 노트 원문]
(5분) 시연 후 바로 손을 움직이게 한다. 강사가 먼저 1분 동안 같은 순서로 해 보이고, 나머지 4분은 개별 진행. 조교는 "폴더 안에서 claude를 실행했는지", "붙여넣기가 됐는지"를 중점 확인한다.
 끝난 참가자에게는 "색을 바꿔 달라고 말해 보세요"라고 안내한다. 이것이 오늘의 반복 패턴(요청 → 확인 → 수정 요청)이다. 이 슬라이드의 결과물이 모듈 1 실습 산출물이다(빈 프로젝트 폴더 + "환영합니다" index.html).
 전원이 확인하지 못하면 `checkpoint-0`(빈 시작 폴더)로 안내한다.
[복사용 프롬프트 전문 / 실습 순서]
먼저 터미널(컴퓨터에 글자로 명령을 내리는 창, 교무실 내선 전화)에서 폴더를 만들고 Claude Code를 실행한다. 터미널 여는 법은 macOS는 터미널 앱, Windows는 PowerShell이다. `claude` 실행 명령은 공식 문서에서 확인됨. `[확인필요: 운영체제별 폴더 만들기 명령]`
 ```
 mkdir my-classroom
 cd my-classroom
 claude
 ```
 Claude Code 입력창에 아래 문장을 그대로 붙여넣는다.
 ```
 이 폴더에 index.html 파일을 하나 만들어 줘.
 화면 가운데에 "환영합니다. 우리 반 온라인 클래스룸"이라는 큰 제목이 보이게 해 줘.
 배경은 크림색(#f8f2e4), 글자는 진한 갈색(#2a2314)으로 하고, 초등학생도 읽기 쉬운 큰 글씨로 해 줘.
 파일은 index.html 하나만 만들고, 다른 설치나 설정은 하지 마.
 ```
[예상 결과]
폴더 안에 `index.html`이 생기고, 브라우저로 열면 크림색 배경 가운데에 "환영합니다. 우리 반 온라인 클래스룸"이 크게 보인다. 브라우저에서 여는 방법: 파일 탐색기에서 `index.html`을 더블클릭하거나 터미널에서 `open index.html`(macOS) / `start index.html`(Windows) `[확인필요]`.
[막힐 때]
- Claude Code가 파일 만들기 허락을 물어볼 때: 내용을 읽고 "허용(yes)"을 고른다. 이 폴더 안의 파일 생성이라서 괜찮다. `[확인필요: 권한 확인 화면의 표시 문구]`
 - 브라우저에 아무것도 안 보일 때: Claude Code에 "index.html이 비어 있어. 다시 만들어 줘"라고 말하거나, 폴더 위치(`my-classroom`)가 맞는지 확인한다. 그래도 안 되면 `checkpoint-0`을 연다.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(노트) 확인필요: 체크포인트 폴더 배포 위치·접근 방법은 practice-engineer 확인  &lt;- "서 시작). 이번 모듈의 복구 지점은 checkpoint-0(빈 시작 폴더)이다."
[발표자 노트 원문]
(2분) "막히는 것은 정상입니다. 막혔을 때 오류 메시지를 읽으려 하지 말고 통째로 복사해 Claude Code에 붙여넣으세요. 대부분 그것으로 해결됩니다."
 복구 지점 사용법: "막혔다면 checkpoint 폴더를 열고 다음 모듈부터 따라오세요. 지금 모듈이 안 끝나도 다음 모듈은 바로 시작할 수 있습니다." 다음 모듈의 시작 지점은 직전 모듈의 체크포인트다(모듈 2는 `checkpoint-0`에서 시작). 이번 모듈의 복구 지점은 `checkpoint-0`(빈 시작 폴더)이다. `[확인필요: 체크포인트 폴더 배포 위치·접근 방법은 practice-engineer 확인]`
 마지막에 다음 모듈(Firebase 설정 + 구글 로그인)을 예고하고 모듈 1 합계 15분을 맞춰 마친다.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(4분) "오늘 쓸 Firebase 도구는 세 가지입니다. 출석부 확인은 Authentication, 서류함은 Firestore, 게시판은 Hosting입니다. 우리가 서버를 직접 만들 필요 없이 이 세 가지를 빌려 씁니다. 오늘은 로그인(출석부 확인)과 서류함을 먼저 연결하고, 게시판은 마지막 모듈에서 씁니다." 전문 용어가 나오면 반드시 비유를 같이 말한다. 다음 슬라이드는 바로 손을 움직이는 실습이므로 넘어가기 전에 "구글 계정으로 Firebase 콘솔에 들어갈 수 있는지" 손을 들어 확인한다.
[복사용 프롬프트 전문 / 실습 순서]
(해당 없음)
[예상 결과]
(해당 없음)
[막힐 때]
(해당 없음)</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(프롬프트) 확인필요: 접속 주소  &lt;- "ase 콘솔 주소 console.firebase.google.com 입력 후 이동"
- (프롬프트) 확인필요: 버튼 이름  &lt;- "e 콘솔 첫 화면에 "프로젝트 만들기(또는 프로젝트 추가)" 카드나 버튼이 보인다"
- (프롬프트) 확인필요: 버튼 이름  &lt;- "누를 것: 그 버튼, 이어서 이름 칸에 my-classroom 입력 후 "계속""
- (프롬프트) 확인필요: ID 자동 표시 위치  &lt;- "계속"  → 확인할 것: 이름 아래에 고유 프로젝트 ID가 자동으로 붙어 표시된다"
- (프롬프트) 확인필요: 화면 유무  &lt;- "표시된다    4. 화면에서 찾을 것: 이어지는 안내 화면(Gemini 사용 안내"
- (프롬프트) 확인필요: 선택 화면 유무  &lt;- "찾을 것: 이어지는 안내 화면(Gemini 사용 안내 , Google 애널리틱스"
- (프롬프트) 확인필요: 버튼 이름  &lt;- "ogle 애널리틱스 ) → 누를 것: 애널리틱스 스위치는 끄고 "프로젝트 만들기""
- (막힐 때) 확인필요  &lt;- "이 안 보일 때: 학교 계정(관리자 제한)이면 개인 구글 계정으로 다시 로그인한다"
- (막힐 때) 확인필요: ID 편집 방법  &lt;- "이름이라고 나올 때: 이름 뒤에 숫자를 붙이거나 화면의 ID 수정 연필을 누른다"
[발표자 노트 원문]
(2분) 화면을 같이 띄우고 천천히 한 단계씩 시연한다. 콘솔 메뉴 이름은 시기에 따라 바뀔 수 있으니 "화면이 조금 달라도 같은 이름의 버튼을 찾으세요"라고 먼저 안내한다. 조교는 이 단계에서 막힌 분(계정 문제)을 우선 돕는다. 2분 안에 끝난 분은 다음 슬라이드를 먼저 읽게 한다.
[복사용 프롬프트 전문 / 실습 순서]
(콘솔 작업이므로 Claude Code 프롬프트 없음. 아래 순서를 화면에서 따라 한다.)
 1. 화면에서 찾을 것: 브라우저 주소창 → 누를 것: Firebase 콘솔 주소 `console.firebase.google.com` 입력 후 이동 `[확인필요: 접속 주소]` → 확인할 것: 구글 로그인 화면 또는 Firebase 시작 화면이 보인다
 2. 화면에서 찾을 것: 구글 로그인 화면 → 누를 것: 교사용(테스트) 구글 계정 선택 후 로그인 → 확인할 것: Firebase 콘솔 첫 화면에 "프로젝트 만들기(또는 프로젝트 추가)" 카드나 버튼이 보인다 `[확인필요: 버튼 이름]`
 3. 화면에서 찾을 것: "프로젝트 만들기(또는 프로젝트 추가)" → 누를 것: 그 버튼, 이어서 이름 칸에 `my-classroom` 입력 후 "계속" `[확인필요: 버튼 이름]` → 확인할 것: 이름 아래에 고유 프로젝트 ID가 자동으로 붙어 표시된다 `[확인필요: ID 자동 표시 위치]`
 4. 화면에서 찾을 것: 이어지는 안내 화면(Gemini 사용 안내 `[확인필요: 화면 유무]`, Google 애널리틱스 `[확인필요: 선택 화면 유무]`) → 누를 것: 애널리틱스 스위치는 끄고 "프로젝트 만들기" `[확인필요: 버튼 이름]` → 확인할 것: 프로젝트 준비 중 표시 후 "계속" 버튼이 나타난다
 5. 화면에서 찾을 것: "계속" 버튼 → 누를 것: 계속 → 확인할 것: 프로젝트 홈(왼쪽 메뉴와 가운데 앱 추가 아이콘들)이 열리고 왼쪽 위에 `my-classroom`이 보인다
[예상 결과]
프로젝트 홈 화면이 열려 있고 왼쪽 위(또는 상단)에 내 프로젝트 이름이 보인다.
[막힐 때]
- 프로젝트 만들기 버튼이 안 보일 때: 학교 계정(관리자 제한)이면 개인 구글 계정으로 다시 로그인한다 `[확인필요]`
 - 프로젝트 ID가 이미 쓰인 이름이라고 나올 때: 이름 뒤에 숫자를 붙이거나 화면의 ID 수정 연필을 누른다 `[확인필요: ID 편집 방법]`</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(도식) 확인필요: 아이콘·메뉴 이름  &lt;- "nfig 블록 보임] → [메모장에 복사]. 각 칸에 콘솔 화면 캡처 자리 표시."
- (프롬프트) 확인필요: 메뉴 위치, 아이콘 모양  &lt;- "프로젝트 홈 가운데의 앱 아이콘들 중 &lt;/&gt; 모양(웹) → 누를 것: 그 아이콘"
- (프롬프트) 확인필요: 입력 칸 이름  &lt;- "앱 닉네임" 입력 칸 → 누를 것: 칸을 눌러 my-classroom-web 입력"
- (프롬프트) 확인필요: 체크 칸과 버튼 이름. Hosting은 모듈 7에서 설정  &lt;- "ng도 설정" 체크 칸 → 누를 것: 체크하지 않은 상태로 두고 "앱 등록" 버튼"
- (프롬프트) 확인필요: 부분 이름  &lt;- "정 및 구성" 부분의 const firebaseConfig = { ... } 블록"
- (프롬프트) 확인필요: npm/CDN 선택 화면 유무  &lt;- "g) 표시를 선택한 뒤 블록을 마우스로 드래그해 복사(Ctrl+C / Cmd+C)"
- (프롬프트) 확인필요: 버튼 이름  &lt;- "apiKey, projectId 줄이 보인다. 그다음 콘솔의 "콘솔로 이동" 버튼"
- (막힐 때) 확인필요: 메뉴 이름  &lt;- "로젝트 설정(톱니바퀴) → "내 앱"(또는 일반 탭 아래쪽)에서 다시 볼 수 있다"
- (막힐 때) 확인필요: 화면 구성  &lt;- "- 웹 앱 아이콘을 못 찾을 때: 프로젝트 홈에서 "앱 추가" 버튼을 먼저 누른다"
[발표자 노트 원문]
(3분) 한 단계씩 시연한다. 가장 많이 놓치는 부분은 4단계 블록 위치와 Hosting 체크이므로 두 곳은 화면을 확대해 보여 준다. "복사한 값은 메모장에 두세요. 다음 슬라이드에서 이 값이 공개되어도 되는지 이야기합니다"라고 연결한다. 3분 안에 끝난 분은 다음 슬라이드(개념)를 먼저 읽게 한다.
[복사용 프롬프트 전문 / 실습 순서]
(콘솔 작업이므로 Claude Code 프롬프트 없음. 아래 순서를 화면에서 따라 한다.)
 1. 화면에서 찾을 것: 프로젝트 홈 가운데의 앱 아이콘들 중 `&lt;/&gt;` 모양(웹) → 누를 것: 그 아이콘 `[확인필요: 메뉴 위치, 아이콘 모양]` → 확인할 것: "웹 앱에 Firebase 추가(또는 앱 등록)" 화면이 열린다
 2. 화면에서 찾을 것: "앱 닉네임" 입력 칸 → 누를 것: 칸을 눌러 `my-classroom-web` 입력 `[확인필요: 입력 칸 이름]` → 확인할 것: 칸에 글자가 들어갔다
 3. 화면에서 찾을 것: "Firebase Hosting도 설정" 체크 칸 → 누를 것: 체크하지 않은 상태로 두고 "앱 등록" 버튼 `[확인필요: 체크 칸과 버튼 이름. Hosting은 모듈 7에서 설정]` → 확인할 것: 다음 단계 화면으로 바뀐다
 4. 화면에서 찾을 것: "SDK 설정 및 구성" 부분의 `const firebaseConfig = { ... }` 블록 `[확인필요: 부분 이름]` → 누를 것: "CDN" 또는 "구성" 선택이 있으면 구성(config) 표시를 선택한 뒤 블록을 마우스로 드래그해 복사(Ctrl+C / Cmd+C) `[확인필요: npm/CDN 선택 화면 유무]` → 확인할 것: `apiKey`, `authDomain`, `projectId` 등이 들어 있는 블록을 복사했다
 5. 화면에서 찾을 것: 내 컴퓨터의 메모장 → 누를 것: 붙여넣기(Ctrl+V / Cmd+V) → 확인할 것: 메모장에 `apiKey`, `projectId` 줄이 보인다. 그다음 콘솔의 "콘솔로 이동" 버튼 `[확인필요: 버튼 이름]`
[예상 결과]
메모장에 `firebaseConfig` 블록이 복사돼 있고, 콘솔은 프로젝트 홈으로 돌아와 있다.
[막힐 때]
- 설정값 화면을 닫아 버렸을 때: 프로젝트 설정(톱니바퀴) → "내 앱"(또는 일반 탭 아래쪽)에서 다시 볼 수 있다 `[확인필요: 메뉴 이름]`
 - 웹 앱 아이콘을 못 찾을 때: 프로젝트 홈에서 "앱 추가" 버튼을 먼저 누른다 `[확인필요: 화면 구성]`</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(노트) 확인필요: 연수 시점 요금  &lt;- "금제가 필요하다(공식 문서). 무료 사용량과 AI API 비용은 연수 시점에 확인"
[발표자 노트 원문]
(4분) "설정값이 인터넷에 보이면 큰일 아닌가요?"라는 질문이 반드시 나온다. 답: 이 값은 "어느 프로젝트로 연결할지"를 알려주는 주소 역할이고, 누가 무엇을 읽고 쓸 수 있는지는 보안 규칙이 정한다. 그래서 규칙이 중요하며 모듈 7에서 완성한다. 대비해서 AI API 키는 브라우저에 두면 누구나 가져다 쓸 수 있어 비용과 오남용으로 이어지므로 서버에 보관한다(모듈 6 예고. Cloud Functions를 배포하려면 Blaze(종량제) 요금제가 필요하다(공식 문서). 무료 사용량과 AI API 비용은 연수 시점에 확인 `[확인필요: 연수 시점 요금]`). 이 슬라이드가 끝나면 바로 설정 실습으로 넘어가므로 질문은 2분 안에 정리한다.
[복사용 프롬프트 전문 / 실습 순서]
(해당 없음)
[예상 결과]
(해당 없음)
[막힐 때]
(해당 없음)</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(도식) 확인필요: 리허설 캡처 - 한국어 메뉴·버튼 이름  &lt;- "기 → 로그인 방법 → Google → 사용 설정 → 지원 이메일 선택 → 저장]"
- (프롬프트) 확인필요: 리허설 캡처 - 한국어 메뉴 표기  &lt;- ": 콘솔 왼쪽 메뉴의 **보안(Security) &gt; Authentication**"
- (프롬프트) 확인필요: 탭 이름  &lt;- "할 것: "로그인 방법(Sign-in method)" 탭과 제공업체 목록이 보인다"
- (프롬프트) 확인필요: 목록 위치. 안 보이면 "새 제공업체 추가"  &lt;- "목록이 보인다    3. 화면에서 찾을 것: 제공업체 목록의 "Google" 줄"
- (프롬프트) 확인필요: 칸·버튼 이름  &lt;- "누를 것: 스위치를 켜고, 선택 칸에서 내 교사용 계정 이메일 선택 후 "저장""
- (프롬프트) 확인필요: 상태 표현  &lt;- "확인할 것: 창이 닫히고 목록의 Google 줄 상태가 "사용 설정됨"으로 바뀐다"
- (막힐 때) 확인필요: 화면 구성  &lt;- "- Google이 목록에 안 보일 때: "새 제공업체 추가" 버튼에서 찾는다"
- (막힐 때) 확인필요  &lt;- "이 비어 있을 때: 현재 로그인한 구글 계정이 맞는지 확인하고 화면을 새로고침한다"
[발표자 노트 원문]
(2분) 지원 이메일 선택에서 막히는 분이 많으니 조교가 순회한다. 비유: "이 스위치는 교문 앞 출석 확인 창구를 구글 방식으로 열어 두는 것입니다." 사용할 로그인 방법은 Google 하나뿐이고 이메일/비밀번호는 켜지 않는다고 말한다. 2분 안에 끝난 분은 슬라이드 12를 미리 읽게 한다.
[복사용 프롬프트 전문 / 실습 순서]
(콘솔 작업이므로 Claude Code 프롬프트 없음. 아래 순서를 화면에서 따라 한다.)
 1. 화면에서 찾을 것: 콘솔 왼쪽 메뉴의 **보안(Security) &gt; Authentication** `[확인필요: 리허설 캡처 - 한국어 메뉴 표기]` → 누를 것: Authentication → 확인할 것: Authentication 소개 화면에 "시작하기" 버튼이 보인다
 2. 화면에서 찾을 것: "시작하기" 버튼 → 누를 것: 시작하기 → 확인할 것: "로그인 방법(Sign-in method)" 탭과 제공업체 목록이 보인다 `[확인필요: 탭 이름]`
 3. 화면에서 찾을 것: 제공업체 목록의 "Google" 줄 `[확인필요: 목록 위치. 안 보이면 "새 제공업체 추가"]` → 누를 것: Google → 확인할 것: 오른쪽에 "사용 설정" 스위치가 있는 창이 열린다
 4. 화면에서 찾을 것: "사용 설정" 스위치와 "프로젝트 지원 이메일" 선택 칸 → 누를 것: 스위치를 켜고, 선택 칸에서 내 교사용 계정 이메일 선택 후 "저장" `[확인필요: 칸·버튼 이름]` → 확인할 것: 창이 닫히고 목록의 Google 줄 상태가 "사용 설정됨"으로 바뀐다 `[확인필요: 상태 표현]`
[예상 결과]
로그인 방법 목록에서 Google이 "사용 설정됨"으로 보인다.
[막힐 때]
- Google이 목록에 안 보일 때: "새 제공업체 추가" 버튼에서 찾는다 `[확인필요: 화면 구성]`
 - 지원 이메일 선택 칸이 비어 있을 때: 현재 로그인한 구글 계정이 맞는지 확인하고 화면을 새로고침한다 `[확인필요]`</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(도식) 확인필요: 리허설 캡처 - 한국어 메뉴·탭 이름  &lt;- "baseapp.com …] 추가 후 목록의 localhost 줄에 빨간 동그라미."
- (프롬프트) 확인필요: 탭 이름. 시기에 따라 "설정" 아래 하위 메뉴일 수 있음  &lt;- "을 것: Authentication 화면 위쪽 탭들 중 "설정(Settings)""
- (프롬프트) 확인필요: 항목 위치와 이름  &lt;- ". 화면에서 찾을 것: "승인된 도메인(Authorized domains)" 항목"
- (프롬프트) 확인필요: 리허설 캡처 - 한국어 버튼 이름  &lt;- "화면에서 찾을 것: 도메인 목록 위쪽의 "도메인 추가(Add domain)" 버튼"
- (막힐 때) 확인필요: 화면 구성  &lt;- "정 화면을 아래로 스크롤하거나 Authentication 안의 다른 탭을 확인한다"
- (노트) 확인필요  &lt;- "포트 번호(예: :3000)가 붙어도 목록에는 localhost만 있으면 되는지는"
[발표자 노트 원문]
(2분) 비유: "로그인 창구는 아무 주소에서나 쓸 수 있는 것이 아니라 허가받은 주소에서만 열립니다. 우리 컴퓨터의 임시 주소가 localhost입니다." 지금 추가해 두면 슬라이드 15 이후 가장 흔한 오류를 미리 막는다고 설명한다. 오늘 만드는 새 프로젝트는 모두 localhost가 기본으로 없으므로 "확인"이 아니라 "추가"로 진행한다. 운영 단계에서는 localhost를 목록에서 지우는 것이 공식 권장이다(모듈 7 슬라이드 53에서 한 줄 언급). 접속 주소에 포트 번호(예: `:3000`)가 붙어도 목록에는 localhost만 있으면 되는지는 `[확인필요]`이므로 단정하지 않는다.
[복사용 프롬프트 전문 / 실습 순서]
(콘솔 작업이므로 Claude Code 프롬프트 없음. 아래 순서를 화면에서 따라 한다.)
 1. 화면에서 찾을 것: Authentication 화면 위쪽 탭들 중 "설정(Settings)" `[확인필요: 탭 이름. 시기에 따라 "설정" 아래 하위 메뉴일 수 있음]` → 누를 것: 설정 → 확인할 것: 설정 화면이 열리고 여러 항목 목록이 보인다
 2. 화면에서 찾을 것: "승인된 도메인(Authorized domains)" 항목 `[확인필요: 항목 위치와 이름]` → 누를 것: 항목 선택 → 확인할 것: 도메인 목록이 보인다
 3. 화면에서 찾을 것: 도메인 목록 위쪽의 "도메인 추가(Add domain)" 버튼 `[확인필요: 리허설 캡처 - 한국어 버튼 이름]` → 누를 것: 그 버튼을 눌러 `localhost`를 입력하고 추가 → 확인할 것: 목록에 `localhost`가 한 줄로 보인다 (새 프로젝트에는 기본으로 없으므로 추가가 필요하다. 이미 보이면 추가하지 않는다)
[예상 결과]
승인된 도메인 목록에 `localhost`가 새로 추가되어 보인다.
[막힐 때]
- 승인된 도메인 항목을 못 찾을 때: 설정 화면을 아래로 스크롤하거나 Authentication 안의 다른 탭을 확인한다 `[확인필요: 화면 구성]`
 - 나중에 로그인 때 `auth/unauthorized-domain` 오류가 나면: 이 슬라이드로 돌아와 현재 접속 주소가 목록에 있는지 본다 (슬라이드 18 참고)</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(도식) 확인필요: 리허설 캡처 - 한국어 메뉴·버튼 이름, 화면 순서(모드·위치 선택 순서)  &lt;- "이터베이스 만들기 → 위치 선택 → 잠금(프로덕션) 모드 → 만들기 → 규칙 탭]"
- (프롬프트) 확인필요: 리허설 캡처 - 한국어 메뉴 표기  &lt;- "베이스 및 스토리지(Databases &amp; Storage) &gt; Firestore**"
- (프롬프트) 확인필요: 화면 순서, 에디션(Standard/Enterprise) 선택 화면 유무  &lt;- "를 것: 그 버튼 → 확인할 것: 데이터베이스 ID와 위치를 고르는 화면이 열린다"
- (프롬프트) 확인필요: 항목 이름  &lt;- "화면이 열린다    3. 화면에서 찾을 것: "위치(Location)" 선택 목록"
- (프롬프트) 확인필요: 권장 리전, 서울 리전 표기 이름  &lt;- "울 asia-northeast3은 안내 후보. 권장 리전 확정 필요) 후 "다음""
- (프롬프트) 확인필요: 모드 이름  &lt;- "화면에서 찾을 것: 보안 규칙 모드 선택 "프로덕션(잠금) 모드 / 테스트 모드""
- (프롬프트) 확인필요: 리허설 캡처 - 한국어 탭·버튼 이름  &lt;- "e.rules) 파일 내용을 통째로 복사해 붙여넣고 "게시(Publish)" 버튼"
- (프롬프트) 확인필요: 리허설 캡처 - 게시 완료 표시  &lt;- ""게시(Publish)" 버튼  → 확인할 것: 규칙 탭에 게시 시각이 표시된다"
- (노트) 확인필요: 테스트 모드 공개 범위와 기간 표현  &lt;- "간 누구나 읽고 쓸 수 있는 상태라 학생 정보가 있는 서류함에는 맞지 않습니다.""
[발표자 노트 원문]
(3분) 테스트 모드를 쓰지 않는 이유를 한 문장으로 말한다. "테스트 모드는 일정 기간 누구나 읽고 쓸 수 있는 상태라 학생 정보가 있는 서류함에는 맞지 않습니다." `[확인필요: 테스트 모드 공개 범위와 기간 표현]` 임시 규칙 설명 한 줄(엔지니어 문서 그대로): "이 임시 규칙은 로그인한 사람이면 실습 데이터를 읽고 쓸 수 있는 연습용입니다. 학생끼리 서로의 답안도 보이는 상태이므로 실제 학생 정보는 넣지 않고, 모듈 7에서 진짜 규칙으로 바꿉니다." 규칙 내용은 엔지니어 문서의 `firestore.temp.rules`를 그대로 쓰고 강사가 임의로 고치지 않는다(전문은 부록 A). 시간이 빠듯한 슬라이드이므로 강사가 단계마다 리허설 캡처를 띄운다. 규칙 읽기 도우미: `signedIn()` = "출석부 확인을 마친 사람인가?", `users`는 본인 서류철만 쓰기, `classes` 아래는 로그인하면 모두 열린다. 코드 읽기는 필수가 아니다. 임시 규칙에는 보안 5원칙이 아직 없다(학생 계정도 수업을 만들 수 있음)는 점도 짧게 말한다. 연수 당일 안에 모듈 7의 최종 규칙을 게시하도록 예고한다. 위치 선택을 모두 같은 값으로 맞추도록 화면에 리전을 크게 띄운다.
[복사용 프롬프트 전문 / 실습 순서]
(콘솔 작업. Claude Code 프롬프트 없음. 아래 순서를 따른다.)
 1. 화면에서 찾을 것: 콘솔 왼쪽 메뉴의 **데이터베이스 및 스토리지(Databases &amp; Storage) &gt; Firestore** `[확인필요: 리허설 캡처 - 한국어 메뉴 표기]` → 누를 것: Firestore → 확인할 것: "데이터베이스 만들기" 버튼이 보인다
 2. 화면에서 찾을 것: "데이터베이스 만들기" 버튼 → 누를 것: 그 버튼 → 확인할 것: 데이터베이스 ID와 위치를 고르는 화면이 열린다 `[확인필요: 화면 순서, 에디션(Standard/Enterprise) 선택 화면 유무]`
 3. 화면에서 찾을 것: "위치(Location)" 선택 목록 `[확인필요: 항목 이름]` → 누를 것: 강사가 안내하는 리전을 선택(예: 서울 `asia-northeast3`은 안내 후보. 권장 리전 확정 필요) 후 "다음" `[확인필요: 권장 리전, 서울 리전 표기 이름]` → 확인할 것: 선택한 위치가 목록 위에 표시된다
 4. 화면에서 찾을 것: 보안 규칙 모드 선택 "프로덕션(잠금) 모드 / 테스트 모드" `[확인필요: 모드 이름]` → 누를 것: **프로덕션(잠금) 모드** 선택 후 "만들기". 테스트 모드는 선택하지 않는다 → 확인할 것: 만들기 후 잠시 기다리면 Firestore 데이터 화면(빈 상태)이 열린다
 5. 화면에서 찾을 것: Firestore 화면 위쪽 "규칙" 탭 → 누를 것: 규칙 탭을 열고, 강사가 나눠 준 `firestore.temp.rules`(복구 지점 폴더에서는 `firestore.rules`) 파일 내용을 통째로 복사해 붙여넣고 "게시(Publish)" 버튼 `[확인필요: 리허설 캡처 - 한국어 탭·버튼 이름]` → 확인할 것: 규칙 탭에 게시 시각이 표시된다 `[확인필요: 리허설 캡처 - 게시 완료 표시]`
 (규칙 전문은 슬라이드에 싣지 않는다. 강사 배포 파일 `firestore.temp.rules`를 통째로 복사한다. 전문은 이 원고 맨 아래 "부록 A"와 노트에 있다.)
[예상 결과]
Firestore 화면에 빈 데이터 탭이 보이고, 규칙 탭에 임시 규칙이 게시된 상태.
[막힐 때]
- 위치를 고른 뒤 바꾸고 싶을 때: 위치는 만든 뒤 바꿀 수 없으므로(공식 문서) 안내받은 리전을 그대로 쓰고 진행한다
 - "만들기" 단계에서 요금제(Blaze) 안내가 나올 때: Firestore 생성에는 Blaze가 필요 없다(무료 한도 안에서 가능, 공식 요금 문서). 안내가 나오면 결제 정보를 넣지 말고 강사에게 알린다
[부록 A. 임시 규칙 전문 firestore.temp.rules (규칙 줄은 02_engineer_rules.md 7절 기준, 머리 주석만 줄임)]
rules_version = '2';
// [임시 규칙] 연수 모듈 2~6 실습용 (Firestore 규칙 탭에 붙여넣기)
// - 로그인한 사람만 읽고 쓸 수 있다. 로그인하지 않은 사람은 모두 거부.
// - users 문서는 본인만 만들고 고친다.
// - classes 아래(수업, 가입, 자료, 학습지, 제출물)는 로그인한 사람 누구나 읽고 쓴다.
//   연습용 설정이므로 실제 학생 정보는 절대 넣지 않는다. 모듈 7에서 최종 규칙으로 반드시 바꾼다.
service cloud.firestore {
  match /databases/{database}/documents {
    function signedIn() {
      return request.auth != null;
    }
    match /users/{uid} {
      allow read: if signedIn();
      allow create, update: if signedIn() &amp;&amp; request.auth.uid == uid;
    }
    match /classes/{document=**} {
      allow read, write: if signedIn();
    }
    // 모듈 3 "내가 가입한 수업" 목록(컬렉션 그룹 조회)용
    match /{path=**}/members/{memberId} {
      allow read: if signedIn();
    }
  }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(2분) 비유: "설정값은 학교 주소 메모입니다. 한 곳에 적어 두고 필요할 때 꺼내 씁니다." 슬라이드 10에서 말한 대로 이 값은 공개돼도 되지만 AI API 키가 아니라는 점을 짧게 다시 확인한다. 이 단계에서 Firebase 콘솔 설정 5가지(프로젝트, 웹 앱, 로그인, 승인된 도메인, Firestore)가 끝났음을 칠판에 체크하게 한다. 다음 슬라이드에서 로그인 화면을 만든다.
[복사용 프롬프트 전문 / 실습 순서]
```
 지금 폴더에 firebase-config.js 파일을 만들어 줘.
 - 아래 firebaseConfig를 그대로 담아서 export const firebaseConfig = { ... } 형태로 저장해 줘.
 - 값은 내가 붙여넣은 것을 글자 하나도 바꾸지 말고 그대로 써 줘.
 - 다른 파일은 만들거나 바꾸지 마.
 - 코드를 설명하지 말고, 저장한 파일 이름과 위치만 짧게 알려 줘.
 firebaseConfig:
 (여기에 슬라이드 9에서 복사한 firebaseConfig 블록을 붙여넣기)
 ```
[예상 결과]
프로젝트 폴더에 `firebase-config.js`가 생기고, Claude Code가 파일 이름과 위치를 알려 준다. 파일을 열면 내 `projectId` 값이 들어 있다.
[막힐 때]
- 붙여넣은 값에서 `apiKey` 등이 빠졌을 때: 슬라이드 9의 4단계로 돌아가 블록을 다시 복사한다
 - Claude Code가 다른 파일까지 바꿨다고 알려 줄 때: "방금 바꾼 다른 파일은 원래대로 되돌려 줘"라고 요청한다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(예상 결과) 확인필요: 연수 시점 명령 동작  &lt;- "5500 -c-1 같은 형태이며 http://localhost:5500으로 연다"
- (노트) 확인필요: 연수 시점 브라우저 동작  &lt;- "브라우저가 파일 불러오기를 막고, 구글 로그인도 http 주소가 필요하기 때문이다"
[발표자 노트 원문]
(4분) 프롬프트를 슬라이드 아래쪽 또는 공유 문서에서 복사하도록 안내한다. 이 슬라이드에서는 설정값을 붙여넣지 않는다. 슬라이드 14에서 만든 `firebase-config.js`에 각자 자기 값이 들어 있고, 이 프롬프트는 그 파일을 불러 쓰게 한다(나중에 복구 지점 폴더로 옮길 때도 이 파일 하나만 바꾸면 된다). 로컬에서 확인할 때는 파일을 더블클릭(file://)해서 여는 방식이 아니라 localhost 주소로 열어야 한다. 앱이 모듈(`type="module"`) 방식이라 file:// 주소에서는 브라우저가 파일 불러오기를 막고, 구글 로그인도 http 주소가 필요하기 때문이다 `[확인필요: 연수 시점 브라우저 동작]`. 프롬프트가 localhost 여는 명령 한 줄과 주소를 요청하므로 Claude Code가 알려 주는 방법을 따르게 한다. `127.0.0.1`이 아니라 `localhost`로 열어야 승인된 도메인 오류를 피한다(슬라이드 12). 시간이 남는 분에게는 새로고침해도 로그인이 유지되는지 확인하게 한다. SDK 12.19.0은 확인된 버전이다. 연수 당일 아침 강사가 최신 버전만 한 번 확인한다.
[복사용 프롬프트 전문 / 실습 순서]
```
 지금 폴더의 index.html을 Firebase 구글 로그인 페이지로 바꿔 줘.
 조건은 다음과 같아.
 - 빌드 도구 없이 index.html, style.css, app.js, firebase-config.js 네 파일로 만들어 줘. firebase-config.js는 이미 있는 파일을 그대로 쓰고 내용은 바꾸지 마.
 - Firebase JavaScript SDK는 CDN 모듈 방식으로 불러와 줘. 주소는 https://www.gstatic.com/firebasejs/12.19.0/ 아래의 firebase-app.js, firebase-auth.js, firebase-firestore.js를 써 줘.
 - firebaseConfig는 firebase-config.js 파일에만 있고, app.js가 그 파일에서 불러와서 Firebase를 초기화하게 해 줘. 설정값을 app.js나 index.html에 다시 쓰지 마.
 - "구글로 로그인" 버튼을 누르면 구글 팝업 로그인(Authentication)이 되게 해 줘.
 - 로그인하면 로그인 버튼은 숨기고, 화면에 "OOO님 환영합니다"처럼 로그인한 사람의 이름과 "로그아웃" 버튼을 보여 줘.
 - 로그아웃하면 다시 처음 화면으로 돌아가게 해 줘.
 - 새로고침해도 로그인 상태가 유지되게 해 줘.
 - 글씨는 크고 읽기 쉽게, 배경은 크림색(#f8f2e4)으로 해 줘.
 - 코드를 설명하지 말고, 완료 후 이 페이지를 내 컴퓨터에서 localhost 주소로 여는 명령 한 줄과 접속 주소만 알려 줘.
 ```
[예상 결과]
Claude Code가 index.html, style.css, app.js를 만들고(firebase-config.js는 슬라이드 14에서 만든 그대로), localhost를 여는 명령 한 줄과 접속 주소를 알려 준다. 이 명령은 보통 `npx --yes http-server -p 5500 -c-1` 같은 형태이며 `http://localhost:5500`으로 연다 `[확인필요: 연수 시점 명령 동작]`. 접속하면 "구글로 로그인" 버튼이 보이고, 누르면 구글 계정 선택 팝업이 뜬다. 로그인하면 내 이름과 로그아웃 버튼이 보이고, 로그아웃하면 처음 화면으로 돌아간다.
[막힐 때]
- 팝업이 아예 안 뜰 때: 브라우저 주소창 오른쪽의 "팝업 차단됨" 표시를 눌러 허용한다. 자세한 해결은 슬라이드 18.
 - 화면에 빨간 오류가 뜰 때: 오류 메시지를 복사해서 Claude Code에 그대로 붙여넣고 "이 오류를 고쳐 줘"라고 요청한다.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(막힐 때) 확인필요: 콘솔 메뉴  &lt;- "sers/{uid} 문서를 삭제하고 다시 로그인하면 역할 선택 화면이 다시 나온다"
[발표자 노트 원문]
(4분) 개념 한 줄: Firestore는 학급 서류함이고 `users/{uid}`는 "출석 번호 이름표가 붙은 서류철 하나"라고 비유한다. 필드는 name, email, role 세 개뿐이며 최소 수집 원칙(학생 이름·이메일 최소 수집, 연수는 테스트 계정으로)을 한 줄로 상기한다. **중요 한 줄**: "role은 화면을 교사용/학생용으로 나누는 용도이고, 진짜 권한은 모듈 3에서 `classes/{classId}`의 `teacherUid`(수업을 만든 교사의 uid)로 판정합니다. 스스로 고른 역할만으로 교사 권한을 주지 않습니다." 이 메시지는 보안 규칙 원칙 3(수업·자료·학습지 작성은 해당 수업 교사만)을 준비하는 말이다.
[복사용 프롬프트 전문 / 실습 순서]
```
 방금 만든 로그인 페이지에 이어서 기능을 추가해 줘.
 - 로그인에 성공하면 Firestore의 users 컬렉션에서 문서 이름이 로그인한 사용자의 uid인 문서를 확인해 줘. 경로는 users/{uid}야.
 - 그 문서가 없으면(처음 로그인이면) "교사" / "학생" 중 하나를 고르는 역할 선택 화면을 보여 줘.
 - 역할을 고르면 users/{uid} 문서를 만들어 아래 3개 필드를 저장해 줘.
 name: 구글 계정 이름
 email: 구글 계정 이메일
 role: "teacher" 또는 "student" (교사를 고르면 teacher, 학생을 고르면 student)
 - 문서가 이미 있으면 역할 선택을 건너뛰고 저장된 role을 읽어서 "OOO 선생님 환영합니다" 또는 "OOO 학생 환영합니다"로 보여 줘.
 - 위 3개 필드 외에 다른 정보(전화번호, 사진 등)는 저장하지 마.
 - 역할은 처음 한 번만 고르고, 그 뒤에는 화면에서 바꿀 수 없게 해 줘.
 - 필드 이름과 경로는 위에 쓴 것을 글자 그대로 사용해 줘.
 - 코드를 설명하지 말고 바뀐 점만 짧게 알려 줘.
 ```
[예상 결과]
처음 로그인하면 "교사 / 학생" 선택 화면이 나오고, 선택하면 환영 문구에 역할이 붙어 표시된다. 로그아웃 후 다시 로그인하면 선택 화면 없이 바로 환영 문구가 나온다.
[막힐 때]
- 역할 저장 시 "permission-denied(권한 없음)" 오류가 날 때: 슬라이드 13의 임시 규칙이 게시됐는지 콘솔 Firestore 규칙 탭에서 확인하고, 없으면 다시 게시한다. 그래도 같으면 오류 메시지를 Claude Code에 붙여넣는다.
 - 선택 화면이 로그인할 때마다 뜰 때: "문서가 이미 있으면 건너뛰도록 고쳐 줘"라고 요청한다.
 - 역할을 잘못 골랐을 때: 역할은 한 번 정하면 화면에서 바꿀 수 없다. 콘솔 Firestore에서 내 `users/{uid}` 문서를 삭제하고 다시 로그인하면 역할 선택 화면이 다시 나온다 `[확인필요: 콘솔 메뉴]`.</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(프롬프트) 확인필요: 리허설 캡처 - 한국어 메뉴 표기  &lt;- "토리지 &gt; Firestore → 데이터 탭 → users 컬렉션 → 내 문서 클릭"
- (막힐 때) 확인필요  &lt;- "쿠키 제한일 수 있다. 시크릿 창 주소창 오른쪽 아이콘에서 팝업 허용을 확인한다"
[발표자 노트 원문]
(3분) 문서 이름이 화면의 uid와 같은지 확인하게 한다. 개인정보 한 줄: "연수 실습 데이터는 테스트 계정으로만 만들고, 끝나면 삭제합니다(모듈 7에서 정리 안내)." 임시 규칙에서는 로그인한 사람이면 users 문서(이름, 이메일)를 읽을 수 있으므로 실제 이름·이메일을 넣지 않는다는 점을 덧붙인다(최종 규칙의 읽기 범위는 모듈 7에서 다룬다). 두 문서가 생긴 분은 "모듈 3 수업 만들기의 준비가 끝났다"고 칭찬하고, 막힌 분은 조교가 슬라이드 18의 막힘 모음을 열도록 안내한다.
[복사용 프롬프트 전문 / 실습 순서]
(Claude Code 프롬프트 없음. 아래 순서로 직접 확인한다.)
 1. 일반 창: 로그인한 상태에서 콘솔 왼쪽 메뉴 데이터베이스 및 스토리지 &gt; Firestore → 데이터 탭 → `users` 컬렉션 → 내 문서 클릭 `[확인필요: 리허설 캡처 - 한국어 메뉴 표기]`
 2. 크롬 시크릿 창을 열고 같은 localhost 주소에 접속 → 테스트 학생 구글 계정으로 로그인 → 역할에서 "학생" 선택
 3. 콘솔에서 새로고침 → `users` 아래에 문서가 2개인지 확인, 각 문서의 `role` 값 확인
 (Claude Code에게 확인을 시키고 싶다면)
 ```
 지금 만든 로그인 페이지에서 로그인한 사용자의 name, email, role을 화면 아래쪽에 작은 글씨로 보여 주는 "내 정보" 영역을 추가해 줘. 코드는 설명하지 말아 줘.
 ```
[예상 결과]
콘솔 `users` 컬렉션에 문서 2개. 문서 이름은 각 계정의 uid(긴 글자·숫자 조합)이고, 필드는 `name`, `email`, `role` 세 개이며 role이 각각 `teacher`, `student`.
[막힐 때]
- 시크릿 창에서 로그인이 안 될 때: 팝업 차단이거나 쿠키 제한일 수 있다. 시크릿 창 주소창 오른쪽 아이콘에서 팝업 허용을 확인한다 `[확인필요]`.
 - 학생 계정이 없을 때: 두 번째 구글 계정을 쓰거나, 강사가 안내하는 방법에 따른다. 실제 학생 계정·이름은 사용하지 않는다.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(도식) 확인필요: 리허설 캡처 - 한국어 메뉴 표기  &lt;- "에 localhost 추가 (새 프로젝트는 기본으로 없음, 방법은 슬라이드 12)"
- (도식) 확인필요  &lt;- "않을 수 있음 → Claude Code가 알려 준 localhost 주소로 접속"
[발표자 노트 원문]
(2분) 복구 지점 사용법: "막혔다면 `checkpoint-m2` 폴더를 열고 다음 모듈(모듈 3)부터 따라오세요. 막힌 시간을 길게 쓰지 마시고, 5분 이상 해결이 안 되면 바로 checkpoint로 넘어갑니다." 이 모듈의 슬라이드별 시간 합계 검산: 7(4) + 8(2) + 9(3) + 10(4) + 11(2) + 12(2) + 13(3) + 14(2) + 15(4) + 16(4) + 17(3) + 18(2) = 35분. 묶음 검산: 설명 7(4)+10(4) = 8분, 실습 8~9(2+3=5) + 11~14(2+2+3+2=9) + 15~18(4+4+3+2=13) = 27분, 8+27 = 35분. 이전 30분에서 분리한 두 장(옛 8의 5분 + 옛 10의 4분 = 9분)이 새 6장(2+3+2+2+3+2 = 14분)으로 늘어 +5분이고 나머지 6장은 그대로(21분)이다. 역할(role)은 화면 분기용이고 권한 판정은 teacherUid라는 점은 슬라이드 16 노트와 같은 문장으로 한 번 더 상기한다. 다음 모듈 예고: "다음은 수업코드 = 교실 열쇠입니다. 교사가 수업을 만들고 학생이 코드로 가입합니다."
[복사용 프롬프트 전문 / 실습 순서]
(오류가 났을 때 쓰는 공통 문장)
 ```
 아래 오류가 났어. 원인을 쉬운 말로 한 줄로 알려 주고, 고쳐 줘.
 (여기에 오류 메시지를 그대로 붙여넣기)
 ```
[예상 결과]
로그인 → 이름 표시 → `users/{uid}` 문서 생성이 한 바퀴 동작하는 페이지(모듈 2 산출물).
[막힐 때]
- 어떤 방법으로도 안 될 때: 강사가 나눠 준 `checkpoint-m2` 폴더를 복사하고(쓰던 폴더는 지우지 않는다), 그 안의 `firebase-config.js` 파일 하나만 내 설정값(슬라이드 9에서 복사한 것)으로 바꾼 뒤 모듈 3부터 따라온다.
 - 설정값 바꾸는 방법 둘 중 하나. (직접) `firebase-config.js`를 메모장으로 열고 `export const firebaseConfig = { ... };`의 중괄호 안을 내 값으로 통째로 바꿔 저장한다. (Claude Code) 복사한 폴더에서 Claude Code를 실행해 아래 문장을 붙여넣는다.
 ```
 이 폴더의 firebase-config.js 안에 있는 firebaseConfig 값을 아래 내 설정값으로 바꿔 줘.
 다른 파일과 다른 내용은 절대 바꾸지 마. 바꾼 뒤 이 폴더를 localhost 주소로 여는 명령 한 줄만 알려 줘.
 (여기에 슬라이드 9에서 복사한 firebaseConfig 블록을 붙여넣기)
 ```
 - 설정값을 안 바꿨으면 localhost 화면 맨 위에 "firebase-config.js에 내 Firebase 설정값을 넣어 주세요"라는 빨간 안내가 보인다. 바꾼 뒤에는 사라진다.
 - 복구 지점으로 옮긴 뒤에는 수업을 새로 만든다. `users` 문서(역할)는 그대로 쓸 수 있다.
 - checkpoint 폴더로 옮기면 내 Firebase 프로젝트 설정(슬라이드 8, 9, 11, 12, 13)은 그대로 쓸 수 있으므로 콘솔 작업은 다시 하지 않는다.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(3분) "오늘의 두 번째 기능입니다. 교실에 들어가려면 열쇠가 필요하죠. 교사가 수업을 만들면 서류함에 수업 카드가 한 장 생기고, 그 카드의 이름표가 열쇠 번호인 수업코드입니다. 학생이 코드를 넣으면 그 이름표의 폴더를 바로 꺼내고, 그 안에 '출석 명단' 카드가 한 장 생깁니다. 카드 이름이 학생 uid(출석부 번호)입니다. 출석 명단 카드에는 uid를 한 번 더 적어 둡니다. '내가 가입한 수업'을 찾는 데 쓰입니다." teacherUid는 만든 교사의 uid라고 짚는다. 용어 첫 등장: Firestore=학급 서류함, joinCode=교실 열쇠. 여기까지 개념 1장.</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(4분) "보안 규칙은 교무실 출입 규칙입니다. 규칙 5개를 오늘 하나씩 소개하고, 마지막 모듈에서 한꺼번에 적용해서 막히는지 직접 확인합니다. 오늘은 3번과 4번입니다. 수업 작성은 그 수업의 교사만 할 수 있습니다. 판단 기준은 role 표시가 아니라 수업 문서의 teacherUid입니다. 그리고 4번, 학생이 수업 목록 전체를 열어 코드를 훑어보고 알아내면 열쇠의 의미가 없습니다. 그래서 코드를 아는 사람만 그 교실 하나를 찾게 합니다. 구현은 이렇습니다. 수업 문서의 이름을 수업코드로 붙입니다. 그러면 학생은 코드로 그 문서 한 장만 바로 꺼낼 수 있고, 서류함 전체를 뒤질 필요도, 권한도 없습니다." 설명 7분 중 개념 2장 완료. 다음 장부터 실습입니다." 질문: "수업코드를 칠판에 그대로 써 두면 어떻게 될까요?" 한 줄 던지고 넘어가도 된다(선택).</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(예상 결과) 확인필요: 콘솔 메뉴 이름  &lt;- "id, joinCode가 보이고, 문서 이름이 수업코드(예: K7M4QX)와 같다"
[발표자 노트 원문]
(6분) 프롬프트를 통째로 복사해 Claude Code에 붙여넣게 한다. 코드는 직접 쓰지 않는다. 0/O, 1/I를 빼는 이유: 칠판에 쓴 코드를 학생이 잘못 읽지 않도록. "teacherUid를 넣는 것이 중요합니다. 나중에 이 수업의 주인이 누구인지 판단하는 기준이 됩니다. 문서 이름이 수업코드인 것도 확인하세요. 다음 실습에서 학생이 이 이름으로 문서를 꺼냅니다."
[복사용 프롬프트 전문 / 실습 순서]
```
지금 만든 클래스룸 앱의 교사 화면에 "수업 만들기" 기능을 추가해 줘.
- 교사(users 문서의 role이 teacher인 사람)에게만 수업 만들기 화면이 보이게 해 줘.
- 수업코드(joinCode)는 영문 대문자와 숫자 6자리 무작위 문자열로 만들어 줘. 헷갈리는 글자 0, O, 1, I는 쓰지 마.
- Firestore의 classes 컬렉션에 수업 문서를 만들 때 문서 이름(문서 ID)을 수업코드와 똑같이 해 줘. 경로는 classes/{수업코드}야.
- 문서 필드는 title, teacherUid, joinCode 세 개만 쓰고, teacherUid에는 지금 로그인한 교사의 uid, joinCode에는 수업코드를 넣어 줘.
- 저장하기 전에 classes/{수업코드} 문서가 이미 있는지 한 건만 읽어서 확인하고, 있으면 코드를 새로 만들어 줘.
- 만든 뒤에는 화면에 수업 제목과 수업코드를 크게 보여 줘.
```
[예상 결과]
교사 계정으로 로그인하면 "수업 만들기" 입력칸이 보인다. 제목을 넣고 누르면 6자리 코드(예: K7M4QX)가 화면에 크게 뜬다. 코드에 0, O, 1, I가 없다. Firebase 콘솔의 Firestore 데이터 화면에서 `classes` 아래 새 문서에 title, teacherUid, joinCode가 보이고, 문서 이름이 수업코드(예: `K7M4QX`)와 같다 `[확인필요: 콘솔 메뉴 이름]`.
[막힐 때]
(1) 권한 오류(permission-denied / "Missing or insufficient permissions")가 나면 임시 규칙은 이 동작을 이미 허용하므로 규칙 문제가 아닐 가능성이 크다. Firebase 콘솔 Firestore 규칙 탭에 `firestore.temp.rules`가 게시되어 있는지, 앱에 로그인한 상태인지 확인한다. 그래도 같으면 오류 메시지 전체를 Claude Code에 붙여넣고 "규칙 파일은 바꾸지 말고 앱 코드에서 원인을 찾아 줘"라고 요청한다. (2) 수업 만들기 칸이 안 보이면 내 계정의 role이 teacher인지 콘솔의 `users/{uid}` 문서에서 확인한다.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(5분) 이 프롬프트의 핵심 문장은 "문서 한 건만 읽고, 전체를 내려받거나 where로 검색하지 마"입니다. 보안 원칙 4와 연결된다고 다시 한 번 말한다. 검색(where)으로 만들면 지금은 되는 것처럼 보여도 모듈 7 최종 규칙에서 권한 오류가 난다고 예고한다. "members 문서에 uid를 한 번 더 적는 이유는 다음 슬라이드에서 '내가 가입한 수업'을 찾기 위해서입니다." 테스트 학생 계정은 시크릿 창에서 로그인(모듈 2 슬라이드 17 방식).
[복사용 프롬프트 전문 / 실습 순서]
```
학생 화면에 "수업코드로 가입하기" 기능을 추가해 줘.
- 학생(role이 student인 사람) 화면에 수업코드 입력칸과 [가입하기] 버튼을 만들어 줘.
- 입력한 코드는 앞뒤 공백을 지우고 대문자로 바꿔서 사용해 줘.
- 수업 문서 이름이 수업코드이므로, classes/{입력한 코드} 문서 한 건만 읽어서(getDoc) 수업이 있는지 확인해 줘. classes 컬렉션 전체를 내려받거나 where 조건으로 검색하지 마.
- 수업이 있으면 classes/{코드}/members/{내 uid} 문서를 만들고, 필드는 joinedAt(서버 시각)과 uid(내 uid) 두 개만 저장해 줘.
- 그 members 문서가 이미 있으면 "이미 가입한 수업이에요"라고 알려 줘.
- 수업이 없으면 "수업코드를 다시 확인해 주세요"라고 알려 줘. 코드 형식(6자리)이 아니면 읽기 전에 같은 안내를 보여 줘.
```
[예상 결과]
학생 계정에서 교사가 만든 코드를 넣으면 "가입했어요" 같은 메시지가 뜬다. 콘솔에서 `classes/{수업코드}/members/{학생 uid}` 문서가 생겼고 joinedAt과 uid가 들어 있다. 같은 코드를 또 넣으면 "이미 가입한 수업"이라고 나온다.
[막힐 때]
(1) "Missing or insufficient permissions"가 나오면 임시 규칙은 학생의 classes/{코드} 읽기와 members 쓰기를 이미 허용한다. 콘솔 Firestore 규칙 탭에 `firestore.temp.rules`가 게시되어 있는지, 로그인한 상태인지 확인한다. 그래도 같으면 오류 전체를 붙여넣고 "규칙 파일은 바꾸지 말고 앱 코드에서 원인을 찾아 줘"라고 요청한다(최종 규칙은 모듈 7에서 완성한다). (2) 맞는 코드인데 "없는 코드"라고 나오면 코드를 복사해 붙여넣고 소문자·공백이 섞이지 않았는지 확인한다.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(막힐 때) 확인필요: 오류 문구 정확한 표기, 색인 생성 화면 메뉴 이름, 소요 시간  &lt;- "(또는 화면)에 뜬다. 링크를 눌러 색인을 만들고 1~5분 기다린 뒤 새로고침한다"
[발표자 노트 원문]
(4분) **슬라이드 시작 전에 "이 오류는 거의 모두에게 한 번 나옵니다"라고 미리 말한다.** 컬렉션 그룹 조회는 "모든 수업의 출석 명단을 한꺼번에 훑어 내 이름표만 찾는 조회"입니다. 색인(인덱스)은 도서관의 색인 카드입니다. 색인을 만드는 동안 기다리지 말고 슬라이드 24 짝 활동(교사 쪽 가입 확인)을 먼저 진행해도 됩니다. 강사는 연수 전에 강사 프로젝트에서 색인 생성 시간을 재 둔다. 모든 수업의 출석 명단에서 내 uid를 찾으려면 Firestore가 "색인 카드를 먼저 만들어 주세요"라고 요청합니다(색인은 1개). 오류가 아니라 안내이니 당황하지 말라고 말해 준다. 슬라이드 22에서 uid를 한 번 더 적어 둔 이유가 바로 이 조회입니다. "학생 목록에서 수업코드를 보여 주지 않는 이유: 코드는 교실 열쇠이니 가입한 뒤에도 교사만 나눠 주도록."
[복사용 프롬프트 전문 / 실습 순서]
```
로그인한 뒤 첫 화면에 "내 수업" 목록을 보여 줘.
- 교사: classes에서 teacherUid가 내 uid인 수업만 조회해서 제목과 수업코드를 보여 줘. 정렬은 가져온 뒤 브라우저에서 제목 순으로 해 줘(Firestore orderBy는 쓰지 마).
- 학생: members 컬렉션 그룹 조회(collectionGroup)로 uid 필드가 내 uid인 가입 문서만 찾고, 각 가입 문서의 부모 수업 문서(classes/{classId})를 한 건씩 읽어서 제목만 보여 줘. 학생 화면에는 수업코드를 보여 주지 마. 수업 전체 목록을 가져와서 걸러내는 방식은 쓰지 마.
- 목록이 비어 있으면 "아직 수업이 없어요"라고 보여 줘.
- 수업 제목을 누르면 그 수업 화면(주소 끝이 #/class/{classId})으로 이동하게 해 줘. 수업 화면에는 수업 제목, (교사에게만) 수업코드, "← 내 수업으로" 버튼만 먼저 만들어 줘. 자료와 학습지는 다음 시간에 붙일 거야.
```
[예상 결과]
교사 계정에는 방금 만든 수업과 코드가 보인다. 학생 계정에는 가입한 수업의 제목이 보인다. 수업이 없는 계정은 "아직 수업이 없어요"가 뜬다.
[막힐 때]
(1) 학생 목록을 처음 열면 거의 모두에게 "The query requires a COLLECTION_GROUP_ASC index"로 시작하는 오류와 링크가 브라우저 콘솔(또는 화면)에 뜬다. 링크를 눌러 색인을 만들고 1~5분 기다린 뒤 새로고침한다 `[확인필요: 오류 문구 정확한 표기, 색인 생성 화면 메뉴 이름, 소요 시간]`. 링크 대신 오류 전체를 Claude Code에 붙여넣고 "색인 안내대로 해결해 줘"라고 해도 된다. (2) 권한 오류면 콘솔 Firestore 규칙 탭에 `firestore.temp.rules`가 게시되어 있는지, 로그인한 상태인지 먼저 확인한다. 그래도 같으면 오류 전체를 붙여넣고 "규칙 파일은 바꾸지 말고 앱 코드에서 원인을 찾아 줘"라고 요청한다.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(2분) 한 명은 교사, 한 명은 학생 역할로 바꿔서 진행해도 되고, 각자 시크릿 창의 테스트 학생 계정을 써도 된다. 실제 학생 이름·이메일은 쓰지 않는다. 정답: (1) 가입 성공, 내 수업 목록에 나타남. (2) "수업코드를 다시 확인해 주세요" 안내가 뜨고 아무것도 만들어지지 않음(6자리가 아니면 읽기 전에, 6자리지만 없는 코드면 읽은 뒤에 안내. 둘 다 같은 문구). (3) "이미 가입한 수업이에요". 틀린 코드에서 오류 화면(흰 화면)이 나오면 Claude Code에 "틀린 코드를 넣으면 친절한 안내가 나오게 해 줘"라고 요청하게 한다. 시간이 남으면 질문: "코드를 한 글자만 바꾸어 가며 계속 넣으면 어떻게 될까요?" (마지막 모듈에서 규칙을 점검할 때 다시 생각해 보자고 예고.)
[복사용 프롬프트 전문 / 실습 순서]
(Claude Code 프롬프트 없음. 짝과 직접 확인한다.)
[예상 결과]
(1) 가입 성공, 내 수업 목록에 나타남. (2) "수업코드를 다시 확인해 주세요" 안내가 뜸. (3) "이미 가입한 수업이에요".
[막힐 때]
틀린 코드에서 오류 화면(흰 화면)이 나오면 Claude Code에 "틀린 코드를 넣으면 친절한 안내가 나오게 해 줘"라고 요청한다.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(1분) 모듈 3 산출물: 수업 만들기(코드 발급) + 코드로 가입 + 내 수업 목록. 복구 지점: `checkpoint-m3`. "막혔다면 checkpoint-m3 폴더를 열고 다음 모듈부터 따라오세요." 다음은 10분 휴식이고, 막힌 분은 휴식 시간에 강사·조교가 `checkpoint-m3`로 복구를 도와 준다고 예고한다. 모듈 3 시간 합계: 슬라이드 19(3) + 20(4) + 21(6) + 22(5) + 23(4) + 24(2) + 25(1) = 25분 (설명 7 / 실습 18).</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(10분) 휴식 시작 직전에 "수업 만들기, 코드 가입, 내 수업 목록이 되는 분은 그대로 쉬시고, 안 되는 분은 손을 들어 주세요"라고 말한다. 조교 동선: 교실 앞쪽에서 뒤쪽으로 한 바퀴 돌며 손든 참가자를 확인한다. 증상별로 (1) 로그인 자체가 안 되는 분은 모듈 2 막힘 모음 확인, (2) 수업 생성·가입이 안 되는 분은 `checkpoint-m3` 폴더를 열어 같은 폴더에서 Claude Code를 실행하게 안내한다. 복구 방법: (1) 나눠 준 `checkpoint-m3` 폴더를 통째로 내 컴퓨터에 복사한다(지금까지 쓰던 폴더는 지우지 않는다). (2) 복사한 폴더 안의 `firebase-config.js` 파일 하나만 내 설정값으로 바꾼다. 직접 바꾸려면 메모장으로 열어 `export const firebaseConfig = { ... };`의 중괄호 안을 슬라이드 9에서 복사해 둔 내 firebaseConfig 내용으로 통째로 바꿔 저장한다. Claude Code로 바꾸려면 복사한 폴더에서 Claude Code를 실행하고 다음을 붙여넣는다. 「이 폴더의 firebase-config.js 안에 있는 firebaseConfig 값을 아래 내 설정값으로 바꿔 줘. 다른 파일과 다른 내용은 절대 바꾸지 마. 바꾼 뒤 이 폴더를 localhost 주소로 여는 명령 한 줄만 알려 줘.」 그 아래에 슬라이드 9에서 복사한 firebaseConfig 블록을 붙인다. (3) localhost 주소로 열어 로그인한다. 설정값을 안 바꿨으면 화면 맨 위에 "firebase-config.js에 내 Firebase 설정값을 넣어 주세요"라는 빨간 안내가 보인다. (4) Firebase 콘솔 작업(프로젝트, 구글 로그인, Firestore, 임시 규칙)은 다시 하지 않는다. (5) 주의: 복구 지점으로 옮긴 뒤에는 수업을 새로 만든다. 내가 만든 테스트 수업은 문서 이름이 수업코드가 아니거나 members에 uid가 없어서 복구 화면에 안 보일 수 있다. users 문서(역할)는 그대로 쓸 수 있다. 휴식 후 모듈 4는 HTML 수업자료 등록(슬라이드 27)부터 시작한다.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(2분) "이전 연수에서 만든 HTML 자료나 오늘 나눠 드린 샘플 자료를 생각하세요. 파일을 메일로 돌리는 대신 수업 안에 올려 두면, 가입한 학생만 수업 화면에서 열 수 있습니다. 자료는 `materials`라는 서랍에 한 장씩 들어갑니다. 서랍마다 제목(title), 내용(html), 올린 시각(createdAt)이 있습니다. Firestore는 학급 서류함이라고 기억하세요." 이 모듈은 파일 업로드(Storage) 방식이 아니라 HTML 글자를 문서 필드에 저장하는 방식이라고 한 문장만 안내한다(설정 단계를 줄이기 위함).
[복사용 프롬프트 전문 / 실습 순서]
(해당 없음)
[예상 결과]
(해당 없음)
[막힐 때]
(해당 없음)</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(노트) 확인필요: 최신 브라우저 동작  &lt;- "쓰고, 자료에 동작(스크립트)이 꼭 필요하면 allow-scripts만 따로 준다"
[발표자 노트 원문]
(3분) "교실 열쇠(수업코드)로 가입한 학생만 그 교실 자료를 봅니다. 이것이 원칙 1입니다. 실제 잠금은 모듈 7에서 교무실 출입 규칙(보안 규칙)으로 완성합니다. 오늘은 '이런 규칙이 올 것이다' 정도만 기억하세요. 원칙 5입니다. 교사가 올린 HTML에는 스크립트가 들어 있을 수 있습니다. 그대로 우리 페이지에 끼워 넣으면 그 스크립트가 로그인 정보에 손을 댈 수 있습니다. 그래서 유리 진열장(sandbox iframe) 안에 넣어 보여만 줍니다."
 [교사용 메모, 슬라이드에는 넣지 않음] sandbox 속성에서 `allow-same-origin`과 `allow-scripts`를 함께 주지 않는다. 이유: 두 가지를 같이 주면 srcdoc 안의 자료가 우리 페이지와 같은 출처로 취급되어 sandbox 속성 자체를 스스로 해제하고 로그인 정보에 접근할 수 있게 된다. 기본은 sandbox 속성을 값 없이(모든 제한 유지) 쓰고, 자료에 동작(스크립트)이 꼭 필요하면 `allow-scripts`만 따로 준다 `[확인필요: 최신 브라우저 동작]`. 이 모듈의 프롬프트는 값 없는 sandbox를 요청한다. 사실 확인은 content-reviewer가 한다.
[복사용 프롬프트 전문 / 실습 순서]
(해당 없음)
[예상 결과]
(해당 없음)
[막힐 때]
(해당 없음)</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(예상 결과) 확인필요: 콘솔 메뉴 이름  &lt;- "als에 문서 1개가 생기고 title, html, createdAt이 들어 있다"
[발표자 노트 원문]
(5분) 샘플 HTML 파일(강사 배포 자료 또는 복구 폴더의 `samples/sample-material.html`)을 열어 전체 복사해 붙여넣게 한다. "코드는 우리가 쓰지 않습니다. 이 문장을 그대로 붙여넣으세요." 실행 후 콘솔에서 문서가 생겼는지 직접 보게 한다. 역할(role)은 화면 분기용이고, 권한 판정은 `classes/{classId}.teacherUid`로 한다는 점을 한 줄로 짚는다(프롬프트 속 조건이 그 뜻). 5분 안에 못 끝낸 참가자는 옆 사람과 함께 보게 하고 다음 슬라이드로 넘어간다. (강사 참고: 크기 기준은 글자가 아니라 바이트다. 한글은 글자당 3바이트라 한글 위주 자료는 약 30만 글자에서 걸린다. 프롬프트에는 바이트 기준만 쓴다.)
[복사용 프롬프트 전문 / 실습 순서]
```
현재 프로젝트의 교사용 수업 화면에 "수업자료 등록" 폼을 추가해 줘.
- 입력칸 2개: 제목(title), HTML 붙여넣기(html, 여러 줄 입력칸)
- "저장" 버튼을 누르면 Firestore의 classes/{classId}/materials 컬렉션에 문서를 새로 추가해 줘. 필드는 title, html, createdAt(서버 시간)만 써.
- 이 폼은 그 수업을 만든 교사(classes/{classId}의 teacherUid가 내 uid인 경우)에게만 보여 줘.
- 제목이 비어 있으면 저장하지 말고 "제목을 입력하세요"라고 알려 줘.
- html 내용의 크기를 UTF-8 바이트로 세어 90만 바이트를 넘으면 저장하지 말고 "자료가 너무 큽니다"라고 알려 줘.
- 저장에 성공하면 입력칸을 비우고 "저장했습니다"라고 보여 줘.
- 기존 로그인, 수업 만들기 기능은 건드리지 마.
```
[예상 결과]
교사 계정으로 수업에 들어가면 제목칸과 HTML 입력칸이 있는 폼이 보인다. 샘플 HTML을 붙여넣고 저장하면 "저장했습니다"가 나온다. Firebase 콘솔 Firestore에서 `classes` → 해당 수업 → `materials`에 문서 1개가 생기고 title, html, createdAt이 들어 있다 `[확인필요: 콘솔 메뉴 이름]`.
[막힐 때]
- "Missing or insufficient permissions" 오류: 임시 규칙은 materials 쓰기를 이미 허용하므로 규칙 미게시나 로그아웃이 원인일 가능성이 크다. 콘솔 Firestore 규칙 탭에 `firestore.temp.rules`가 게시되어 있는지, 로그인한 상태인지 확인한다. 그래도 같으면 오류 메시지를 붙여넣고 "규칙 파일은 바꾸지 말고 앱 코드에서 원인을 찾아 줘"라고 요청한다.
 - 폼이 안 보임: 교사 계정으로 내가 만든 수업에 들어갔는지 확인한다.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(5분) 핵심은 "자료는 iframe 안에서만 열린다"이다. 용어: srcdoc = 자료 글을 진열장 안에 직접 넣는 방식(진열장에 물건을 바로 올려 두는 것). 프롬프트에 allow-same-origin, allow-scripts를 넣지 말라는 줄이 있는 이유를 말로 설명한다: 두 가지를 함께 주면 진열장 유리가 사라져 자료 속 스크립트가 로그인 정보에 닿을 수 있다. 자료의 버튼이 안 눌리는 것은 정상임을 미리 말해 둔다. 이 설명이 없으면 "고장 났어요" 질문이 몰린다. 스크립트가 꼭 필요한 자료는 연수 후 과제로 안내한다.
[복사용 프롬프트 전문 / 실습 순서]
```
현재 프로젝트의 학생용 수업 화면에 "수업자료" 목록을 추가해 줘.
- classes/{classId}/materials 컬렉션에서 자료를 불러와 최신순(createdAt 내림차순)으로 제목만 목록으로 보여 줘.
- 제목을 누르면 그 자료의 html 필드를 iframe의 srcdoc 속성으로 화면에 보여 줘.
- 그 iframe에는 반드시 sandbox 속성을 값 없이(모든 제한을 유지하는 형태로) 붙여 줘. allow-same-origin과 allow-scripts는 절대 넣지 마.
- 자료가 하나도 없으면 "아직 등록된 자료가 없습니다"라고 보여 줘.
- 교사 화면에서도 같은 목록과 열람이 되게 해 줘.
- 자료 html을 이 페이지의 다른 곳에 innerHTML로 넣지 마. 오직 iframe의 srcdoc으로만 보여 줘.
```
[예상 결과]
학생 계정으로 가입한 수업에 들어가면 자료 제목 목록이 보인다. 제목을 누르면 박스 안에 자료가 나타난다. 자료 속 버튼이나 스크립트 동작은 막혀 있어도 정상이다(유리 진열장이므로).
[막힐 때]
- 자료가 하얀 화면으로만 보임: 샘플 HTML이 비었거나 일부만 붙여넣어졌다. 교사 화면에서 다시 등록해 본다.
 - 자료 속 버튼이 눌러지지 않음: 오류가 아니다. sandbox의 의도된 동작이다. 노트 설명 참고.
 - 목록 정렬 관련 "색인 필요" 오류: 단일 필드 정렬(createdAt)은 색인이 자동으로 만들어져 보통 나오지 않는다. 혹시 나오면 오류 메시지의 링크 안내를 Claude Code에 붙여넣어 해결한다.</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(3분) 먼저 시크릿 창으로 학생 확인을 시킨 뒤 위 프롬프트를 붙여넣게 한다. "여기서 일부러 차단 시도는 하지 않습니다. 규칙을 아직 완성하지 않았기 때문입니다. 모듈 7에서 학생 계정으로 미가입 수업 자료를 열어 보고 막히는 것을 눈으로 확인합니다." 실제 학생 계정이나 이름은 쓰지 않고 테스트 계정만 쓴다(개인정보 원칙).
[복사용 프롬프트 전문 / 실습 순서]
```
방금 만든 수업자료 기능을 점검하려고 해. 다음을 확인해서 결과를 알려 줘.
1. 학생 화면에서 자료 목록과 iframe 열람이 정상 동작하는지 코드로 점검해 줘.
2. iframe의 sandbox 속성에 allow-same-origin 또는 allow-scripts가 들어 있지 않은지 확인해 줘.
3. 자료 html을 innerHTML 등으로 직접 화면에 넣는 곳이 없는지 찾아 줘.
4. 문제가 있으면 고치고, 무엇을 고쳤는지 한국어로 3줄 이내로 요약해 줘.
```
[예상 결과]
Claude Code가 "문제 없음" 또는 수정 내역 3줄 이내를 알려 준다. 사람의 확인: 시크릿 창에서 테스트 학생 계정으로 로그인해 수업코드로 가입하고 자료를 열어 본다. 가입하지 않은 두 번째 계정에서는 이 수업이 내 수업 목록에 없으므로 자료로 들어갈 길이 없다. 단, 규칙으로 막는 것은 모듈 7에서 검증한다.
[막힐 때]
- 학생 계정에서 목록이 비어 있음: 그 학생이 수업코드로 가입했는지(`members/{uid}` 문서) 확인한다. 교사가 자료를 등록했는지도 확인한다.
 - 시크릿 창 로그인이 안 됨: 모듈 2 막힘 모음(승인된 도메인, 팝업 차단)을 다시 본다.</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(2분) 이 모듈의 복구 지점은 `checkpoint-m4`다. 막혔다면 checkpoint 폴더를 열고 다음 모듈부터 따라오세요. 조교는 `checkpoint-m4`로 시작하는 방법(폴더 열기 → Claude Code 실행)을 안내한다. 이미지 문제는 가장 흔하므로 예시 1건을 바로 보여 준다. 다음 모듈 예고: "자료는 읽는 것이었습니다. 이제 학생이 답을 써서 내는 웹 학습지를 만듭니다." 소요 시간 합계 확인: 2 + 3 + 5 + 5 + 3 + 2 = 20분.
[복사용 프롬프트 전문 / 실습 순서]
(해당 없음)
[예상 결과]
교사가 자료를 올리고, 학생이 가입한 수업의 자료를 박스 안에서 열어 볼 수 있다.
[막힐 때]
- 저장이 안 되고 오류가 남: 문서 1개의 크기 한도는 1MiB(1,048,576바이트)다(공식 문서 확인). 큰 이미지가 포함된 HTML이 대표적 원인이며, 우리 폼은 90만 바이트(한글 위주 자료라면 약 30만 글자)를 넘으면 "자료가 너무 큽니다"라고 먼저 알려 준다. 이미지는 줄이거나, 외부 주소(링크)로 된 이미지를 쓰도록 자료를 고친다.
 - 이미지가 깨져 보임: 자료의 이미지가 내 컴퓨터 안의 파일 경로로만 걸려 있기 때문이다. 이미지를 웹 주소로 바꾸거나 자료 안에 포함하는 방식으로 바꾼다. 내용이 크면 위 1MiB 한도를 확인한다.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(3분) "오늘 학습지는 종이 학습지와 똑같이 생각하세요. 문제가 적힌 문항지는 반 전체에 한 장이고, 답이 적힌 답안지는 학생마다 한 장입니다. Firestore는 학급 서류함이라고 했죠. 문항지 서랍 안에 학생별 답안지 칸이 들어 있다고 보시면 됩니다. 이 그림의 경로 이름이 바로 Claude Code에게 알려줄 이름입니다. 문항 하나는 종류(서술형/선택형), 질문, 선택지, 정답으로 구성합니다." 학습 목표: 문항 작성 → 제출 → 교사 확인.</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(3분) "보안 규칙은 교무실 출입 규칙입니다. 규칙 문장은 이렇게 쉽게 말할 수 있어요. '내 번호표와 같은 이름의 답안지만 열어도 된다.' 그래서 문서 이름을 uid로 정해 둡니다. 이름이 uid이면 규칙이 한 줄로 끝나요. 같은 학생이 다시 제출하면 같은 이름의 문서에 답만 바뀌어 저장됩니다(병합 저장, 슬라이드 36). 이 규칙은 지금 만들지 않고 모듈 7에서 한꺼번에 적용·검증합니다. 지금은 이름 붙이는 방식만 기억해 주세요. (제출 확인 권한은 해당 수업 교사에게 있다는 점도 원칙 3과 연결해 한 줄 언급.)" 사실 관련 추가 확인 없음.</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(5분) "코드는 쓰지 않습니다. 박스 안의 문장을 통째로 복사해서 Claude Code에 붙여넣으세요. 문항 필드 이름은 정해 둔 대로 넣었습니다. 선택형에는 정답을 같이 저장합니다. 모듈 6에서 정답 비교로 피드백 초안을 만들 때 쓰기 때문입니다. 정답을 이렇게 같이 저장해도 괜찮은지는 슬라이드 38에서 함께 생각합니다. 한 가지 약속: 화면에는 보기 1, 2, 3으로 보이지만 저장은 0, 1, 2로 됩니다. 컴퓨터는 0부터 셉니다. 그래서 첫 번째 보기가 정답이면 answer는 0이에요. 확인은 콘솔의 Firestore 화면에서 문서가 생겼는지, answer 숫자가 맞는지 보면 됩니다."
[복사용 프롬프트 전문 / 실습 순서]
```
지금 만든 클래스룸에 웹 학습지 작성 기능을 추가해 줘.
1. 교사가 자기가 만든 수업 화면에 들어가면 "학습지 만들기" 영역이 보이게 해 줘. 학생에게는 보이지 않게 해 줘.
2. 학습지 제목을 입력하고, "서술형 문항 추가"와 "선택형 문항 추가" 버튼으로 문항을 여러 개 추가할 수 있게 해 줘.
3. 서술형 문항은 질문 문장만 입력한다.
4. 선택형 문항은 질문 문장, 보기 2~5개, 정답 보기 하나를 입력한다.
5. 저장하면 Firestore의 classes/{classId}/worksheets 컬렉션에 새 문서를 추가하고 title(문자열)과 questions(배열) 두 필드만 저장해 줘. questions의 각 항목은 아래 4개 필드로 해 줘.
 - type: 서술형은 "essay", 선택형은 "choice"
 - text: 질문 문장
 - choices: 선택형은 보기 문장 배열, 서술형은 빈 배열 []
 - answer: 선택형은 정답 보기의 순서 번호(첫 번째 보기가 0인 숫자), 서술형은 null
6. 저장이 끝나면 "저장되었습니다"를 보여 주고, 이 수업의 학습지 목록에 제목이 나타나게 해 줘.
7. 제목이 비었거나, 문항이 없거나, 보기가 2개보다 적거나 정답을 고르지 않은 선택형 문항이 있으면 저장하지 말고 무엇이 빠졌는지 알려 줘.
기존 로그인, 수업, 자료 기능은 그대로 두고, 한 번에 이 기능만 만들어 줘.
```
[예상 결과]
교사 계정으로 수업에 들어가면 "학습지 만들기" 폼이 보인다. 서술형 1개, 선택형 1개를 넣고 저장하면 목록에 제목이 뜨고, 콘솔 Firestore의 `classes/{classId}/worksheets`에 문서가 생기고, `questions`에 `type`, `text`, `choices`, `answer`가 들어 있다(선택형 `answer`는 숫자, 서술형은 `null`). 제목을 비우고 저장하면 저장되지 않고 빠진 항목 안내가 나온다. 학생 계정 화면에는 작성 폼이 없다.
[막힐 때]
- 저장 시 "권한 없음(permission-denied)" → 모듈 2의 임시 규칙이 게시되어 있는지 확인(임시 규칙은 로그인하면 `classes` 아래 `worksheets`를 포함해 허용). 오류 메시지를 그대로 Claude Code에 붙여넣고 "이 오류를 고쳐 줘"라고 요청.
 - 폼이 안 보임 → 교사 계정으로 로그인했는지, 내가 만든 수업인지 확인.</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(5분) "시크릿 창이나 두 번째 브라우저에서 테스트 학생 계정으로 로그인해 주세요. 실제 학생 이름이나 계정은 쓰지 않습니다. 프롬프트의 3번이 슬라이드 34에서 배운 부분입니다. 문서 이름이 uid이므로 같은 학생이 다시 제출해도 새 문서가 생기지 않습니다. 4번의 '병합'이 중요합니다. 통째로 덮어쓰면 나중에 모듈 6에서 선생님이 쓴 피드백까지 지워질 수 있어서, 답과 제출 시각만 바꾸도록 했습니다. 다시 제출해 보고 콘솔에서 문서가 1개인지 확인하세요."
[복사용 프롬프트 전문 / 실습 순서]
```
이어서 학생이 학습지를 풀고 제출하는 기능을 추가해 줘.
1. 학생이 가입한 수업 화면에 학습지 목록이 보이고, 제목을 누르면 문항이 화면에 나오게 해 줘.
2. 서술형은 글상자, 선택형은 보기 라디오 버튼으로 답하게 해 줘. 학생에게는 정답(answer)을 화면에 보여 주지 마.
3. "제출" 버튼을 누르면 classes/{classId}/worksheets/{id}/submissions/{내 uid} 문서에 answers와 submittedAt(서버 시각)을 저장해 줘. 문서 이름은 반드시 로그인한 학생의 uid로 해 줘. answers는 문항 순서대로의 배열이고, 서술형은 쓴 글(안 쓰면 빈 문자열 ""), 선택형은 고른 보기 번호(첫 번째 보기가 0, 안 고르면 null)로 넣어 줘.
4. 이미 제출한 학생이 다시 열면 이전 답이 채워져 있게 해 줘. 다시 제출할 때는 setDoc의 merge(병합) 옵션으로 answers와 submittedAt만 바꾸고, 나중에 선생님이 쓸 feedback 같은 다른 필드는 지우지 마.
5. 제출 후 "제출했습니다"와 제출 시각을 보여 줘.
기존 기능은 그대로 두고, 이 기능만 추가해 줘.
```
[예상 결과]
테스트 학생 계정으로 학습지를 열어 답하고 제출하면 "제출했습니다"가 뜬다. 콘솔 Firestore의 `submissions` 아래에 학생 uid와 같은 이름의 문서가 있고 `answers`, `submittedAt`이 들어 있다. `answers[i]`는 문항 순서와 같고 선택형은 0부터 센 번호다. 다시 제출해도 문서는 1개이고 내용만 바뀐다.
[막힐 때]
- 학습지가 목록에 안 뜸 → 이 학생이 그 수업에 가입했는지(모듈 3) 확인.
 - 제출 시 권한 오류 → 오류 메시지를 그대로 Claude Code에 붙여넣어 요청하고, 안 되면 임시 규칙 게시 여부 확인.</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(4분) "이제 한 바퀴가 돌았습니다. 교사가 만들고, 학생이 풀고, 교사가 확인합니다. 제출 여부를 '그 이름의 답안지가 서랍에 있는가'로 판단한다는 점이 포인트입니다. 학생 이름과 이메일은 최소한만 수집하고 실습은 테스트 계정으로만 합니다(개인정보 원칙). 이 표가 모듈 6에서 피드백 버튼이 붙을 자리입니다."
[복사용 프롬프트 전문 / 실습 순서]
```
이어서 교사용 제출현황 화면을 추가해 줘.
1. 교사가 자기 수업의 학습지를 누르면 "제출현황" 표가 나오게 해 줘.
2. 표에는 수업에 가입한 학생(classes/{classId}/members)을 한 줄씩 보여 주고, 열은 학생 이름, 제출 여부(제출/미제출), 제출 시각으로 해 줘. 학생 이름은 users/{uid}의 name을 사용해 줘.
3. 제출 여부는 classes/{classId}/worksheets/{id}/submissions/{uid} 문서가 있는지로 판단해 줘.
4. 제출한 학생 줄을 누르면 문항별로 그 학생의 답을 보여 주고, 선택형은 학생 답(answers의 번호)과 정답(questions의 answer 번호)이 같은지로 맞음/틀림을 표시해 줘. 보기 번호는 화면에 1부터 보여 줘.
5. 이 화면은 학생에게는 보이지 않게 해 줘.
```
[예상 결과]
교사 계정에서 학습지를 누르면 가입 학생 목록이 나오고, 제출한 테스트 학생은 "제출", 안 한 학생은 "미제출"로 보인다. 학생 줄을 누르면 문항별 답과 선택형 정오 표시가 보인다.
[막힐 때]
- 학생 이름이 비어 있음 → 그 학생이 모듈 2에서 로그인해 `users/{uid}`가 만들어졌는지 확인.
 - 표가 비어 있음 → 학생이 수업코드로 가입했는지(`members/{uid}`) 확인.</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(3분) 먼저 질문만 던진다: "화면에는 안 보이게 했지만 데이터 자체는 어떨까요?" 1분 짝 토론 후 설명. 용어 한 줄: 개발자 도구(F12 키로 여는 창) = 브라우저 속 데이터를 들여다보는 점검 창, 교실로 치면 칠판 뒤편을 살피는 점검용 뒷문이다. "솔직히 말씀드리면, 이번 실습 구조에서는 학생이 브라우저 개발자 도구로 문항 문서를 보면 정답이 보일 수 있습니다. 화면에서 숨기는 것과 데이터를 못 읽게 하는 것은 다릅니다. 보안은 화면이 아니라 규칙과 데이터 구조로 합니다. 이것이 보안 감각의 핵심입니다. 오늘 수업의 선택형은 연습·형성평가용이고 성적에 직접 쓰는 평가에는 부적합합니다. 대안은 둘입니다. 첫째, 성적에 쓰는 문항은 서술형 위주로 하고 교사가 직접 확인합니다. 둘째, 정답을 문항과 분리해 교사만 읽는 문서에 두는 방식입니다. 둘째는 데이터 모델 변경이 필요해 오늘은 하지 않고 연수 후 심화 과제로 남깁니다." (정답은 `questions[i].answer`에 함께 저장하는 방식으로 확정, D6. 가입한 학생은 문항을 풀려면 문서를 읽어야 하고 규칙은 문서 단위로 읽기를 허용하므로 `answer` 필드만 숨길 수 없다.)</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(2분) 체크리스트 세 칸을 소리 내어 확인한다. "막혔다면 checkpoint 폴더를 열고 다음 모듈부터 따라오세요. 복구 지점 이름은 `checkpoint-m5`입니다. 이 폴더는 모듈 5가 끝난 상태입니다. 다음 모듈 6에서는 이 제출현황 표에 피드백 버튼을 붙입니다." 모듈 5 시간 합계 3+3+5+5+4+3+2 = 25분.
[막힐 때]
- 권한 오류(permission-denied) → 오류 메시지 전체 복사해 붙여넣기. 임시 규칙 점검.
 - 문항이 저장되지 않음/선택형 보기 누락 → 안내 문구에 나온 빠진 항목(제목, 보기 2개 이상, 정답 선택)을 채운다. 안내가 안 나오면 "저장 전에 빠진 입력을 알려 주는 안내를 추가해 줘"라고 요청.
 - 모듈 6에서 정답 비교가 모두 틀림으로 나옴 → 콘솔에서 `answer`가 0부터 센 숫자인지 확인.</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(2분) "지난 시간에 학생 답안지가 쌓였습니다. 이제 답안지 한 장 한 장에 선생님 코멘트를 붙일 차례입니다. 서른 명 코멘트를 처음부터 쓰면 퇴근이 늦어집니다. 그래서 세 단계로 나눕니다. 먼저 답을 읽고, 정답과 비교해 초안을 만들고, 선생님이 고쳐서 보냅니다. 초안은 보조교사가 써 준 메모일 뿐, 학생에게 나가는 글은 반드시 선생님이 확인한 글입니다." 강조: 이 단계 구조는 오늘 만드는 기본 방식과 뒤의 AI 시연에서 똑같이 쓰인다. 소요 2분.</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(노트) 확인필요: 무료 사용량·최신 정책  &lt;- "가 필요하다(공식 문서). 무료 사용량과 AI API 비용은 연수 시점에 확인한다"
[발표자 노트 원문]
(2분) 용어 한 줄: 개발자 도구(F12 키로 여는 창) = 브라우저 속에 든 데이터를 들여다보는 점검 창, 교실로 치면 칠판 뒤편을 살피는 점검용 뒷문이다. "용어 하나만 설명합니다. Cloud Functions는 교무실 금고 같은 서버 쪽 공간입니다. 학생 화면(브라우저)에 들어 있는 것은 학생이 모두 열어볼 수 있다고 생각하셔야 합니다. 그래서 AI 키처럼 돈이 나가는 열쇠는 금고에 둡니다. 모듈 2에서 말씀드린 Firebase 웹 설정값은 공개해도 되는 것과 대비해 주세요. 오늘 기본 실습은 AI를 부르지 않으므로 키가 필요 없습니다. 두 번째 줄은 보안 원칙 2의 재확인입니다. 피드백이 `submissions/{uid}` 문서의 `feedback` 필드에 저장되므로, 학생 본인 문서만 읽을 수 있다는 같은 원칙이 적용됩니다. 같은 문서에 answers와 feedback이 함께 있으므로 쓰기 규칙을 나눈다. 교사는 feedback만 고칠 수 있고, 학생은 answers와 submittedAt만 고칠 수 있다. 이 규칙은 모듈 7 슬라이드 48에서 적용한다(지금 실습은 임시 규칙). Functions를 배포하려면 Blaze(종량제) 요금제가 필요하다(공식 문서). 무료 사용량과 AI API 비용은 연수 시점에 확인한다 `[확인필요: 무료 사용량·최신 정책]`. 소요 2분.</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(6분) 시작 전 "정답 비교는 컴퓨터가 잘합니다. 서술형은 사람이 읽어야 합니다. 그래서 서술형 칸은 선생님이 쓰도록 비워 둡니다"라고 짚는다. 프롬프트 전체를 복사해 Claude Code에 붙여넣게 하고 코드는 읽지 않아도 된다고 안내. 5분 시점에 버튼이 보이지 않는 분을 조교가 확인. 이 단계는 저장하지 않는다는 점을 강조(다음 슬라이드에서 저장). 테스트 학생 계정의 제출 데이터만 사용하고 실제 학생 이름은 쓰지 않는다. 소요 6분.
[복사용 프롬프트 전문 / 실습 순서]
```
 교사용 제출현황 표에서 학생 한 명을 눌러 답안을 볼 때, 그 화면에 "피드백 초안 만들기" 버튼을 추가해 줘.
 버튼을 누르면 다음 규칙으로 피드백 초안 글을 만들어 입력칸(여러 줄 텍스트)에 채워 줘.
 1) 선택형 문항은 학습지 문서 questions의 answer(0부터 세는 정답 보기 번호)와 학생 answers의 같은 순서 값을 비교한다. 맞으면 "문항 N: 맞았어요", 틀리면 "문항 N: 다시 한 번 살펴보세요"라고 쓴다. 문항 번호 N은 1부터 센다.
 2) 교사가 문항마다 "틀렸을 때 안내 문구"를 한 줄씩 입력할 수 있는 칸을 만들고, 틀린 문항에는 그 안내 문구를 이어서 붙인다. 안내 문구를 비워 두면 붙이지 않는다.
 3) 서술형 문항은 정답 비교를 하지 않고 "문항 N: 선생님이 직접 읽고 코멘트를 남길게요"라고 쓴다.
 4) 마지막 줄에 "총 N문항 중 M문항 맞았어요"를 넣는다. 여기서 N은 선택형 문항 수, M은 그중 맞은 수다. 선택형 문항이 없으면 이 줄은 넣지 않는다.
 이 단계에서는 AI를 부르지 말고 브라우저 코드만으로 만들고, 아직 Firestore에 저장하지 마. 초안은 입력칸에 채우기만 해.
 ```
[예상 결과]
제출한 테스트 학생을 누르면 답안 아래에 "피드백 초안 만들기" 버튼이 보이고, 누르면 문항별 "맞았어요 / 다시 한 번 살펴보세요" 문장과 마지막 점수 줄(선택형 기준, 예: "총 2문항 중 1문항 맞았어요")이 입력칸에 채워진다. 틀린 문항 줄 뒤에는 교사가 적은 안내 문구가 붙는다. 이 시점에 Firestore에는 아직 아무것도 저장되지 않는다.
[막힐 때]
- 모든 문항이 틀렸다고 나온다 → 학습지에서 선택형 정답이 입력되어 있는지 확인. 그래도 같으면 화면 문구와 오류 메시지를 그대로 Claude Code에 붙여넣고 "정답 비교가 왜 모두 틀리게 나오는지 고쳐 줘"라고 요청
 - 버튼이 안 보인다 → 브라우저에서 새로고침(강력 새로고침) 후 교사 계정으로 로그인했는지 확인</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(6분) 핵심 메시지는 "초안은 보조교사, 저장은 선생님의 확인 도장"이다. 교사가 저장하기 전에는 학생에게 아무것도 보이지 않음을 시연으로 확인. 프롬프트 마지막 줄(HTML로 해석하지 말고 글자 그대로)은 교사 글이 화면에서 코드로 실행되지 않게 하는 안전 습관이라고 한 줄 설명하되 깊이 들어가지 않는다. 같은 문서에 answers와 feedback이 있어 쓰기 규칙을 나눈다고 예고한다. 교사는 feedback만, 학생은 answers와 submittedAt만 바꾼다(모듈 7 최종 규칙). 그래서 교사 저장은 feedback 하나만 갱신(updateDoc)하는 방식으로 만든다. 소요 6분.
[복사용 프롬프트 전문 / 실습 순서]
```
 교사용 피드백 입력칸 아래에 "피드백 저장" 버튼을 추가해 줘.
 누르면 입력칸의 글을 그 학생의 제출물 문서 classes/{classId}/worksheets/{id}/submissions/{uid} 의 feedback 필드에 저장해 줘. 교사는 feedback 필드만 바꾸고, 다른 필드(answers, submittedAt)는 건드리지 마. (updateDoc으로 feedback만 갱신)
 저장하면 "저장했어요"라고 알려 주고, 이미 저장된 피드백이 있으면 학생을 다시 열 때 입력칸에 불러와서 다시 고칠 수 있게 해 줘.
 그리고 학생 화면에서 자신이 제출한 학습지 아래에, feedback 필드가 있을 때만 "선생님 피드백" 카드를 보여 줘. 내용은 글 그대로(줄바꿈 유지) 보여 주고, feedback이 없으면 "아직 피드백이 없어요"라고 표시해 줘.
 피드백 글은 화면에 넣을 때 HTML로 해석하지 말고 글자 그대로 출력해 줘.
 ```
[예상 결과]
교사 화면에서 초안을 고쳐 저장하면 "저장했어요"가 뜬다. 콘솔 Firestore에서 해당 submissions 문서에 `feedback` 필드가 생긴다. 테스트 학생 계정으로 같은 학습지를 열면 "선생님 피드백" 카드에 방금 쓴 글이 보이고, 저장 전에는 "아직 피드백이 없어요"가 보인다.
[막힐 때]
- 저장 시 "권한 부족(permission-denied)" 오류 → 실습 중 임시 규칙(모듈 2 슬라이드 13에서 적용, 로그인하면 수업 아래 읽기·쓰기 허용)이 그대로인지 확인하고, 오류 메시지를 그대로 Claude Code에 붙여넣어 요청. 최종 규칙은 모듈 7에서 완성
 - 학생 화면에 카드가 안 보인다 → 학생 계정이 그 수업에 가입되어 있고 제출했는지 확인한 뒤 새로고침</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(6분) 짝과 역할을 나눠도 좋다(한 명은 학생, 한 명은 교사 화면). 완료한 분은 손을 들게 하고 조교가 `checkpoint-m6`와 비교. 이 한 바퀴가 오늘의 "맞춤 피드백" 기본 완성이므로 모든 참가자가 여기까지 오는 것이 목표. 여기서 못 끝낸 분은 45번 데모를 보면서 이어서 해도 된다고 안내. 실제 학생 정보 사용 금지를 다시 한 번 상기. 소요 6분.
[복사용 프롬프트 전문 / 실습 순서]
(이 슬라이드는 Claude Code 요청 없이 직접 확인하는 단계. 아래 체크리스트를 따른다.)
 ```
 1) 시크릿 창: 테스트 학생 계정으로 로그인 → 수업 선택 → 학습지 풀고 제출
 2) 일반 창: 교사 계정으로 로그인 → 제출현황에서 그 학생 선택 → "피드백 초안 만들기"
 3) 초안 끝에 교사 한마디를 한 줄 직접 써 넣기 → "피드백 저장"
 4) 시크릿 창: 학생 화면 새로고침 → "선생님 피드백" 카드에 내 글이 보이는지 확인
 5) (선택) 학생 답을 바꿔 다시 제출 → 교사 화면에서 초안을 다시 만들어 비교
 ```
[예상 결과]
학생 화면의 "선생님 피드백" 카드에 교사가 고친 글(문항별 안내 + 직접 쓴 한마디)이 보인다. 교사 화면에서 같은 학생을 다시 열면 저장한 피드백이 입력칸에 불러와진다.
[막힐 때]
- 재제출하니 피드백이 사라졌다 → 학생 제출이 문서를 통째로 덮어쓰는 방식이면 `feedback`까지 지워진다(실습 중 임시 규칙에서는 실제로 지워짐). 모듈 5 슬라이드 36를 병합 저장으로 만들었다면 생기지 않는다. Claude Code에 "학생이 재제출해도 기존 feedback 필드는 지우지 말고, 병합 저장으로 answers와 submittedAt만 갱신해 줘"라고 요청. (모듈 7 최종 규칙에서는 덮어쓰기가 거부되어 권한 오류로 드러난다.)
 - 학생 화면에 다른 학생의 피드백이 보이는 것 같다 → 로그인한 계정이 맞는지 확인(화면 상단 이름). 두 계정을 한 창에서 오가지 않기</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(노트) 확인필요: 무료 사용량, 최신 정책  &lt;- "요금제와 결제수단 등록이 필요하고(공식 문서), 사용량에 따라 비용이 발생한다."
- (노트) 확인필요  &lt;- "연수 후 과제로 진행하려는 분은 링크의 프롬프트를 사용(콘솔 메뉴·CLI 명령은"
[발표자 노트 원문]
(2분) 강사는 완성본(`checkpoint-final` 또는 심화 완성본)으로 시연한다. 같은 제출물에서 교사 버튼 한 번으로 AI 초안이 입력칸에 채워지는 모습을 보여 준다(이때 저장되지 않는다). 함수는 초안을 교사 화면으로 돌려줄 뿐이고, 교사가 고쳐서 "피드백 저장"을 눌러야 저장된다. 이 흐름은 방금 만든 기본 경로와 같다고 연결한다. 주의 말씀: Cloud Functions를 배포하려면 Blaze(종량제) 요금제와 결제수단 등록이 필요하고(공식 문서), 사용량에 따라 비용이 발생한다. `[확인필요: 무료 사용량, 최신 정책]` 키는 코드나 화면에 절대 노출하지 않고, 연수 중 참가자 키 입력은 하지 않는다. 연수 후 과제로 진행하려는 분은 링크의 프롬프트를 사용(콘솔 메뉴·CLI 명령은 `[확인필요]`). 소요 2분.
[연수 후 과제 프롬프트]
한 번에 하나씩 순서대로 Claude Code에 붙여넣는다. (참고 구현은 엔지니어 문서, 실제 배포는 미검증)
 과제 1 — 함수 만들기
 ```
 이 클래스룸 프로젝트에 Cloud Functions 폴더(functions)를 추가해 줘. Node.js용 2세대 호출형 함수(onCall) 하나만 만들어 줘.
 - 함수 이름: generateFeedbackDraft, 지역: asia-northeast3
 - 입력: classId, worksheetId, studentUid
 - 함수 안에서 로그인한 사람이 classes/{classId}의 teacherUid와 같은지 먼저 확인하고, 아니면 거부해 줘.
 - classes/{classId}/worksheets/{worksheetId}의 questions와 submissions/{studentUid}의 answers를 읽어서 AI에게 보내 줘. 학생 이름, 이메일, uid는 AI에게 보내지 마.
 - AI API 키는 코드에 쓰지 말고 Firebase 비밀 값(Secret, 이름 AI_API_KEY)으로 읽어 줘.
 - AI 응답으로 받은 피드백 초안 글만 돌려주고, Firestore에는 저장하지 마. 저장은 교사가 화면에서 검토한 뒤에 한다.
 - 코드는 설명하지 말고, 내가 직접 해야 하는 일(요금제, 비밀 값 등록, 배포 명령)만 순서대로 알려 줘.
 ```
 과제 2 — 화면에 버튼 붙이기
 ```
 교사 제출현황의 학생 답안 화면에 "AI 초안 만들기" 버튼을 추가해 줘.
 - 누르면 generateFeedbackDraft 함수(지역 asia-northeast3)를 호출해서, 돌아온 글을 피드백 입력칸에 채워 줘. 바로 저장하지는 마.
 - 기다리는 동안 버튼을 잠그고 "AI가 초안을 쓰는 중…"이라고 보여 줘. 실패하면 오류를 쉬운 말로 보여 줘.
 - Firebase Functions SDK는 https://www.gstatic.com/firebasejs/12.19.0/firebase-functions.js 에서 불러와 줘.
 ```</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(1분) "AI든 정답 비교든 초안은 초안입니다. 보내기 전에 선생님이 읽습니다. 외부 AI에 학생 답안을 보낼 때는 이름, 이메일 같은 식별 정보를 빼고, 소속 기관의 개인정보 지침을 먼저 확인하세요." **복구 지점: `checkpoint-m6`.** "막혔다면 checkpoint 폴더를 열고 다음 모듈부터 따라오세요. 모듈 7에서는 지금까지 임시 규칙으로 동작하던 것에 보안 규칙 5원칙을 적용하고 배포합니다." 소요 1분. (모듈 6 합계 25분)</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(3분) "Firestore는 학급 서류함이라고 했습니다. 이 서류함에 자물쇠를 거는 문서가 보안 규칙입니다. 지금까지 모듈마다 한 줄씩 소개한 원칙 다섯 개를 표로 모았습니다. 지금은 외우지 않아도 됩니다. 다음 장에서 이 문장을 그대로 Claude Code에 넘깁니다." 원칙 4 정확한 범위: 규칙은 "가입할 때"를 구분하지 못한다. 수업코드를 아는 로그인 사용자는 언제든 그 수업 1건을 조회할 수 있다(코드가 열쇠). 포인트: 역할(teacher/student)은 화면 분기용이고, 수업이 만들어진 뒤의 권한은 `classes/{classId}.teacherUid`로 판정한다고 말한다. 예외는 수업을 새로 만드는 순간 한 곳이다. 이때만 교사 계정인지 role을 확인하고, role은 한 번 정하면 바꿀 수 없다. 원칙 5는 규칙 파일이 아니라 iframe 속성으로 지킨다는 점도 짚는다.</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(노트) 재확인 필요: 원칙 4 구현(문서 이름=수업코드, get 허용·list 제한) 일치. 근거였던 에뮬레이터 테스트 파일이 삭제됨  &lt;- "그 경우 슬라이드 50 "막힐 때"와 checkpoint-final로 안내한다."
- (노트) 재확인 필요: 원칙 2 feedback 쓰기 제한(학생은 answers·submittedAt만). 같은 이유  &lt;- "그 경우 슬라이드 50 "막힐 때"와 checkpoint-final로 안내한다."
[발표자 노트 원문]
(4분, 설명 1 + 실습 3) "코드를 읽을 필요는 없습니다. 대신 '원칙 N번' 주석이 5개 원칙을 모두 덮는지만 확인하세요." 확인 기준은 (1) 맨 처음 기본 거부가 있는가 (2) 원칙 1–4 주석이 모두 있는가 (3) role을 보는 곳이 수업 만들기(create)와 role 변경 금지뿐인가. 수업코드가 곧 수업 문서 이름이라는 점은 모듈 3에서 이미 그렇게 만들었다. 모듈 3을 where 조회로 만든 참가자는 최종 규칙 배포 뒤 학생 가입이 실패하므로, 그 경우 슬라이드 50 "막힐 때"와 `checkpoint-final`로 안내한다. `[재확인 필요: 원칙 4 구현(문서 이름=수업코드, get 허용·list 제한) 일치. 근거였던 에뮬레이터 테스트 파일이 삭제됨]` `[재확인 필요: 원칙 2 feedback 쓰기 제한(학생은 answers·submittedAt만). 같은 이유]` **content-reviewer 검수 대상**: 규칙의 경로가 데이터 모델과 글자 하나까지 일치하는가. 막힌 참가자에게는 강사가 `checkpoint-final`의 `firestore.rules`를 복사하게 해도 된다.
[복사용 프롬프트 전문 / 실습 순서]
```
이 프로젝트의 firestore.rules 파일을 새로 작성해 줘. 기존 임시 규칙은 모두 지우고 아래 원칙만 적용해 줘. 기본은 모든 접근 거부이고, 아래에서 허용한 것만 열어 줘.
데이터 경로는 이 이름 그대로 써 줘.
- users/{uid}: name, email, role
- classes/{classId}: title, teacherUid, joinCode (문서 이름 classId는 수업코드 joinCode와 같다)
- classes/{classId}/members/{uid}: joinedAt, uid
- classes/{classId}/materials/{id}: title, html, createdAt
- classes/{classId}/worksheets/{id}: title, questions[]
- classes/{classId}/worksheets/{id}/submissions/{uid}: answers, feedback, submittedAt
원칙
1. 학생은 자신이 가입한 수업(내 uid의 members 문서가 있는 수업)의 자료와 학습지만 읽는다.
2. 학생은 자기 제출물(문서 이름이 내 uid인 submissions 문서)만 읽고 쓴다. 다른 학생의 제출물은 읽을 수 없고 제출물 목록도 볼 수 없다. 학생은 자기 제출물에서 answers와 submittedAt만 바꿀 수 있고 feedback 필드는 만들거나 고치거나 지울 수 없다.
3. 수업, 자료, 학습지를 고치고 지우는 것과 자료·학습지를 만드는 것은 해당 수업의 teacherUid와 내 uid가 같은 교사만 한다. 수업을 새로 만드는 것만 users 문서의 role이 teacher인 사람에게 허용하고, teacherUid는 반드시 내 uid여야 한다. role은 처음 저장한 뒤 바꿀 수 없게 해 줘. 그 밖의 권한은 role로 판단하지 마. 해당 수업 교사는 그 수업의 가입자 명단과 제출물을 읽고, 제출물의 feedback 필드만 쓸 수 있다.
4. 수업 목록 조회(list)는 내가 teacherUid인 수업만 허용하고, 학생이 수업 목록 전체를 가져오는 것은 막는다. 수업 문서 이름이 수업코드이므로, 코드를 아는 사람이 classes/{코드} 한 건을 읽는 것(get)과 그 수업 members에 내 uid 문서를 만드는 것은 허용한다. 학생은 members 컬렉션 그룹 조회로 uid가 내 uid인 가입 문서만 찾을 수 있다.
5. 이 원칙은 규칙이 아니라 화면 쪽 일이야. 규칙 파일에는 넣지 말고, 자료를 보여주는 iframe에 sandbox 속성이 있는지 index.html이나 app.js에서 확인만 해 줘.
그리고 규칙의 각 match 블록과 allow 줄 위에 "이 줄은 원칙 N번" 하는 한국어 주석을 달아 줘. 마지막에 원칙 1~5가 각각 어느 줄에 해당하는지 표로 정리해 줘. 초등학교 교사가 읽어도 이해할 수 있게 써 줘.
```
[예상 결과]
`firestore.rules` 파일이 새로 생기고, 줄마다 "원칙 N번" 주석이 달려 있다. Claude Code가 원칙 1–4가 어느 줄인지 표로 알려 주고, 원칙 5(sandbox)는 화면 코드에서 확인한 결과를 보고한다.
[막힐 때]
- 규칙 문법이 이상하다고 나오면: Claude Code에 "firestore.rules 문법 오류가 없는지 확인하고 고쳐 줘"라고 요청한다.
 - 규칙에 `role == 'teacher'` 같은 줄이 수업 만들기(classes의 create) 말고 다른 곳에 있으면: "권한은 role이 아니라 해당 수업의 teacherUid로 판단하도록 고쳐 줘. role은 수업을 새로 만들 때만 확인해 줘"라고 다시 요청한다. 수업 만들기에 role 확인이 있는 것은 정상이다.</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(예상 결과) 확인필요: 주소 형식  &lt;- "가 나오고, https://프로젝트ID.web.app 형태의 공개 주소가 표시된다"
- (막힐 때) 확인필요: CLI 로그인 명령, Claude Code의 셸 명령 입력 방식  &lt;- "Code 입력창에서 ! 뒤에)에서 직접 실행하고 브라우저에서 구글 계정을 선택한다"
- (노트) 확인필요: CLI 명령과 옵션 최신성  &lt;- "estore(규칙+색인), firebase deploy --only hosting"
- (노트) 확인필요: 최신 설치 명령  &lt;- "eploy --only hosting . Firebase CLI 설치는 사전 준비"
[발표자 노트 원문]
(4분, 실습 4) **사전 로그인 안내 권장**: 첫 `firebase login`(브라우저 인증 + CLI 질문)이 4분 안에 끝나기 빠듯하므로, 사전 안내문과 슬라이드 3 준비물에 "터미널에서 `firebase login` 완료"를 넣고, 못 한 사람은 휴식 시간(슬라이드 26)에 하게 한다. 시간(4분)은 그대로 둔다. Firebase CLI = 터미널에서 Firebase에 올리는 배달 도구(교무실 택배 접수대). 참고 명령(Claude Code가 실행할 것): `firebase use &lt;프로젝트ID&gt;`, `firebase deploy --only firestore`(규칙+색인), `firebase deploy --only hosting` `[확인필요: CLI 명령과 옵션 최신성]`. Firebase CLI 설치는 사전 준비 `[확인필요: 최신 설치 명령]`. 색인 파일은 모듈 3에서 오류 링크로 색인을 이미 만든 참가자에게는 없어도 동작한다. ignore 항목(규칙·색인·firebase.json·README.md·samples·functions·숨김 파일)은 이 파일들이 공개 주소로 내려받아지지 않게 하려는 것이다(functions는 심화 과제 뒤 다시 배포할 때 함수 소스가 올라가는 것을 막는다). 첫 배포에서 CLI 로그인 대기가 길어질 수 있으니 조교가 순회한다. 규칙 배포 전에는 앱이 잠깐 안 될 수 있다고 미리 말한다. 공개 주소는 다음 장 검증과 마지막 설문에서 쓰므로 메모장에 복사해 두게 한다.
[복사용 프롬프트 전문 / 실습 순서]
```
firestore.rules를 Firebase에 배포하고, 이어서 이 프로젝트를 Firebase Hosting에 배포해 줘. 순서는 아래와 같이 해 줘.
1. firebase.json에 firestore 규칙 파일(firestore.rules), 색인 파일(firestore.indexes.json), hosting 설정(현재 폴더를 그대로 공개)이 맞게 들어 있는지 확인하고, 없으면 추가해 줘. 빌드 도구가 없는 정적 웹이라서 현재 폴더를 그대로 올리면 돼. firebase.json, firestore.rules, firestore.indexes.json, README.md, samples 폴더, functions 폴더(있으면), 숨김 파일은 공개하지 않도록 hosting의 ignore에 넣어 줘.
2. 연결할 Firebase 프로젝트 ID는 firebase-config.js의 projectId 값을 써 줘.
3. Firebase CLI에 로그인이 안 되어 있으면 나에게 로그인 방법을 알려 줘.
4. 규칙과 색인을 먼저 배포해 줘. 이어서 Hosting을 배포해 줘.
5. 배포가 끝나면 공개 주소(Hosting URL)를 알려 줘. 오류가 나면 오류 메시지를 쉬운 말로 설명하고 고쳐 줘.
```
[예상 결과]
터미널에 규칙·색인 배포 성공 메시지와 Hosting 배포 성공 메시지가 나오고, `https://프로젝트ID.web.app` 형태의 공개 주소가 표시된다 `[확인필요: 주소 형식]`. 주소를 크롬에서 열면 로그인 화면이 보인다.
[막힐 때]
- 로그인 또는 권한 오류가 나면: 터미널에서 Firebase CLI 로그인을 다시 하라고 Claude Code가 안내한다. 로그인은 브라우저 창이 열리는 대화형 명령이라 Claude Code가 대신 끝내지 못할 수 있으니, 안내받은 명령을 참가자가 터미널(또는 Claude Code 입력창에서 `!` 뒤에)에서 직접 실행하고 브라우저에서 구글 계정을 선택한다 `[확인필요: CLI 로그인 명령, Claude Code의 셸 명령 입력 방식]`.
 - 규칙 배포에서 "프로젝트가 선택되지 않음" 오류가 나면: 오류 메시지를 그대로 Claude Code에 붙여넣고 "firebase-config.js의 projectId 프로젝트에 연결해 줘"라고 요청한다.
 - 색인 배포 중 "콘솔에만 있는 색인을 지울까요?" 같은 질문이 나오면: 아니요(N)를 고른다. 원문 질문(firebase-tools 소스): "The following indexes are defined in your project but are not present in your firestore indexes file … Would you like to delete these indexes? Selecting no will continue the rest of the deployment."</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(노트) 확인필요: 실제 배포 주소에서 학생 계정으로 점검 페이지 동작  &lt;- ". 점검 페이지의 실제 배포 주소 동작은 연수 전 강사 리허설에서 확인한다(필수)"
- (노트) 재확인 필요: 슬라이드 50 검증 방법(점검 페이지)의 규칙 일치. 근거였던 테스트·참고 구현이 삭제됨  &lt;- ". 점검 페이지의 실제 배포 주소 동작은 연수 전 강사 리허설에서 확인한다(필수)"
[발표자 노트 원문]
(5분, 실습 5) **이 슬라이드가 오늘의 핵심이다.** 막히는 모습을 눈으로 보는 것이 목표다. 점검 페이지는 강사가 `checkpoint-final`에 넣어 둔 것이라 참가자가 프롬프트를 쓰지 않고 파일만 복사해 쓰게 한다. 짝과 역할을 나눈다. 한 명은 교사 계정, 한 명은 테스트 학생 계정이다. **사전 준비(5분 안에 점검이 끝나도록 슬라이드 49~50 사이 또는 휴식에 미리 해 둔다)**: 교사 역할이 수업 2개(A, B)를 만들고, 학생 역할은 B에만 가입해 B의 학습지 1개를 제출한다. 모듈 5·6에서 쓴 수업을 B로 쓰고 A만 새로 만들면 1분 안에 된다. 이 준비가 안 되면 버튼 1·2·5·6과 확인 버튼이 "점검 불가"로 나온다. 점검 페이지 입력칸 ①에는 학생이 가입하지 않은 수업 A의 코드, ②에는 가입한 수업 B의 코드를 넣는다. 버튼 2의 "다른 학생 uid"는 교사 화면 제출현황에서 강사가 보여 주거나 비워 둔다(비워 두면 목록 읽기만 시도). 시크릿 창으로 두 번째 구글 계정을 연다. 실제 학생 계정은 쓰지 않는다. "막혀서 성공"이라는 표현을 반복한다. 점검 페이지의 실제 배포 주소 동작은 연수 전 강사 리허설에서 확인한다(필수) `[확인필요: 실제 배포 주소에서 학생 계정으로 점검 페이지 동작]` `[재확인 필요: 슬라이드 50 검증 방법(점검 페이지)의 규칙 일치. 근거였던 테스트·참고 구현이 삭제됨]`.
[복사용 프롬프트 전문 / 실습 순서]
```
checkpoint-final에 있는 rules-check.html과 rules-check.js(점검 페이지가 쓰는 파일 전부)를 이 폴더에 복사해 넣고, 이 폴더의 firebase-config.js를 쓰도록 맞춰 줘. 다른 파일은 바꾸지 마. 그다음 Hosting을 다시 배포하고, 공개 주소 뒤에 /rules-check.html을 붙인 주소를 알려 줘.
```
[예상 결과]
공개 주소 뒤에 `/rules-check.html`을 붙여 열면 점검 페이지가 뜬다. 버튼 1~6을 누르면 각각 "막힘(성공)"이 표시되고, 확인 버튼(가입한 수업 자료, 내 제출물)은 읽기 2건 모두 "열림"이 표시된다. 막힘 6개와 열림 2개가 모두 기대대로 나오면 규칙이 맞게 걸린 것이다.
[막힐 때]
- 어떤 버튼이 "열림(규칙 확인 필요)"으로 나오면: 그 버튼의 원칙 번호를 Claude Code에 알려 주고 "이 원칙이 지켜지도록 규칙을 고치고 다시 배포해 줘"라고 요청한다.
 - 확인 버튼(가입한 수업 자료, 내 제출물)이 열리지 않으면: 규칙이 너무 막은 것이다. "내 uid의 members 문서가 있는 수업의 자료와, 문서 이름이 내 uid인 내 제출물은 읽을 수 있어야 해"라고 요청한다.
 - 학생 가입이 권한 오류로 실패하면: 모듈 3을 where 조회나 `uid` 필드 없이 만든 경우다. `checkpoint-final`로 이어서 한다.</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(도식) 확인필요: 한국어 메뉴 표기, 배포 주소 자동 등록 여부  &lt;- "정 탭 &gt; 승인된 도메인에 내 배포 주소(프로젝트ID.web.app)를 추가한다""
- (노트) 확인필요  &lt;- "baseapp.com)이 자동 등록되는 경우가 많으므로 로그인이 정상이면 건너뛴다"
[발표자 노트 원문]
(4분, 실습 4) 원칙 1–4는 슬라이드 50 점검 페이지에서 이미 눌러 본 결과를 표에 옮겨 적는다. 원칙 4의 "수업코드로 가입은 정상"은 학생 계정으로 수업코드를 입력해 가입되는지 화면에서 확인한다. 원칙 5 확인 요청 문장: "자료를 보여주는 iframe에 sandbox 속성이 있는지, allow-scripts와 allow-same-origin을 함께 쓰고 있지 않은지 확인해 줘." 완성본 기준 기대 답은 "iframe에 sandbox 속성이 값 없이 붙어 있고 allow-scripts, allow-same-origin 둘 다 없다"이다. 이유: 이 둘을 함께 주면 자료 속 스크립트가 sandbox를 풀 수 있어 로그인 정보가 위험해진다. 승인된 도메인은 Firebase Hosting 기본 도메인(`프로젝트ID.web.app`, `프로젝트ID.firebaseapp.com`)이 자동 등록되는 경우가 많으므로 로그인이 정상이면 건너뛴다 `[확인필요]`. 5항목 결과를 표에 적게 하고, X가 있는 참가자는 마무리 시간에 조교가 돕는다. **복구 지점**: 막혔다면 `checkpoint-final` 폴더를 열고, 그 폴더의 규칙과 화면 코드를 배포하세요.</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(2분) "오늘 가장 신기했던 순간은?" 옆 사람과 20초 이야기하게 한 뒤 1~2명에게 듣는다. 코드를 직접 쓰지 않고 요청과 확인만 했다는 점을 한 문장으로 되짚는다. 완성하지 못한 칸은 `checkpoint-final`로 채울 수 있다고 안내한다.</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확인] (청중 화면에서 제외하고 여기로 옮긴 표시. 내용은 삭제하지 않음)
- (본문) 확인필요: 최신 무료 한도  &lt;- "와 무료 한도를 확인한다. AI 피드백(Functions)은 Blaze가 필요하다"
- (노트) 확인필요: 최신 무료 한도  &lt;- "ions)은 Blaze(종량제) 요금제가 필요하니 무료 한도는 직접 확인하세요.""
- (노트) 확인필요: 콘솔 메뉴 이름  &lt;- "데이터 정리 방법, 승인된 도메인의 localhost 삭제 권장, 콘솔 삭제 메뉴"
[발표자 노트 원문]
(2분) 강사는 3문장만 말한다. "학생 이름·이메일은 꼭 필요한 만큼만 받고, 실제 학생 자료를 쓰기 전에 학교·교육청 지침을 확인하세요. 오늘 쓴 테스트 계정과 연습 데이터는 지우세요. AI 피드백(Cloud Functions)은 Blaze(종량제) 요금제가 필요하니 무료 한도는 직접 확인하세요." `[확인필요: 최신 무료 한도]` [배포 자료(QR)로 넘김] 개인정보 한계 3가지(uid를 알면 1명의 이름·이메일 조회 D9, 수업코드로 담당 교사 이메일 조회, 이름·이메일은 본인이 쓴 값이라 위조 가능), 임시 규칙 기간(모듈 3~6) 데이터 정리 방법, 승인된 도메인의 `localhost` 삭제 권장, 콘솔 삭제 메뉴 `[확인필요: 콘솔 메뉴 이름]`.</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노트 원문]
(1분) 심화 과제는 선택이다. AI 피드백의 Cloud Functions 배포에는 Blaze(종량제) 요금제가 필요하니(공식 문서) 결제 설정은 각자 확인 후 진행한다. 설문은 QR로 안내하고 응답은 자유 시간에 하게 한다. "막혔던 분은 `checkpoint-final`을 열고 이어서 해보세요. 폴더와 공개 주소는 여러분의 것입니다." **복구 지점**: `checkpoint-final`(완성본). 모듈 7 시간 합계: 3+4+4+5+4 + 2+2+1 = 20+5 = 25분.</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8F2E4"/>
        </a:solidFill>
        <a:effectLst/>
      </p:bgPr>
    </p:bg>
    <p:spTree>
      <p:nvGrpSpPr>
        <p:cNvPr id="1" name=""/>
        <p:cNvGrpSpPr/>
        <p:nvPr/>
      </p:nvGrpSpPr>
      <p:grpSpPr>
        <a:xfrm>
          <a:off x="0" y="0"/>
          <a:ext cx="0" cy="0"/>
          <a:chOff x="0" y="0"/>
          <a:chExt cx="0" cy="0"/>
        </a:xfrm>
      </p:grpSpPr>
      <p:sp>
        <p:nvSpPr>
          <p:cNvPr id="2" name="Text 0"/>
          <p:cNvSpPr/>
          <p:nvPr/>
        </p:nvSpPr>
        <p:spPr>
          <a:xfrm>
            <a:off x="548640" y="6419088"/>
            <a:ext cx="4572000" cy="274320"/>
          </a:xfrm>
          <a:prstGeom prst="rect">
            <a:avLst/>
          </a:prstGeom>
          <a:noFill/>
          <a:ln/>
        </p:spPr>
        <p:txBody>
          <a:bodyPr wrap="square" lIns="0" tIns="0" rIns="0" bIns="0" rtlCol="0" anchor="ctr"/>
          <a:lstStyle/>
          <a:p>
            <a:pPr marL="0" indent="0">
              <a:buNone/>
            </a:pPr>
            <a:r>
              <a:rPr lang="en-US" sz="1200" dirty="0">
                <a:solidFill>
                  <a:srgbClr val="6B5E45"/>
                </a:solidFill>
                <a:latin typeface="Malgun Gothic" pitchFamily="34" charset="0"/>
                <a:ea typeface="Malgun Gothic" pitchFamily="34" charset="-122"/>
                <a:cs typeface="Malgun Gothic" pitchFamily="34" charset="-120"/>
              </a:rPr>
              <a:t>온라인 클래스룸 교원 연수</a:t>
            </a:r>
            <a:endParaRPr lang="en-US" sz="1200" dirty="0"/>
          </a:p>
        </p:txBody>
      </p:sp>
      <p:sp>
        <p:nvSpPr>
          <p:cNvPr id="3" name="Text 1"/>
          <p:cNvSpPr>
            <a:spLocks noGrp="1"/>
          </p:cNvSpPr>
          <p:nvPr>
            <p:ph type="title" idx="101" hasCustomPrompt="1"/>
          </p:nvPr>
        </p:nvSpPr>
        <p:spPr>
          <a:xfrm>
            <a:off x="548640" y="658368"/>
            <a:ext cx="11064240" cy="777240"/>
          </a:xfrm>
          <a:prstGeom prst="rect">
            <a:avLst/>
          </a:prstGeom>
          <a:noFill/>
          <a:ln/>
        </p:spPr>
        <p:txBody>
          <a:bodyPr wrap="square" rtlCol="0"/>
          <a:lstStyle>
            <a:lvl1pPr marL="0" indent="0" algn="l">
              <a:buNone/>
              <a:defRPr lang="en-US" sz="3600" b="1" dirty="0">
                <a:solidFill>
                  <a:srgbClr val="2A2314"/>
                </a:solidFill>
                <a:latin typeface="Malgun Gothic" pitchFamily="34" charset="0"/>
                <a:ea typeface="Malgun Gothic" pitchFamily="34" charset="-122"/>
                <a:cs typeface="Malgun Gothic" pitchFamily="34" charset="-120"/>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1 · 도입 · 완성본 데모</a:t>
            </a:r>
            <a:endParaRPr lang="en-US" sz="1600" dirty="0"/>
          </a:p>
        </p:txBody>
      </p:sp>
      <p:sp>
        <p:nvSpPr>
          <p:cNvPr id="3" name="Text 1"/>
          <p:cNvSpPr/>
          <p:nvPr/>
        </p:nvSpPr>
        <p:spPr>
          <a:xfrm>
            <a:off x="5394960" y="274320"/>
            <a:ext cx="822960" cy="329184"/>
          </a:xfrm>
          <a:prstGeom prst="roundRect">
            <a:avLst>
              <a:gd name="adj" fmla="val 50000"/>
            </a:avLst>
          </a:prstGeom>
          <a:solidFill>
            <a:srgbClr val="6B5E45"/>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정리</a:t>
            </a:r>
            <a:endParaRPr lang="en-US" sz="1400" dirty="0"/>
          </a:p>
        </p:txBody>
      </p:sp>
      <p:sp>
        <p:nvSpPr>
          <p:cNvPr id="6" name="Text 3"/>
          <p:cNvSpPr txBox="1"/>
          <p:nvPr/>
        </p:nvSpPr>
        <p:spPr>
          <a:xfrm>
            <a:off x="548640" y="1371600"/>
            <a:ext cx="6675120" cy="1828800"/>
          </a:xfrm>
          <a:prstGeom prst="rect">
            <a:avLst/>
          </a:prstGeom>
          <a:noFill/>
          <a:ln/>
        </p:spPr>
        <p:txBody>
          <a:bodyPr wrap="square" lIns="0" tIns="0" rIns="0" bIns="0" rtlCol="0" anchor="t"/>
          <a:lstStyle/>
          <a:p>
            <a:pPr marL="0" indent="0">
              <a:buNone/>
            </a:pPr>
            <a:r>
              <a:rPr lang="en-US" sz="4800" b="1" dirty="0">
                <a:solidFill>
                  <a:srgbClr val="2A2314"/>
                </a:solidFill>
                <a:latin typeface="Malgun Gothic" pitchFamily="34" charset="0"/>
                <a:ea typeface="Malgun Gothic" pitchFamily="34" charset="-122"/>
                <a:cs typeface="Malgun Gothic" pitchFamily="34" charset="-120"/>
              </a:rPr>
              <a:t>나만의 온라인 클래스룸 만들기</a:t>
            </a:r>
            <a:endParaRPr lang="en-US" sz="4800" dirty="0"/>
          </a:p>
        </p:txBody>
      </p:sp>
      <p:sp>
        <p:nvSpPr>
          <p:cNvPr id="7" name="Text 4"/>
          <p:cNvSpPr txBox="1"/>
          <p:nvPr/>
        </p:nvSpPr>
        <p:spPr>
          <a:xfrm>
            <a:off x="548640" y="3291840"/>
            <a:ext cx="6675120" cy="548640"/>
          </a:xfrm>
          <a:prstGeom prst="rect">
            <a:avLst/>
          </a:prstGeom>
          <a:noFill/>
          <a:ln/>
        </p:spPr>
        <p:txBody>
          <a:bodyPr wrap="square" lIns="0" tIns="0" rIns="0" bIns="0" rtlCol="0" anchor="ctr"/>
          <a:lstStyle/>
          <a:p>
            <a:pPr marL="0" indent="0">
              <a:buNone/>
            </a:pPr>
            <a:r>
              <a:rPr lang="en-US" sz="2400" b="1" dirty="0">
                <a:solidFill>
                  <a:srgbClr val="356E67"/>
                </a:solidFill>
                <a:latin typeface="Malgun Gothic" pitchFamily="34" charset="0"/>
                <a:ea typeface="Malgun Gothic" pitchFamily="34" charset="-122"/>
                <a:cs typeface="Malgun Gothic" pitchFamily="34" charset="-120"/>
              </a:rPr>
              <a:t>Claude Code로 만드는 교원 연수 · 180분</a:t>
            </a:r>
            <a:endParaRPr lang="en-US" sz="2400" dirty="0"/>
          </a:p>
        </p:txBody>
      </p:sp>
      <p:sp>
        <p:nvSpPr>
          <p:cNvPr id="8" name="Text 5"/>
          <p:cNvSpPr txBox="1"/>
          <p:nvPr/>
        </p:nvSpPr>
        <p:spPr>
          <a:xfrm>
            <a:off x="548640" y="4023360"/>
            <a:ext cx="6675120" cy="822960"/>
          </a:xfrm>
          <a:prstGeom prst="rect">
            <a:avLst/>
          </a:prstGeom>
          <a:noFill/>
          <a:ln/>
        </p:spPr>
        <p:txBody>
          <a:bodyPr wrap="square" lIns="0" tIns="0" rIns="0" bIns="0" rtlCol="0" anchor="ctr"/>
          <a:lstStyle/>
          <a:p>
            <a:pPr marL="0" indent="0">
              <a:buNone/>
            </a:pPr>
            <a:r>
              <a:rPr lang="en-US" sz="2400" dirty="0">
                <a:solidFill>
                  <a:srgbClr val="2A2314"/>
                </a:solidFill>
                <a:latin typeface="Malgun Gothic" pitchFamily="34" charset="0"/>
                <a:ea typeface="Malgun Gothic" pitchFamily="34" charset="-122"/>
                <a:cs typeface="Malgun Gothic" pitchFamily="34" charset="-120"/>
              </a:rPr>
              <a:t>오늘의 최종 산출물: 배포된 내 클래스룸 웹 주소 1개</a:t>
            </a:r>
            <a:endParaRPr lang="en-US" sz="2400" dirty="0"/>
          </a:p>
        </p:txBody>
      </p:sp>
      <p:sp>
        <p:nvSpPr>
          <p:cNvPr id="9" name="Shape 6"/>
          <p:cNvSpPr/>
          <p:nvPr/>
        </p:nvSpPr>
        <p:spPr>
          <a:xfrm>
            <a:off x="7589520" y="1463040"/>
            <a:ext cx="4114800" cy="3291840"/>
          </a:xfrm>
          <a:prstGeom prst="roundRect">
            <a:avLst>
              <a:gd name="adj" fmla="val 4167"/>
            </a:avLst>
          </a:prstGeom>
          <a:solidFill>
            <a:srgbClr val="FFFBF0"/>
          </a:solidFill>
          <a:ln w="25400">
            <a:solidFill>
              <a:srgbClr val="2A2314"/>
            </a:solidFill>
            <a:prstDash val="solid"/>
          </a:ln>
        </p:spPr>
        <p:txBody>
          <a:bodyPr/>
          <a:lstStyle/>
          <a:p>
            <a:endParaRPr lang="ko-KR" altLang="en-US"/>
          </a:p>
        </p:txBody>
      </p:sp>
      <p:sp>
        <p:nvSpPr>
          <p:cNvPr id="10" name="Shape 7"/>
          <p:cNvSpPr/>
          <p:nvPr/>
        </p:nvSpPr>
        <p:spPr>
          <a:xfrm>
            <a:off x="7818120" y="1645920"/>
            <a:ext cx="164592" cy="164592"/>
          </a:xfrm>
          <a:prstGeom prst="ellipse">
            <a:avLst/>
          </a:prstGeom>
          <a:solidFill>
            <a:srgbClr val="B0402C"/>
          </a:solidFill>
          <a:ln w="12700">
            <a:solidFill>
              <a:srgbClr val="FFFBF0"/>
            </a:solidFill>
            <a:prstDash val="solid"/>
          </a:ln>
        </p:spPr>
        <p:txBody>
          <a:bodyPr/>
          <a:lstStyle/>
          <a:p>
            <a:endParaRPr lang="ko-KR" altLang="en-US"/>
          </a:p>
        </p:txBody>
      </p:sp>
      <p:sp>
        <p:nvSpPr>
          <p:cNvPr id="11" name="Shape 8"/>
          <p:cNvSpPr/>
          <p:nvPr/>
        </p:nvSpPr>
        <p:spPr>
          <a:xfrm>
            <a:off x="8092440" y="1645920"/>
            <a:ext cx="164592" cy="164592"/>
          </a:xfrm>
          <a:prstGeom prst="ellipse">
            <a:avLst/>
          </a:prstGeom>
          <a:solidFill>
            <a:srgbClr val="C9A24A"/>
          </a:solidFill>
          <a:ln w="12700">
            <a:solidFill>
              <a:srgbClr val="FFFBF0"/>
            </a:solidFill>
            <a:prstDash val="solid"/>
          </a:ln>
        </p:spPr>
        <p:txBody>
          <a:bodyPr/>
          <a:lstStyle/>
          <a:p>
            <a:endParaRPr lang="ko-KR" altLang="en-US"/>
          </a:p>
        </p:txBody>
      </p:sp>
      <p:sp>
        <p:nvSpPr>
          <p:cNvPr id="12" name="Shape 9"/>
          <p:cNvSpPr/>
          <p:nvPr/>
        </p:nvSpPr>
        <p:spPr>
          <a:xfrm>
            <a:off x="8366760" y="1645920"/>
            <a:ext cx="164592" cy="164592"/>
          </a:xfrm>
          <a:prstGeom prst="ellipse">
            <a:avLst/>
          </a:prstGeom>
          <a:solidFill>
            <a:srgbClr val="356E67"/>
          </a:solidFill>
          <a:ln w="12700">
            <a:solidFill>
              <a:srgbClr val="FFFBF0"/>
            </a:solidFill>
            <a:prstDash val="solid"/>
          </a:ln>
        </p:spPr>
        <p:txBody>
          <a:bodyPr/>
          <a:lstStyle/>
          <a:p>
            <a:endParaRPr lang="ko-KR" altLang="en-US"/>
          </a:p>
        </p:txBody>
      </p:sp>
      <p:sp>
        <p:nvSpPr>
          <p:cNvPr id="13" name="Text 10"/>
          <p:cNvSpPr/>
          <p:nvPr/>
        </p:nvSpPr>
        <p:spPr>
          <a:xfrm>
            <a:off x="7818120" y="2011680"/>
            <a:ext cx="3657600" cy="384048"/>
          </a:xfrm>
          <a:prstGeom prst="roundRect">
            <a:avLst>
              <a:gd name="adj" fmla="val 23810"/>
            </a:avLst>
          </a:prstGeom>
          <a:solidFill>
            <a:srgbClr val="F1E8D2"/>
          </a:solidFill>
          <a:ln/>
        </p:spPr>
        <p:txBody>
          <a:bodyPr wrap="square" lIns="101600" tIns="101600" rIns="101600" bIns="101600" rtlCol="0" anchor="ctr"/>
          <a:lstStyle/>
          <a:p>
            <a:pPr marL="0" indent="0" algn="l">
              <a:buNone/>
            </a:pPr>
            <a:r>
              <a:rPr lang="en-US" sz="1600" dirty="0">
                <a:solidFill>
                  <a:srgbClr val="2A2314"/>
                </a:solidFill>
                <a:latin typeface="Consolas" pitchFamily="34" charset="0"/>
                <a:ea typeface="Consolas" pitchFamily="34" charset="-122"/>
                <a:cs typeface="Consolas" pitchFamily="34" charset="-120"/>
              </a:rPr>
              <a:t>https://(내 프로젝트).web.app</a:t>
            </a:r>
            <a:endParaRPr lang="en-US" sz="1600" dirty="0"/>
          </a:p>
        </p:txBody>
      </p:sp>
      <p:sp>
        <p:nvSpPr>
          <p:cNvPr id="14" name="Text 11"/>
          <p:cNvSpPr txBox="1"/>
          <p:nvPr/>
        </p:nvSpPr>
        <p:spPr>
          <a:xfrm>
            <a:off x="7818120" y="2926080"/>
            <a:ext cx="3657600" cy="731520"/>
          </a:xfrm>
          <a:prstGeom prst="rect">
            <a:avLst/>
          </a:prstGeom>
          <a:noFill/>
          <a:ln/>
        </p:spPr>
        <p:txBody>
          <a:bodyPr wrap="square" lIns="0" tIns="0" rIns="0" bIns="0" rtlCol="0" anchor="ctr"/>
          <a:lstStyle/>
          <a:p>
            <a:pPr marL="0" indent="0" algn="ctr">
              <a:buNone/>
            </a:pPr>
            <a:r>
              <a:rPr lang="en-US" sz="2400" b="1" dirty="0">
                <a:solidFill>
                  <a:srgbClr val="B0402C"/>
                </a:solidFill>
                <a:latin typeface="Malgun Gothic" pitchFamily="34" charset="0"/>
                <a:ea typeface="Malgun Gothic" pitchFamily="34" charset="-122"/>
                <a:cs typeface="Malgun Gothic" pitchFamily="34" charset="-120"/>
              </a:rPr>
              <a:t>우리 반 온라인 클래스룸</a:t>
            </a:r>
            <a:endParaRPr lang="en-US" sz="2400" dirty="0"/>
          </a:p>
        </p:txBody>
      </p:sp>
      <p:sp>
        <p:nvSpPr>
          <p:cNvPr id="15" name="Text 12"/>
          <p:cNvSpPr txBox="1"/>
          <p:nvPr/>
        </p:nvSpPr>
        <p:spPr>
          <a:xfrm>
            <a:off x="7818120" y="3749040"/>
            <a:ext cx="3657600" cy="640080"/>
          </a:xfrm>
          <a:prstGeom prst="rect">
            <a:avLst/>
          </a:prstGeom>
          <a:noFill/>
          <a:ln/>
        </p:spPr>
        <p:txBody>
          <a:bodyPr wrap="square" lIns="0" tIns="0" rIns="0" bIns="0" rtlCol="0" anchor="ctr"/>
          <a:lstStyle/>
          <a:p>
            <a:pPr marL="0" indent="0" algn="ctr">
              <a:buNone/>
            </a:pPr>
            <a:r>
              <a:rPr lang="en-US" sz="1600" dirty="0">
                <a:solidFill>
                  <a:srgbClr val="6B5E45"/>
                </a:solidFill>
                <a:latin typeface="Malgun Gothic" pitchFamily="34" charset="0"/>
                <a:ea typeface="Malgun Gothic" pitchFamily="34" charset="-122"/>
                <a:cs typeface="Malgun Gothic" pitchFamily="34" charset="-120"/>
              </a:rPr>
              <a:t>로그인 · 수업코드 · 자료 · 학습지 · 피드백</a:t>
            </a:r>
            <a:endParaRPr lang="en-US" sz="1600" dirty="0"/>
          </a:p>
        </p:txBody>
      </p:sp>
      <p:sp>
        <p:nvSpPr>
          <p:cNvPr id="16" name="Text 13"/>
          <p:cNvSpPr txBox="1"/>
          <p:nvPr/>
        </p:nvSpPr>
        <p:spPr>
          <a:xfrm>
            <a:off x="548640" y="5577840"/>
            <a:ext cx="11064240" cy="457200"/>
          </a:xfrm>
          <a:prstGeom prst="rect">
            <a:avLst/>
          </a:prstGeom>
          <a:noFill/>
          <a:ln/>
        </p:spPr>
        <p:txBody>
          <a:bodyPr wrap="square" lIns="0" tIns="0" rIns="0" bIns="0" rtlCol="0" anchor="ctr"/>
          <a:lstStyle/>
          <a:p>
            <a:pPr marL="0" indent="0">
              <a:buNone/>
            </a:pPr>
            <a:r>
              <a:rPr lang="en-US" sz="2400" b="1" dirty="0">
                <a:solidFill>
                  <a:srgbClr val="B0402C"/>
                </a:solidFill>
                <a:latin typeface="Malgun Gothic" pitchFamily="34" charset="0"/>
                <a:ea typeface="Malgun Gothic" pitchFamily="34" charset="-122"/>
                <a:cs typeface="Malgun Gothic" pitchFamily="34" charset="-120"/>
              </a:rPr>
              <a:t>오늘 집에 가져갈 것: https://(내 프로젝트).web.app 형태의 주소</a:t>
            </a:r>
            <a:endParaRPr lang="en-US" sz="2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1 · 도입 · 완성본 데모</a:t>
            </a:r>
            <a:endParaRPr lang="en-US" sz="1600" dirty="0"/>
          </a:p>
        </p:txBody>
      </p:sp>
      <p:sp>
        <p:nvSpPr>
          <p:cNvPr id="3" name="Text 1"/>
          <p:cNvSpPr/>
          <p:nvPr/>
        </p:nvSpPr>
        <p:spPr>
          <a:xfrm>
            <a:off x="5394960" y="274320"/>
            <a:ext cx="822960" cy="329184"/>
          </a:xfrm>
          <a:prstGeom prst="roundRect">
            <a:avLst>
              <a:gd name="adj" fmla="val 50000"/>
            </a:avLst>
          </a:prstGeom>
          <a:solidFill>
            <a:srgbClr val="C9A24A"/>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데모</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완성본 먼저 보기</a:t>
            </a:r>
            <a:endParaRPr lang="en-US" sz="3600" dirty="0"/>
          </a:p>
        </p:txBody>
      </p:sp>
      <p:sp>
        <p:nvSpPr>
          <p:cNvPr id="6" name="Text 3"/>
          <p:cNvSpPr txBox="1"/>
          <p:nvPr/>
        </p:nvSpPr>
        <p:spPr>
          <a:xfrm>
            <a:off x="548640" y="1554480"/>
            <a:ext cx="11064240" cy="173736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오늘 만들 클래스룸을 2분만 먼저 봅니다.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교사: 수업 만들기 → 자료 → 학습지 → 피드백</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학생: 코드 가입 → 열람 → 제출 → 피드백 확인</a:t>
            </a:r>
            <a:endParaRPr lang="en-US" sz="2400" dirty="0"/>
          </a:p>
        </p:txBody>
      </p:sp>
      <p:sp>
        <p:nvSpPr>
          <p:cNvPr id="7" name="Text 4"/>
          <p:cNvSpPr txBox="1"/>
          <p:nvPr/>
        </p:nvSpPr>
        <p:spPr>
          <a:xfrm>
            <a:off x="548640" y="3172968"/>
            <a:ext cx="1371600" cy="310896"/>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교사</a:t>
            </a:r>
            <a:endParaRPr lang="en-US" sz="1600" dirty="0"/>
          </a:p>
        </p:txBody>
      </p:sp>
      <p:sp>
        <p:nvSpPr>
          <p:cNvPr id="8" name="Text 5"/>
          <p:cNvSpPr txBox="1"/>
          <p:nvPr/>
        </p:nvSpPr>
        <p:spPr>
          <a:xfrm>
            <a:off x="548640" y="4910328"/>
            <a:ext cx="1371600" cy="310896"/>
          </a:xfrm>
          <a:prstGeom prst="rect">
            <a:avLst/>
          </a:prstGeom>
          <a:noFill/>
          <a:ln/>
        </p:spPr>
        <p:txBody>
          <a:bodyPr wrap="square" lIns="0" tIns="0" rIns="0" bIns="0" rtlCol="0" anchor="ctr"/>
          <a:lstStyle/>
          <a:p>
            <a:pPr marL="0" indent="0">
              <a:buNone/>
            </a:pPr>
            <a:r>
              <a:rPr lang="en-US" sz="1600" b="1" dirty="0">
                <a:solidFill>
                  <a:srgbClr val="B0402C"/>
                </a:solidFill>
                <a:latin typeface="Malgun Gothic" pitchFamily="34" charset="0"/>
                <a:ea typeface="Malgun Gothic" pitchFamily="34" charset="-122"/>
                <a:cs typeface="Malgun Gothic" pitchFamily="34" charset="-120"/>
              </a:rPr>
              <a:t>학생</a:t>
            </a:r>
            <a:endParaRPr lang="en-US" sz="1600" dirty="0"/>
          </a:p>
        </p:txBody>
      </p:sp>
      <p:sp>
        <p:nvSpPr>
          <p:cNvPr id="9" name="Text 6"/>
          <p:cNvSpPr/>
          <p:nvPr/>
        </p:nvSpPr>
        <p:spPr>
          <a:xfrm>
            <a:off x="548640" y="3520440"/>
            <a:ext cx="1691640" cy="685800"/>
          </a:xfrm>
          <a:prstGeom prst="roundRect">
            <a:avLst>
              <a:gd name="adj" fmla="val 16000"/>
            </a:avLst>
          </a:prstGeom>
          <a:solidFill>
            <a:srgbClr val="DCE9E5"/>
          </a:solidFill>
          <a:ln w="25400">
            <a:solidFill>
              <a:srgbClr val="356E67"/>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수업 만들기</a:t>
            </a:r>
            <a:endParaRPr lang="en-US" sz="1800" dirty="0"/>
          </a:p>
        </p:txBody>
      </p:sp>
      <p:sp>
        <p:nvSpPr>
          <p:cNvPr id="10" name="Shape 7"/>
          <p:cNvSpPr/>
          <p:nvPr/>
        </p:nvSpPr>
        <p:spPr>
          <a:xfrm>
            <a:off x="2258568" y="3717036"/>
            <a:ext cx="265176" cy="292608"/>
          </a:xfrm>
          <a:prstGeom prst="rightArrow">
            <a:avLst/>
          </a:prstGeom>
          <a:solidFill>
            <a:srgbClr val="356E67"/>
          </a:solidFill>
          <a:ln w="12700">
            <a:solidFill>
              <a:srgbClr val="356E67"/>
            </a:solidFill>
            <a:prstDash val="solid"/>
          </a:ln>
        </p:spPr>
        <p:txBody>
          <a:bodyPr/>
          <a:lstStyle/>
          <a:p>
            <a:endParaRPr lang="ko-KR" altLang="en-US"/>
          </a:p>
        </p:txBody>
      </p:sp>
      <p:sp>
        <p:nvSpPr>
          <p:cNvPr id="11" name="Text 8"/>
          <p:cNvSpPr/>
          <p:nvPr/>
        </p:nvSpPr>
        <p:spPr>
          <a:xfrm>
            <a:off x="2542032" y="3520440"/>
            <a:ext cx="1691640" cy="685800"/>
          </a:xfrm>
          <a:prstGeom prst="roundRect">
            <a:avLst>
              <a:gd name="adj" fmla="val 16000"/>
            </a:avLst>
          </a:prstGeom>
          <a:solidFill>
            <a:srgbClr val="DCE9E5"/>
          </a:solidFill>
          <a:ln w="25400">
            <a:solidFill>
              <a:srgbClr val="356E67"/>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자료 등록</a:t>
            </a:r>
            <a:endParaRPr lang="en-US" sz="1800" dirty="0"/>
          </a:p>
        </p:txBody>
      </p:sp>
      <p:sp>
        <p:nvSpPr>
          <p:cNvPr id="12" name="Shape 9"/>
          <p:cNvSpPr/>
          <p:nvPr/>
        </p:nvSpPr>
        <p:spPr>
          <a:xfrm>
            <a:off x="4251960" y="3717036"/>
            <a:ext cx="265176" cy="292608"/>
          </a:xfrm>
          <a:prstGeom prst="rightArrow">
            <a:avLst/>
          </a:prstGeom>
          <a:solidFill>
            <a:srgbClr val="356E67"/>
          </a:solidFill>
          <a:ln w="12700">
            <a:solidFill>
              <a:srgbClr val="356E67"/>
            </a:solidFill>
            <a:prstDash val="solid"/>
          </a:ln>
        </p:spPr>
        <p:txBody>
          <a:bodyPr/>
          <a:lstStyle/>
          <a:p>
            <a:endParaRPr lang="ko-KR" altLang="en-US"/>
          </a:p>
        </p:txBody>
      </p:sp>
      <p:sp>
        <p:nvSpPr>
          <p:cNvPr id="13" name="Text 10"/>
          <p:cNvSpPr/>
          <p:nvPr/>
        </p:nvSpPr>
        <p:spPr>
          <a:xfrm>
            <a:off x="4535424" y="3520440"/>
            <a:ext cx="1691640" cy="685800"/>
          </a:xfrm>
          <a:prstGeom prst="roundRect">
            <a:avLst>
              <a:gd name="adj" fmla="val 16000"/>
            </a:avLst>
          </a:prstGeom>
          <a:solidFill>
            <a:srgbClr val="DCE9E5"/>
          </a:solidFill>
          <a:ln w="25400">
            <a:solidFill>
              <a:srgbClr val="356E67"/>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학습지 작성</a:t>
            </a:r>
            <a:endParaRPr lang="en-US" sz="1800" dirty="0"/>
          </a:p>
        </p:txBody>
      </p:sp>
      <p:sp>
        <p:nvSpPr>
          <p:cNvPr id="14" name="Shape 11"/>
          <p:cNvSpPr/>
          <p:nvPr/>
        </p:nvSpPr>
        <p:spPr>
          <a:xfrm>
            <a:off x="6245352" y="3717036"/>
            <a:ext cx="265176" cy="292608"/>
          </a:xfrm>
          <a:prstGeom prst="rightArrow">
            <a:avLst/>
          </a:prstGeom>
          <a:solidFill>
            <a:srgbClr val="356E67"/>
          </a:solidFill>
          <a:ln w="12700">
            <a:solidFill>
              <a:srgbClr val="356E67"/>
            </a:solidFill>
            <a:prstDash val="solid"/>
          </a:ln>
        </p:spPr>
        <p:txBody>
          <a:bodyPr/>
          <a:lstStyle/>
          <a:p>
            <a:endParaRPr lang="ko-KR" altLang="en-US"/>
          </a:p>
        </p:txBody>
      </p:sp>
      <p:sp>
        <p:nvSpPr>
          <p:cNvPr id="15" name="Text 12"/>
          <p:cNvSpPr/>
          <p:nvPr/>
        </p:nvSpPr>
        <p:spPr>
          <a:xfrm>
            <a:off x="6528816" y="3520440"/>
            <a:ext cx="1691640" cy="685800"/>
          </a:xfrm>
          <a:prstGeom prst="roundRect">
            <a:avLst>
              <a:gd name="adj" fmla="val 16000"/>
            </a:avLst>
          </a:prstGeom>
          <a:solidFill>
            <a:srgbClr val="DCE9E5"/>
          </a:solidFill>
          <a:ln w="25400">
            <a:solidFill>
              <a:srgbClr val="356E67"/>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피드백 전달</a:t>
            </a:r>
            <a:endParaRPr lang="en-US" sz="1800" dirty="0"/>
          </a:p>
        </p:txBody>
      </p:sp>
      <p:sp>
        <p:nvSpPr>
          <p:cNvPr id="16" name="Text 13"/>
          <p:cNvSpPr/>
          <p:nvPr/>
        </p:nvSpPr>
        <p:spPr>
          <a:xfrm>
            <a:off x="548640" y="5257800"/>
            <a:ext cx="1691640" cy="685800"/>
          </a:xfrm>
          <a:prstGeom prst="roundRect">
            <a:avLst>
              <a:gd name="adj" fmla="val 16000"/>
            </a:avLst>
          </a:prstGeom>
          <a:solidFill>
            <a:srgbClr val="F3DDD6"/>
          </a:solidFill>
          <a:ln w="25400">
            <a:solidFill>
              <a:srgbClr val="B0402C"/>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수업코드로 가입</a:t>
            </a:r>
            <a:endParaRPr lang="en-US" sz="1800" dirty="0"/>
          </a:p>
        </p:txBody>
      </p:sp>
      <p:sp>
        <p:nvSpPr>
          <p:cNvPr id="17" name="Shape 14"/>
          <p:cNvSpPr/>
          <p:nvPr/>
        </p:nvSpPr>
        <p:spPr>
          <a:xfrm>
            <a:off x="2258568" y="5454396"/>
            <a:ext cx="265176" cy="292608"/>
          </a:xfrm>
          <a:prstGeom prst="rightArrow">
            <a:avLst/>
          </a:prstGeom>
          <a:solidFill>
            <a:srgbClr val="B0402C"/>
          </a:solidFill>
          <a:ln w="12700">
            <a:solidFill>
              <a:srgbClr val="B0402C"/>
            </a:solidFill>
            <a:prstDash val="solid"/>
          </a:ln>
        </p:spPr>
        <p:txBody>
          <a:bodyPr/>
          <a:lstStyle/>
          <a:p>
            <a:endParaRPr lang="ko-KR" altLang="en-US"/>
          </a:p>
        </p:txBody>
      </p:sp>
      <p:sp>
        <p:nvSpPr>
          <p:cNvPr id="18" name="Text 15"/>
          <p:cNvSpPr/>
          <p:nvPr/>
        </p:nvSpPr>
        <p:spPr>
          <a:xfrm>
            <a:off x="2542032" y="5257800"/>
            <a:ext cx="1691640" cy="685800"/>
          </a:xfrm>
          <a:prstGeom prst="roundRect">
            <a:avLst>
              <a:gd name="adj" fmla="val 16000"/>
            </a:avLst>
          </a:prstGeom>
          <a:solidFill>
            <a:srgbClr val="F3DDD6"/>
          </a:solidFill>
          <a:ln w="25400">
            <a:solidFill>
              <a:srgbClr val="B0402C"/>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자료 열람</a:t>
            </a:r>
            <a:endParaRPr lang="en-US" sz="1800" dirty="0"/>
          </a:p>
        </p:txBody>
      </p:sp>
      <p:sp>
        <p:nvSpPr>
          <p:cNvPr id="19" name="Shape 16"/>
          <p:cNvSpPr/>
          <p:nvPr/>
        </p:nvSpPr>
        <p:spPr>
          <a:xfrm>
            <a:off x="4251960" y="5454396"/>
            <a:ext cx="265176" cy="292608"/>
          </a:xfrm>
          <a:prstGeom prst="rightArrow">
            <a:avLst/>
          </a:prstGeom>
          <a:solidFill>
            <a:srgbClr val="B0402C"/>
          </a:solidFill>
          <a:ln w="12700">
            <a:solidFill>
              <a:srgbClr val="B0402C"/>
            </a:solidFill>
            <a:prstDash val="solid"/>
          </a:ln>
        </p:spPr>
        <p:txBody>
          <a:bodyPr/>
          <a:lstStyle/>
          <a:p>
            <a:endParaRPr lang="ko-KR" altLang="en-US"/>
          </a:p>
        </p:txBody>
      </p:sp>
      <p:sp>
        <p:nvSpPr>
          <p:cNvPr id="20" name="Text 17"/>
          <p:cNvSpPr/>
          <p:nvPr/>
        </p:nvSpPr>
        <p:spPr>
          <a:xfrm>
            <a:off x="4535424" y="5257800"/>
            <a:ext cx="1691640" cy="685800"/>
          </a:xfrm>
          <a:prstGeom prst="roundRect">
            <a:avLst>
              <a:gd name="adj" fmla="val 16000"/>
            </a:avLst>
          </a:prstGeom>
          <a:solidFill>
            <a:srgbClr val="F3DDD6"/>
          </a:solidFill>
          <a:ln w="25400">
            <a:solidFill>
              <a:srgbClr val="B0402C"/>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학습지 제출</a:t>
            </a:r>
            <a:endParaRPr lang="en-US" sz="1800" dirty="0"/>
          </a:p>
        </p:txBody>
      </p:sp>
      <p:sp>
        <p:nvSpPr>
          <p:cNvPr id="21" name="Shape 18"/>
          <p:cNvSpPr/>
          <p:nvPr/>
        </p:nvSpPr>
        <p:spPr>
          <a:xfrm>
            <a:off x="6245352" y="5454396"/>
            <a:ext cx="265176" cy="292608"/>
          </a:xfrm>
          <a:prstGeom prst="rightArrow">
            <a:avLst/>
          </a:prstGeom>
          <a:solidFill>
            <a:srgbClr val="B0402C"/>
          </a:solidFill>
          <a:ln w="12700">
            <a:solidFill>
              <a:srgbClr val="B0402C"/>
            </a:solidFill>
            <a:prstDash val="solid"/>
          </a:ln>
        </p:spPr>
        <p:txBody>
          <a:bodyPr/>
          <a:lstStyle/>
          <a:p>
            <a:endParaRPr lang="ko-KR" altLang="en-US"/>
          </a:p>
        </p:txBody>
      </p:sp>
      <p:sp>
        <p:nvSpPr>
          <p:cNvPr id="22" name="Text 19"/>
          <p:cNvSpPr/>
          <p:nvPr/>
        </p:nvSpPr>
        <p:spPr>
          <a:xfrm>
            <a:off x="6528816" y="5257800"/>
            <a:ext cx="1691640" cy="685800"/>
          </a:xfrm>
          <a:prstGeom prst="roundRect">
            <a:avLst>
              <a:gd name="adj" fmla="val 16000"/>
            </a:avLst>
          </a:prstGeom>
          <a:solidFill>
            <a:srgbClr val="F3DDD6"/>
          </a:solidFill>
          <a:ln w="25400">
            <a:solidFill>
              <a:srgbClr val="B0402C"/>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내 피드백 확인</a:t>
            </a:r>
            <a:endParaRPr lang="en-US" sz="1800" dirty="0"/>
          </a:p>
        </p:txBody>
      </p:sp>
      <p:sp>
        <p:nvSpPr>
          <p:cNvPr id="23" name="Shape 20"/>
          <p:cNvSpPr/>
          <p:nvPr/>
        </p:nvSpPr>
        <p:spPr>
          <a:xfrm>
            <a:off x="1248156" y="4297680"/>
            <a:ext cx="292608" cy="822960"/>
          </a:xfrm>
          <a:prstGeom prst="downArrow">
            <a:avLst/>
          </a:prstGeom>
          <a:solidFill>
            <a:srgbClr val="6B5E45"/>
          </a:solidFill>
          <a:ln w="12700">
            <a:solidFill>
              <a:srgbClr val="6B5E45"/>
            </a:solidFill>
            <a:prstDash val="solid"/>
          </a:ln>
        </p:spPr>
        <p:txBody>
          <a:bodyPr/>
          <a:lstStyle/>
          <a:p>
            <a:endParaRPr lang="ko-KR" altLang="en-US"/>
          </a:p>
        </p:txBody>
      </p:sp>
      <p:sp>
        <p:nvSpPr>
          <p:cNvPr id="24" name="Text 21"/>
          <p:cNvSpPr txBox="1"/>
          <p:nvPr/>
        </p:nvSpPr>
        <p:spPr>
          <a:xfrm>
            <a:off x="1623060" y="4526280"/>
            <a:ext cx="1280160" cy="365760"/>
          </a:xfrm>
          <a:prstGeom prst="rect">
            <a:avLst/>
          </a:prstGeom>
          <a:noFill/>
          <a:ln/>
        </p:spPr>
        <p:txBody>
          <a:bodyPr wrap="square" lIns="0" tIns="0" rIns="0" bIns="0" rtlCol="0" anchor="ctr"/>
          <a:lstStyle/>
          <a:p>
            <a:pPr marL="0" indent="0">
              <a:buNone/>
            </a:pPr>
            <a:r>
              <a:rPr lang="en-US" sz="1600" b="1" dirty="0">
                <a:solidFill>
                  <a:srgbClr val="2A2314"/>
                </a:solidFill>
                <a:latin typeface="Malgun Gothic" pitchFamily="34" charset="0"/>
                <a:ea typeface="Malgun Gothic" pitchFamily="34" charset="-122"/>
                <a:cs typeface="Malgun Gothic" pitchFamily="34" charset="-120"/>
              </a:rPr>
              <a:t>수업코드</a:t>
            </a:r>
            <a:endParaRPr lang="en-US" sz="1600" dirty="0"/>
          </a:p>
        </p:txBody>
      </p:sp>
      <p:sp>
        <p:nvSpPr>
          <p:cNvPr id="25" name="Shape 22"/>
          <p:cNvSpPr/>
          <p:nvPr/>
        </p:nvSpPr>
        <p:spPr>
          <a:xfrm>
            <a:off x="5234940" y="4297680"/>
            <a:ext cx="292608" cy="822960"/>
          </a:xfrm>
          <a:prstGeom prst="upArrow">
            <a:avLst/>
          </a:prstGeom>
          <a:solidFill>
            <a:srgbClr val="6B5E45"/>
          </a:solidFill>
          <a:ln w="12700">
            <a:solidFill>
              <a:srgbClr val="6B5E45"/>
            </a:solidFill>
            <a:prstDash val="solid"/>
          </a:ln>
        </p:spPr>
        <p:txBody>
          <a:bodyPr/>
          <a:lstStyle/>
          <a:p>
            <a:endParaRPr lang="ko-KR" altLang="en-US"/>
          </a:p>
        </p:txBody>
      </p:sp>
      <p:sp>
        <p:nvSpPr>
          <p:cNvPr id="26" name="Text 23"/>
          <p:cNvSpPr txBox="1"/>
          <p:nvPr/>
        </p:nvSpPr>
        <p:spPr>
          <a:xfrm>
            <a:off x="3781044" y="4526280"/>
            <a:ext cx="1371600" cy="365760"/>
          </a:xfrm>
          <a:prstGeom prst="rect">
            <a:avLst/>
          </a:prstGeom>
          <a:noFill/>
          <a:ln/>
        </p:spPr>
        <p:txBody>
          <a:bodyPr wrap="square" lIns="0" tIns="0" rIns="0" bIns="0" rtlCol="0" anchor="ctr"/>
          <a:lstStyle/>
          <a:p>
            <a:pPr marL="0" indent="0" algn="r">
              <a:buNone/>
            </a:pPr>
            <a:r>
              <a:rPr lang="en-US" sz="1600" b="1" dirty="0">
                <a:solidFill>
                  <a:srgbClr val="2A2314"/>
                </a:solidFill>
                <a:latin typeface="Malgun Gothic" pitchFamily="34" charset="0"/>
                <a:ea typeface="Malgun Gothic" pitchFamily="34" charset="-122"/>
                <a:cs typeface="Malgun Gothic" pitchFamily="34" charset="-120"/>
              </a:rPr>
              <a:t>제출 답안</a:t>
            </a:r>
            <a:endParaRPr lang="en-US" sz="1600" dirty="0"/>
          </a:p>
        </p:txBody>
      </p:sp>
      <p:sp>
        <p:nvSpPr>
          <p:cNvPr id="27" name="Shape 24"/>
          <p:cNvSpPr/>
          <p:nvPr/>
        </p:nvSpPr>
        <p:spPr>
          <a:xfrm>
            <a:off x="7228332" y="4297680"/>
            <a:ext cx="292608" cy="822960"/>
          </a:xfrm>
          <a:prstGeom prst="downArrow">
            <a:avLst/>
          </a:prstGeom>
          <a:solidFill>
            <a:srgbClr val="6B5E45"/>
          </a:solidFill>
          <a:ln w="12700">
            <a:solidFill>
              <a:srgbClr val="6B5E45"/>
            </a:solidFill>
            <a:prstDash val="solid"/>
          </a:ln>
        </p:spPr>
        <p:txBody>
          <a:bodyPr/>
          <a:lstStyle/>
          <a:p>
            <a:endParaRPr lang="ko-KR" altLang="en-US"/>
          </a:p>
        </p:txBody>
      </p:sp>
      <p:sp>
        <p:nvSpPr>
          <p:cNvPr id="28" name="Text 25"/>
          <p:cNvSpPr txBox="1"/>
          <p:nvPr/>
        </p:nvSpPr>
        <p:spPr>
          <a:xfrm>
            <a:off x="7603236" y="4526280"/>
            <a:ext cx="640080" cy="365760"/>
          </a:xfrm>
          <a:prstGeom prst="rect">
            <a:avLst/>
          </a:prstGeom>
          <a:noFill/>
          <a:ln/>
        </p:spPr>
        <p:txBody>
          <a:bodyPr wrap="square" lIns="0" tIns="0" rIns="0" bIns="0" rtlCol="0" anchor="ctr"/>
          <a:lstStyle/>
          <a:p>
            <a:pPr marL="0" indent="0">
              <a:buNone/>
            </a:pPr>
            <a:r>
              <a:rPr lang="en-US" sz="1600" b="1" dirty="0">
                <a:solidFill>
                  <a:srgbClr val="2A2314"/>
                </a:solidFill>
                <a:latin typeface="Malgun Gothic" pitchFamily="34" charset="0"/>
                <a:ea typeface="Malgun Gothic" pitchFamily="34" charset="-122"/>
                <a:cs typeface="Malgun Gothic" pitchFamily="34" charset="-120"/>
              </a:rPr>
              <a:t>피드백</a:t>
            </a:r>
            <a:endParaRPr lang="en-US" sz="1600" dirty="0"/>
          </a:p>
        </p:txBody>
      </p:sp>
      <p:sp>
        <p:nvSpPr>
          <p:cNvPr id="29" name="Text 26"/>
          <p:cNvSpPr/>
          <p:nvPr/>
        </p:nvSpPr>
        <p:spPr>
          <a:xfrm>
            <a:off x="8229600" y="3520440"/>
            <a:ext cx="3429000" cy="1234440"/>
          </a:xfrm>
          <a:prstGeom prst="rect">
            <a:avLst/>
          </a:prstGeom>
          <a:solidFill>
            <a:srgbClr val="FFF1CC"/>
          </a:solidFill>
          <a:ln w="25400">
            <a:solidFill>
              <a:srgbClr val="B0402C"/>
            </a:solidFill>
            <a:prstDash val="dash"/>
          </a:ln>
        </p:spPr>
        <p:txBody>
          <a:bodyPr wrap="square" lIns="76200" tIns="76200" rIns="76200" bIns="76200" rtlCol="0" anchor="ctr"/>
          <a:lstStyle/>
          <a:p>
            <a:pPr marL="0" indent="0" algn="ctr">
              <a:buNone/>
            </a:pPr>
            <a:r>
              <a:rPr lang="en-US" sz="1600" b="1" dirty="0">
                <a:solidFill>
                  <a:srgbClr val="B0402C"/>
                </a:solidFill>
                <a:latin typeface="Malgun Gothic" pitchFamily="34" charset="0"/>
                <a:ea typeface="Malgun Gothic" pitchFamily="34" charset="-122"/>
                <a:cs typeface="Malgun Gothic" pitchFamily="34" charset="-120"/>
              </a:rPr>
              <a:t>[화면 캡처 자리]</a:t>
            </a:r>
            <a:endParaRPr lang="en-US" sz="1600" dirty="0"/>
          </a:p>
          <a:p>
            <a:pPr marL="0" indent="0" algn="ctr">
              <a:buNone/>
            </a:pPr>
            <a:r>
              <a:rPr lang="en-US" sz="1600" b="1" dirty="0">
                <a:solidFill>
                  <a:srgbClr val="B0402C"/>
                </a:solidFill>
                <a:latin typeface="Malgun Gothic" pitchFamily="34" charset="0"/>
                <a:ea typeface="Malgun Gothic" pitchFamily="34" charset="-122"/>
                <a:cs typeface="Malgun Gothic" pitchFamily="34" charset="-120"/>
              </a:rPr>
              <a:t>교사 화면 1장</a:t>
            </a:r>
            <a:endParaRPr lang="en-US" sz="1600" dirty="0"/>
          </a:p>
        </p:txBody>
      </p:sp>
      <p:sp>
        <p:nvSpPr>
          <p:cNvPr id="30" name="Text 27"/>
          <p:cNvSpPr/>
          <p:nvPr/>
        </p:nvSpPr>
        <p:spPr>
          <a:xfrm>
            <a:off x="8229600" y="4937760"/>
            <a:ext cx="3429000" cy="1234440"/>
          </a:xfrm>
          <a:prstGeom prst="rect">
            <a:avLst/>
          </a:prstGeom>
          <a:solidFill>
            <a:srgbClr val="FFF1CC"/>
          </a:solidFill>
          <a:ln w="25400">
            <a:solidFill>
              <a:srgbClr val="B0402C"/>
            </a:solidFill>
            <a:prstDash val="dash"/>
          </a:ln>
        </p:spPr>
        <p:txBody>
          <a:bodyPr wrap="square" lIns="76200" tIns="76200" rIns="76200" bIns="76200" rtlCol="0" anchor="ctr"/>
          <a:lstStyle/>
          <a:p>
            <a:pPr marL="0" indent="0" algn="ctr">
              <a:buNone/>
            </a:pPr>
            <a:r>
              <a:rPr lang="en-US" sz="1600" b="1" dirty="0">
                <a:solidFill>
                  <a:srgbClr val="B0402C"/>
                </a:solidFill>
                <a:latin typeface="Malgun Gothic" pitchFamily="34" charset="0"/>
                <a:ea typeface="Malgun Gothic" pitchFamily="34" charset="-122"/>
                <a:cs typeface="Malgun Gothic" pitchFamily="34" charset="-120"/>
              </a:rPr>
              <a:t>[화면 캡처 자리]</a:t>
            </a:r>
            <a:endParaRPr lang="en-US" sz="1600" dirty="0"/>
          </a:p>
          <a:p>
            <a:pPr marL="0" indent="0" algn="ctr">
              <a:buNone/>
            </a:pPr>
            <a:r>
              <a:rPr lang="en-US" sz="1600" b="1" dirty="0">
                <a:solidFill>
                  <a:srgbClr val="B0402C"/>
                </a:solidFill>
                <a:latin typeface="Malgun Gothic" pitchFamily="34" charset="0"/>
                <a:ea typeface="Malgun Gothic" pitchFamily="34" charset="-122"/>
                <a:cs typeface="Malgun Gothic" pitchFamily="34" charset="-120"/>
              </a:rPr>
              <a:t>학생 화면 1장</a:t>
            </a:r>
            <a:endParaRPr lang="en-US" sz="1600" dirty="0"/>
          </a:p>
        </p:txBody>
      </p:sp>
      <p:sp>
        <p:nvSpPr>
          <p:cNvPr id="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1 · 도입 · 완성본 데모</a:t>
            </a:r>
            <a:endParaRPr lang="en-US" sz="1600" dirty="0"/>
          </a:p>
        </p:txBody>
      </p:sp>
      <p:sp>
        <p:nvSpPr>
          <p:cNvPr id="3" name="Text 1"/>
          <p:cNvSpPr/>
          <p:nvPr/>
        </p:nvSpPr>
        <p:spPr>
          <a:xfrm>
            <a:off x="5394960" y="274320"/>
            <a:ext cx="822960" cy="329184"/>
          </a:xfrm>
          <a:prstGeom prst="roundRect">
            <a:avLst>
              <a:gd name="adj" fmla="val 50000"/>
            </a:avLst>
          </a:prstGeom>
          <a:solidFill>
            <a:srgbClr val="356E67"/>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개념</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오늘의 지도와 준비물</a:t>
            </a:r>
            <a:endParaRPr lang="en-US" sz="3600" dirty="0"/>
          </a:p>
        </p:txBody>
      </p:sp>
      <p:sp>
        <p:nvSpPr>
          <p:cNvPr id="6" name="Text 3"/>
          <p:cNvSpPr txBox="1"/>
          <p:nvPr/>
        </p:nvSpPr>
        <p:spPr>
          <a:xfrm>
            <a:off x="548640" y="1508760"/>
            <a:ext cx="11064240" cy="128016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7개 모듈을 하나씩 더해 갑니다.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연습은 테스트 계정으로만. 실제 학생 정보는 넣지 않습니다.</a:t>
            </a:r>
            <a:endParaRPr lang="en-US" sz="2400" dirty="0"/>
          </a:p>
        </p:txBody>
      </p:sp>
      <p:sp>
        <p:nvSpPr>
          <p:cNvPr id="7" name="Text 4"/>
          <p:cNvSpPr/>
          <p:nvPr/>
        </p:nvSpPr>
        <p:spPr>
          <a:xfrm>
            <a:off x="548640" y="2926080"/>
            <a:ext cx="1252728" cy="566928"/>
          </a:xfrm>
          <a:prstGeom prst="roundRect">
            <a:avLst>
              <a:gd name="adj" fmla="val 19355"/>
            </a:avLst>
          </a:prstGeom>
          <a:solidFill>
            <a:srgbClr val="356E67"/>
          </a:solidFill>
          <a:ln/>
        </p:spPr>
        <p:txBody>
          <a:bodyPr wrap="square" lIns="50800" tIns="50800" rIns="50800" bIns="5080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1 도입</a:t>
            </a:r>
            <a:endParaRPr lang="en-US" sz="1500" dirty="0"/>
          </a:p>
        </p:txBody>
      </p:sp>
      <p:sp>
        <p:nvSpPr>
          <p:cNvPr id="8" name="Text 5"/>
          <p:cNvSpPr/>
          <p:nvPr/>
        </p:nvSpPr>
        <p:spPr>
          <a:xfrm>
            <a:off x="1929384" y="2926080"/>
            <a:ext cx="1252728" cy="566928"/>
          </a:xfrm>
          <a:prstGeom prst="roundRect">
            <a:avLst>
              <a:gd name="adj" fmla="val 19355"/>
            </a:avLst>
          </a:prstGeom>
          <a:solidFill>
            <a:srgbClr val="356E67"/>
          </a:solidFill>
          <a:ln/>
        </p:spPr>
        <p:txBody>
          <a:bodyPr wrap="square" lIns="50800" tIns="50800" rIns="50800" bIns="5080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2 로그인</a:t>
            </a:r>
            <a:endParaRPr lang="en-US" sz="1500" dirty="0"/>
          </a:p>
        </p:txBody>
      </p:sp>
      <p:sp>
        <p:nvSpPr>
          <p:cNvPr id="9" name="Text 6"/>
          <p:cNvSpPr/>
          <p:nvPr/>
        </p:nvSpPr>
        <p:spPr>
          <a:xfrm>
            <a:off x="3310128" y="2926080"/>
            <a:ext cx="1252728" cy="566928"/>
          </a:xfrm>
          <a:prstGeom prst="roundRect">
            <a:avLst>
              <a:gd name="adj" fmla="val 19355"/>
            </a:avLst>
          </a:prstGeom>
          <a:solidFill>
            <a:srgbClr val="356E67"/>
          </a:solidFill>
          <a:ln/>
        </p:spPr>
        <p:txBody>
          <a:bodyPr wrap="square" lIns="50800" tIns="50800" rIns="50800" bIns="5080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3 수업코드</a:t>
            </a:r>
            <a:endParaRPr lang="en-US" sz="1500" dirty="0"/>
          </a:p>
        </p:txBody>
      </p:sp>
      <p:sp>
        <p:nvSpPr>
          <p:cNvPr id="10" name="Text 7"/>
          <p:cNvSpPr/>
          <p:nvPr/>
        </p:nvSpPr>
        <p:spPr>
          <a:xfrm>
            <a:off x="4690872" y="2926080"/>
            <a:ext cx="1252728" cy="566928"/>
          </a:xfrm>
          <a:prstGeom prst="roundRect">
            <a:avLst>
              <a:gd name="adj" fmla="val 19355"/>
            </a:avLst>
          </a:prstGeom>
          <a:solidFill>
            <a:srgbClr val="C9A24A"/>
          </a:solidFill>
          <a:ln/>
        </p:spPr>
        <p:txBody>
          <a:bodyPr wrap="square" lIns="50800" tIns="50800" rIns="50800" bIns="5080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휴식</a:t>
            </a:r>
            <a:endParaRPr lang="en-US" sz="1500" dirty="0"/>
          </a:p>
        </p:txBody>
      </p:sp>
      <p:sp>
        <p:nvSpPr>
          <p:cNvPr id="11" name="Text 8"/>
          <p:cNvSpPr/>
          <p:nvPr/>
        </p:nvSpPr>
        <p:spPr>
          <a:xfrm>
            <a:off x="6071616" y="2926080"/>
            <a:ext cx="1252728" cy="566928"/>
          </a:xfrm>
          <a:prstGeom prst="roundRect">
            <a:avLst>
              <a:gd name="adj" fmla="val 19355"/>
            </a:avLst>
          </a:prstGeom>
          <a:solidFill>
            <a:srgbClr val="356E67"/>
          </a:solidFill>
          <a:ln/>
        </p:spPr>
        <p:txBody>
          <a:bodyPr wrap="square" lIns="50800" tIns="50800" rIns="50800" bIns="5080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4 HTML 자료</a:t>
            </a:r>
            <a:endParaRPr lang="en-US" sz="1500" dirty="0"/>
          </a:p>
        </p:txBody>
      </p:sp>
      <p:sp>
        <p:nvSpPr>
          <p:cNvPr id="12" name="Text 9"/>
          <p:cNvSpPr/>
          <p:nvPr/>
        </p:nvSpPr>
        <p:spPr>
          <a:xfrm>
            <a:off x="7452360" y="2926080"/>
            <a:ext cx="1252728" cy="566928"/>
          </a:xfrm>
          <a:prstGeom prst="roundRect">
            <a:avLst>
              <a:gd name="adj" fmla="val 19355"/>
            </a:avLst>
          </a:prstGeom>
          <a:solidFill>
            <a:srgbClr val="356E67"/>
          </a:solidFill>
          <a:ln/>
        </p:spPr>
        <p:txBody>
          <a:bodyPr wrap="square" lIns="50800" tIns="50800" rIns="50800" bIns="5080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5 학습지</a:t>
            </a:r>
            <a:endParaRPr lang="en-US" sz="1500" dirty="0"/>
          </a:p>
        </p:txBody>
      </p:sp>
      <p:sp>
        <p:nvSpPr>
          <p:cNvPr id="13" name="Text 10"/>
          <p:cNvSpPr/>
          <p:nvPr/>
        </p:nvSpPr>
        <p:spPr>
          <a:xfrm>
            <a:off x="8833104" y="2926080"/>
            <a:ext cx="1252728" cy="566928"/>
          </a:xfrm>
          <a:prstGeom prst="roundRect">
            <a:avLst>
              <a:gd name="adj" fmla="val 19355"/>
            </a:avLst>
          </a:prstGeom>
          <a:solidFill>
            <a:srgbClr val="356E67"/>
          </a:solidFill>
          <a:ln/>
        </p:spPr>
        <p:txBody>
          <a:bodyPr wrap="square" lIns="50800" tIns="50800" rIns="50800" bIns="5080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6 맞춤 피드백</a:t>
            </a:r>
            <a:endParaRPr lang="en-US" sz="1500" dirty="0"/>
          </a:p>
        </p:txBody>
      </p:sp>
      <p:sp>
        <p:nvSpPr>
          <p:cNvPr id="14" name="Text 11"/>
          <p:cNvSpPr/>
          <p:nvPr/>
        </p:nvSpPr>
        <p:spPr>
          <a:xfrm>
            <a:off x="10213848" y="2926080"/>
            <a:ext cx="1252728" cy="566928"/>
          </a:xfrm>
          <a:prstGeom prst="roundRect">
            <a:avLst>
              <a:gd name="adj" fmla="val 19355"/>
            </a:avLst>
          </a:prstGeom>
          <a:solidFill>
            <a:srgbClr val="356E67"/>
          </a:solidFill>
          <a:ln/>
        </p:spPr>
        <p:txBody>
          <a:bodyPr wrap="square" lIns="50800" tIns="50800" rIns="50800" bIns="5080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7 배포·보안</a:t>
            </a:r>
            <a:endParaRPr lang="en-US" sz="1500" dirty="0"/>
          </a:p>
        </p:txBody>
      </p:sp>
      <p:sp>
        <p:nvSpPr>
          <p:cNvPr id="15" name="Shape 12"/>
          <p:cNvSpPr/>
          <p:nvPr/>
        </p:nvSpPr>
        <p:spPr>
          <a:xfrm>
            <a:off x="548640" y="3813048"/>
            <a:ext cx="274320" cy="274320"/>
          </a:xfrm>
          <a:prstGeom prst="rect">
            <a:avLst/>
          </a:prstGeom>
          <a:solidFill>
            <a:srgbClr val="FFFBF0"/>
          </a:solidFill>
          <a:ln w="25400">
            <a:solidFill>
              <a:srgbClr val="B0402C"/>
            </a:solidFill>
            <a:prstDash val="solid"/>
          </a:ln>
        </p:spPr>
        <p:txBody>
          <a:bodyPr/>
          <a:lstStyle/>
          <a:p>
            <a:endParaRPr lang="ko-KR" altLang="en-US"/>
          </a:p>
        </p:txBody>
      </p:sp>
      <p:sp>
        <p:nvSpPr>
          <p:cNvPr id="16" name="Text 13"/>
          <p:cNvSpPr txBox="1"/>
          <p:nvPr/>
        </p:nvSpPr>
        <p:spPr>
          <a:xfrm>
            <a:off x="960120" y="3749040"/>
            <a:ext cx="10607040" cy="411480"/>
          </a:xfrm>
          <a:prstGeom prst="rect">
            <a:avLst/>
          </a:prstGeom>
          <a:noFill/>
          <a:ln/>
        </p:spPr>
        <p:txBody>
          <a:bodyPr wrap="square" lIns="0" tIns="0" rIns="0" bIns="0" rtlCol="0" anchor="ctr"/>
          <a:lstStyle/>
          <a:p>
            <a:pPr marL="0" indent="0">
              <a:buNone/>
            </a:pPr>
            <a:r>
              <a:rPr lang="en-US" sz="1800" dirty="0">
                <a:solidFill>
                  <a:srgbClr val="2A2314"/>
                </a:solidFill>
                <a:latin typeface="Malgun Gothic" pitchFamily="34" charset="0"/>
                <a:ea typeface="Malgun Gothic" pitchFamily="34" charset="-122"/>
                <a:cs typeface="Malgun Gothic" pitchFamily="34" charset="-120"/>
              </a:rPr>
              <a:t>구글 계정(교사용) + 테스트 학생용 계정 1개</a:t>
            </a:r>
            <a:endParaRPr lang="en-US" sz="1800" dirty="0"/>
          </a:p>
        </p:txBody>
      </p:sp>
      <p:sp>
        <p:nvSpPr>
          <p:cNvPr id="17" name="Shape 14"/>
          <p:cNvSpPr/>
          <p:nvPr/>
        </p:nvSpPr>
        <p:spPr>
          <a:xfrm>
            <a:off x="548640" y="4288536"/>
            <a:ext cx="274320" cy="274320"/>
          </a:xfrm>
          <a:prstGeom prst="rect">
            <a:avLst/>
          </a:prstGeom>
          <a:solidFill>
            <a:srgbClr val="FFFBF0"/>
          </a:solidFill>
          <a:ln w="25400">
            <a:solidFill>
              <a:srgbClr val="B0402C"/>
            </a:solidFill>
            <a:prstDash val="solid"/>
          </a:ln>
        </p:spPr>
        <p:txBody>
          <a:bodyPr/>
          <a:lstStyle/>
          <a:p>
            <a:endParaRPr lang="ko-KR" altLang="en-US"/>
          </a:p>
        </p:txBody>
      </p:sp>
      <p:sp>
        <p:nvSpPr>
          <p:cNvPr id="18" name="Text 15"/>
          <p:cNvSpPr txBox="1"/>
          <p:nvPr/>
        </p:nvSpPr>
        <p:spPr>
          <a:xfrm>
            <a:off x="960120" y="4224528"/>
            <a:ext cx="10607040" cy="411480"/>
          </a:xfrm>
          <a:prstGeom prst="rect">
            <a:avLst/>
          </a:prstGeom>
          <a:noFill/>
          <a:ln/>
        </p:spPr>
        <p:txBody>
          <a:bodyPr wrap="square" lIns="0" tIns="0" rIns="0" bIns="0" rtlCol="0" anchor="ctr"/>
          <a:lstStyle/>
          <a:p>
            <a:pPr marL="0" indent="0">
              <a:buNone/>
            </a:pPr>
            <a:r>
              <a:rPr lang="en-US" sz="1800" dirty="0">
                <a:solidFill>
                  <a:srgbClr val="2A2314"/>
                </a:solidFill>
                <a:latin typeface="Malgun Gothic" pitchFamily="34" charset="0"/>
                <a:ea typeface="Malgun Gothic" pitchFamily="34" charset="-122"/>
                <a:cs typeface="Malgun Gothic" pitchFamily="34" charset="-120"/>
              </a:rPr>
              <a:t>Claude Code 로그인 완료 (유료 계정 필요, 무료 플랜 불가)</a:t>
            </a:r>
            <a:endParaRPr lang="en-US" sz="1800" dirty="0"/>
          </a:p>
        </p:txBody>
      </p:sp>
      <p:sp>
        <p:nvSpPr>
          <p:cNvPr id="19" name="Shape 16"/>
          <p:cNvSpPr/>
          <p:nvPr/>
        </p:nvSpPr>
        <p:spPr>
          <a:xfrm>
            <a:off x="548640" y="4764024"/>
            <a:ext cx="274320" cy="274320"/>
          </a:xfrm>
          <a:prstGeom prst="rect">
            <a:avLst/>
          </a:prstGeom>
          <a:solidFill>
            <a:srgbClr val="FFFBF0"/>
          </a:solidFill>
          <a:ln w="25400">
            <a:solidFill>
              <a:srgbClr val="B0402C"/>
            </a:solidFill>
            <a:prstDash val="solid"/>
          </a:ln>
        </p:spPr>
        <p:txBody>
          <a:bodyPr/>
          <a:lstStyle/>
          <a:p>
            <a:endParaRPr lang="ko-KR" altLang="en-US"/>
          </a:p>
        </p:txBody>
      </p:sp>
      <p:sp>
        <p:nvSpPr>
          <p:cNvPr id="20" name="Text 17"/>
          <p:cNvSpPr txBox="1"/>
          <p:nvPr/>
        </p:nvSpPr>
        <p:spPr>
          <a:xfrm>
            <a:off x="960120" y="4700016"/>
            <a:ext cx="10607040" cy="411480"/>
          </a:xfrm>
          <a:prstGeom prst="rect">
            <a:avLst/>
          </a:prstGeom>
          <a:noFill/>
          <a:ln/>
        </p:spPr>
        <p:txBody>
          <a:bodyPr wrap="square" lIns="0" tIns="0" rIns="0" bIns="0" rtlCol="0" anchor="ctr"/>
          <a:lstStyle/>
          <a:p>
            <a:pPr marL="0" indent="0">
              <a:buNone/>
            </a:pPr>
            <a:r>
              <a:rPr lang="en-US" sz="1800" dirty="0">
                <a:solidFill>
                  <a:srgbClr val="2A2314"/>
                </a:solidFill>
                <a:latin typeface="Malgun Gothic" pitchFamily="34" charset="0"/>
                <a:ea typeface="Malgun Gothic" pitchFamily="34" charset="-122"/>
                <a:cs typeface="Malgun Gothic" pitchFamily="34" charset="-120"/>
              </a:rPr>
              <a:t>Node.js, Firebase CLI 설치</a:t>
            </a:r>
            <a:endParaRPr lang="en-US" sz="1800" dirty="0"/>
          </a:p>
        </p:txBody>
      </p:sp>
      <p:sp>
        <p:nvSpPr>
          <p:cNvPr id="21" name="Shape 18"/>
          <p:cNvSpPr/>
          <p:nvPr/>
        </p:nvSpPr>
        <p:spPr>
          <a:xfrm>
            <a:off x="548640" y="5239512"/>
            <a:ext cx="274320" cy="274320"/>
          </a:xfrm>
          <a:prstGeom prst="rect">
            <a:avLst/>
          </a:prstGeom>
          <a:solidFill>
            <a:srgbClr val="FFFBF0"/>
          </a:solidFill>
          <a:ln w="25400">
            <a:solidFill>
              <a:srgbClr val="B0402C"/>
            </a:solidFill>
            <a:prstDash val="solid"/>
          </a:ln>
        </p:spPr>
        <p:txBody>
          <a:bodyPr/>
          <a:lstStyle/>
          <a:p>
            <a:endParaRPr lang="ko-KR" altLang="en-US"/>
          </a:p>
        </p:txBody>
      </p:sp>
      <p:sp>
        <p:nvSpPr>
          <p:cNvPr id="22" name="Text 19"/>
          <p:cNvSpPr txBox="1"/>
          <p:nvPr/>
        </p:nvSpPr>
        <p:spPr>
          <a:xfrm>
            <a:off x="960120" y="5175504"/>
            <a:ext cx="10607040" cy="411480"/>
          </a:xfrm>
          <a:prstGeom prst="rect">
            <a:avLst/>
          </a:prstGeom>
          <a:noFill/>
          <a:ln/>
        </p:spPr>
        <p:txBody>
          <a:bodyPr wrap="square" lIns="0" tIns="0" rIns="0" bIns="0" rtlCol="0" anchor="ctr"/>
          <a:lstStyle/>
          <a:p>
            <a:pPr marL="0" indent="0">
              <a:buNone/>
            </a:pPr>
            <a:r>
              <a:rPr lang="en-US" sz="1800" dirty="0">
                <a:solidFill>
                  <a:srgbClr val="2A2314"/>
                </a:solidFill>
                <a:latin typeface="Malgun Gothic" pitchFamily="34" charset="0"/>
                <a:ea typeface="Malgun Gothic" pitchFamily="34" charset="-122"/>
                <a:cs typeface="Malgun Gothic" pitchFamily="34" charset="-120"/>
              </a:rPr>
              <a:t>터미널에서 firebase login 완료</a:t>
            </a:r>
            <a:endParaRPr lang="en-US" sz="1800" dirty="0"/>
          </a:p>
        </p:txBody>
      </p:sp>
      <p:sp>
        <p:nvSpPr>
          <p:cNvPr id="23" name="Shape 20"/>
          <p:cNvSpPr/>
          <p:nvPr/>
        </p:nvSpPr>
        <p:spPr>
          <a:xfrm>
            <a:off x="548640" y="5715000"/>
            <a:ext cx="274320" cy="274320"/>
          </a:xfrm>
          <a:prstGeom prst="rect">
            <a:avLst/>
          </a:prstGeom>
          <a:solidFill>
            <a:srgbClr val="FFFBF0"/>
          </a:solidFill>
          <a:ln w="25400">
            <a:solidFill>
              <a:srgbClr val="B0402C"/>
            </a:solidFill>
            <a:prstDash val="solid"/>
          </a:ln>
        </p:spPr>
        <p:txBody>
          <a:bodyPr/>
          <a:lstStyle/>
          <a:p>
            <a:endParaRPr lang="ko-KR" altLang="en-US"/>
          </a:p>
        </p:txBody>
      </p:sp>
      <p:sp>
        <p:nvSpPr>
          <p:cNvPr id="24" name="Text 21"/>
          <p:cNvSpPr txBox="1"/>
          <p:nvPr/>
        </p:nvSpPr>
        <p:spPr>
          <a:xfrm>
            <a:off x="960120" y="5650992"/>
            <a:ext cx="10607040" cy="411480"/>
          </a:xfrm>
          <a:prstGeom prst="rect">
            <a:avLst/>
          </a:prstGeom>
          <a:noFill/>
          <a:ln/>
        </p:spPr>
        <p:txBody>
          <a:bodyPr wrap="square" lIns="0" tIns="0" rIns="0" bIns="0" rtlCol="0" anchor="ctr"/>
          <a:lstStyle/>
          <a:p>
            <a:pPr marL="0" indent="0">
              <a:buNone/>
            </a:pPr>
            <a:r>
              <a:rPr lang="en-US" sz="1800" dirty="0">
                <a:solidFill>
                  <a:srgbClr val="2A2314"/>
                </a:solidFill>
                <a:latin typeface="Malgun Gothic" pitchFamily="34" charset="0"/>
                <a:ea typeface="Malgun Gothic" pitchFamily="34" charset="-122"/>
                <a:cs typeface="Malgun Gothic" pitchFamily="34" charset="-120"/>
              </a:rPr>
              <a:t>크롬 브라우저</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1 · 도입 · 완성본 데모</a:t>
            </a:r>
            <a:endParaRPr lang="en-US" sz="1600" dirty="0"/>
          </a:p>
        </p:txBody>
      </p:sp>
      <p:sp>
        <p:nvSpPr>
          <p:cNvPr id="3" name="Text 1"/>
          <p:cNvSpPr/>
          <p:nvPr/>
        </p:nvSpPr>
        <p:spPr>
          <a:xfrm>
            <a:off x="5394960" y="274320"/>
            <a:ext cx="822960" cy="329184"/>
          </a:xfrm>
          <a:prstGeom prst="roundRect">
            <a:avLst>
              <a:gd name="adj" fmla="val 50000"/>
            </a:avLst>
          </a:prstGeom>
          <a:solidFill>
            <a:srgbClr val="356E67"/>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개념</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Claude Code는 말로 시키는 보조교사</a:t>
            </a:r>
            <a:endParaRPr lang="en-US" sz="3600" dirty="0"/>
          </a:p>
        </p:txBody>
      </p:sp>
      <p:sp>
        <p:nvSpPr>
          <p:cNvPr id="6" name="Text 3"/>
          <p:cNvSpPr txBox="1"/>
          <p:nvPr/>
        </p:nvSpPr>
        <p:spPr>
          <a:xfrm>
            <a:off x="548640" y="1554480"/>
            <a:ext cx="11064240" cy="173736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말로 시키면 파일을 만들어 주는 보조교사입니다.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우리는 코드를 읽지 않고, 요청하고 확인합니다.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요청이 구체적일수록 결과가 정확합니다.</a:t>
            </a:r>
            <a:endParaRPr lang="en-US" sz="2400" dirty="0"/>
          </a:p>
        </p:txBody>
      </p:sp>
      <p:sp>
        <p:nvSpPr>
          <p:cNvPr id="7" name="Text 4"/>
          <p:cNvSpPr/>
          <p:nvPr/>
        </p:nvSpPr>
        <p:spPr>
          <a:xfrm>
            <a:off x="548640" y="4023360"/>
            <a:ext cx="3261360" cy="1188720"/>
          </a:xfrm>
          <a:prstGeom prst="roundRect">
            <a:avLst>
              <a:gd name="adj" fmla="val 9231"/>
            </a:avLst>
          </a:prstGeom>
          <a:solidFill>
            <a:srgbClr val="DCE9E5"/>
          </a:solidFill>
          <a:ln w="25400">
            <a:solidFill>
              <a:srgbClr val="356E67"/>
            </a:solidFill>
          </a:ln>
        </p:spPr>
        <p:txBody>
          <a:bodyPr wrap="square" lIns="76200" tIns="76200" rIns="76200" bIns="76200" rtlCol="0" anchor="ctr"/>
          <a:lstStyle/>
          <a:p>
            <a:pPr marL="0" indent="0" algn="ctr">
              <a:buNone/>
            </a:pPr>
            <a:r>
              <a:rPr lang="en-US" sz="2000" dirty="0">
                <a:solidFill>
                  <a:srgbClr val="2A2314"/>
                </a:solidFill>
                <a:latin typeface="Malgun Gothic" pitchFamily="34" charset="0"/>
                <a:ea typeface="Malgun Gothic" pitchFamily="34" charset="-122"/>
                <a:cs typeface="Malgun Gothic" pitchFamily="34" charset="-120"/>
              </a:rPr>
              <a:t>교사가</a:t>
            </a:r>
            <a:endParaRPr lang="en-US" sz="2000" dirty="0"/>
          </a:p>
          <a:p>
            <a:pPr marL="0" indent="0" algn="ctr">
              <a:buNone/>
            </a:pPr>
            <a:r>
              <a:rPr lang="en-US" sz="2000" dirty="0">
                <a:solidFill>
                  <a:srgbClr val="2A2314"/>
                </a:solidFill>
                <a:latin typeface="Malgun Gothic" pitchFamily="34" charset="0"/>
                <a:ea typeface="Malgun Gothic" pitchFamily="34" charset="-122"/>
                <a:cs typeface="Malgun Gothic" pitchFamily="34" charset="-120"/>
              </a:rPr>
              <a:t>요청 문장을 쓴다</a:t>
            </a:r>
            <a:endParaRPr lang="en-US" sz="2000" dirty="0"/>
          </a:p>
        </p:txBody>
      </p:sp>
      <p:sp>
        <p:nvSpPr>
          <p:cNvPr id="8" name="Shape 5"/>
          <p:cNvSpPr/>
          <p:nvPr/>
        </p:nvSpPr>
        <p:spPr>
          <a:xfrm>
            <a:off x="3992880" y="447141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9" name="Text 6"/>
          <p:cNvSpPr/>
          <p:nvPr/>
        </p:nvSpPr>
        <p:spPr>
          <a:xfrm>
            <a:off x="4450080" y="4023360"/>
            <a:ext cx="3261360" cy="1188720"/>
          </a:xfrm>
          <a:prstGeom prst="roundRect">
            <a:avLst>
              <a:gd name="adj" fmla="val 9231"/>
            </a:avLst>
          </a:prstGeom>
          <a:solidFill>
            <a:srgbClr val="F3DDD6"/>
          </a:solidFill>
          <a:ln w="25400">
            <a:solidFill>
              <a:srgbClr val="B0402C"/>
            </a:solidFill>
          </a:ln>
        </p:spPr>
        <p:txBody>
          <a:bodyPr wrap="square" lIns="76200" tIns="76200" rIns="76200" bIns="76200" rtlCol="0" anchor="ctr"/>
          <a:lstStyle/>
          <a:p>
            <a:pPr marL="0" indent="0" algn="ctr">
              <a:buNone/>
            </a:pPr>
            <a:r>
              <a:rPr lang="en-US" sz="2000" dirty="0">
                <a:solidFill>
                  <a:srgbClr val="2A2314"/>
                </a:solidFill>
                <a:latin typeface="Malgun Gothic" pitchFamily="34" charset="0"/>
                <a:ea typeface="Malgun Gothic" pitchFamily="34" charset="-122"/>
                <a:cs typeface="Malgun Gothic" pitchFamily="34" charset="-120"/>
              </a:rPr>
              <a:t>보조교사</a:t>
            </a:r>
            <a:endParaRPr lang="en-US" sz="2000" dirty="0"/>
          </a:p>
          <a:p>
            <a:pPr marL="0" indent="0" algn="ctr">
              <a:buNone/>
            </a:pPr>
            <a:r>
              <a:rPr lang="en-US" sz="2000" dirty="0">
                <a:solidFill>
                  <a:srgbClr val="2A2314"/>
                </a:solidFill>
                <a:latin typeface="Malgun Gothic" pitchFamily="34" charset="0"/>
                <a:ea typeface="Malgun Gothic" pitchFamily="34" charset="-122"/>
                <a:cs typeface="Malgun Gothic" pitchFamily="34" charset="-120"/>
              </a:rPr>
              <a:t>(Claude Code)가</a:t>
            </a:r>
            <a:endParaRPr lang="en-US" sz="2000" dirty="0"/>
          </a:p>
          <a:p>
            <a:pPr marL="0" indent="0" algn="ctr">
              <a:buNone/>
            </a:pPr>
            <a:r>
              <a:rPr lang="en-US" sz="2000" dirty="0">
                <a:solidFill>
                  <a:srgbClr val="2A2314"/>
                </a:solidFill>
                <a:latin typeface="Malgun Gothic" pitchFamily="34" charset="0"/>
                <a:ea typeface="Malgun Gothic" pitchFamily="34" charset="-122"/>
                <a:cs typeface="Malgun Gothic" pitchFamily="34" charset="-120"/>
              </a:rPr>
              <a:t>파일을 만든다</a:t>
            </a:r>
            <a:endParaRPr lang="en-US" sz="2000" dirty="0"/>
          </a:p>
        </p:txBody>
      </p:sp>
      <p:sp>
        <p:nvSpPr>
          <p:cNvPr id="10" name="Shape 7"/>
          <p:cNvSpPr/>
          <p:nvPr/>
        </p:nvSpPr>
        <p:spPr>
          <a:xfrm>
            <a:off x="7894320" y="447141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1" name="Text 8"/>
          <p:cNvSpPr/>
          <p:nvPr/>
        </p:nvSpPr>
        <p:spPr>
          <a:xfrm>
            <a:off x="8351520" y="4023360"/>
            <a:ext cx="3261360" cy="1188720"/>
          </a:xfrm>
          <a:prstGeom prst="roundRect">
            <a:avLst>
              <a:gd name="adj" fmla="val 9231"/>
            </a:avLst>
          </a:prstGeom>
          <a:solidFill>
            <a:srgbClr val="DCE9E5"/>
          </a:solidFill>
          <a:ln w="25400">
            <a:solidFill>
              <a:srgbClr val="356E67"/>
            </a:solidFill>
          </a:ln>
        </p:spPr>
        <p:txBody>
          <a:bodyPr wrap="square" lIns="76200" tIns="76200" rIns="76200" bIns="76200" rtlCol="0" anchor="ctr"/>
          <a:lstStyle/>
          <a:p>
            <a:pPr marL="0" indent="0" algn="ctr">
              <a:buNone/>
            </a:pPr>
            <a:r>
              <a:rPr lang="en-US" sz="2000" dirty="0">
                <a:solidFill>
                  <a:srgbClr val="2A2314"/>
                </a:solidFill>
                <a:latin typeface="Malgun Gothic" pitchFamily="34" charset="0"/>
                <a:ea typeface="Malgun Gothic" pitchFamily="34" charset="-122"/>
                <a:cs typeface="Malgun Gothic" pitchFamily="34" charset="-120"/>
              </a:rPr>
              <a:t>교사가</a:t>
            </a:r>
            <a:endParaRPr lang="en-US" sz="2000" dirty="0"/>
          </a:p>
          <a:p>
            <a:pPr marL="0" indent="0" algn="ctr">
              <a:buNone/>
            </a:pPr>
            <a:r>
              <a:rPr lang="en-US" sz="2000" dirty="0">
                <a:solidFill>
                  <a:srgbClr val="2A2314"/>
                </a:solidFill>
                <a:latin typeface="Malgun Gothic" pitchFamily="34" charset="0"/>
                <a:ea typeface="Malgun Gothic" pitchFamily="34" charset="-122"/>
                <a:cs typeface="Malgun Gothic" pitchFamily="34" charset="-120"/>
              </a:rPr>
              <a:t>화면에서 확인한다</a:t>
            </a:r>
            <a:endParaRPr lang="en-US" sz="2000" dirty="0"/>
          </a:p>
        </p:txBody>
      </p:sp>
      <p:sp>
        <p:nvSpPr>
          <p:cNvPr id="12" name="Text 9"/>
          <p:cNvSpPr txBox="1"/>
          <p:nvPr/>
        </p:nvSpPr>
        <p:spPr>
          <a:xfrm>
            <a:off x="548640" y="5349240"/>
            <a:ext cx="11064240" cy="365760"/>
          </a:xfrm>
          <a:prstGeom prst="rect">
            <a:avLst/>
          </a:prstGeom>
          <a:noFill/>
          <a:ln/>
        </p:spPr>
        <p:txBody>
          <a:bodyPr wrap="square" lIns="0" tIns="0" rIns="0" bIns="0" rtlCol="0" anchor="ctr"/>
          <a:lstStyle/>
          <a:p>
            <a:pPr marL="0" indent="0" algn="ctr">
              <a:buNone/>
            </a:pPr>
            <a:r>
              <a:rPr lang="en-US" sz="1600" dirty="0">
                <a:solidFill>
                  <a:srgbClr val="6B5E45"/>
                </a:solidFill>
                <a:latin typeface="Malgun Gothic" pitchFamily="34" charset="0"/>
                <a:ea typeface="Malgun Gothic" pitchFamily="34" charset="-122"/>
                <a:cs typeface="Malgun Gothic" pitchFamily="34" charset="-120"/>
              </a:rPr>
              <a:t>다시 요청 (수정 요청)</a:t>
            </a:r>
            <a:endParaRPr lang="en-US" sz="1600" dirty="0"/>
          </a:p>
        </p:txBody>
      </p:sp>
      <p:sp>
        <p:nvSpPr>
          <p:cNvPr id="13" name="Text 10"/>
          <p:cNvSpPr/>
          <p:nvPr/>
        </p:nvSpPr>
        <p:spPr>
          <a:xfrm>
            <a:off x="3291840" y="3520440"/>
            <a:ext cx="5577840" cy="457200"/>
          </a:xfrm>
          <a:prstGeom prst="wedgeRoundRectCallout">
            <a:avLst/>
          </a:prstGeom>
          <a:solidFill>
            <a:srgbClr val="FFF1CC"/>
          </a:solidFill>
          <a:ln w="19050">
            <a:solidFill>
              <a:srgbClr val="C9A24A"/>
            </a:solidFill>
          </a:ln>
        </p:spPr>
        <p:txBody>
          <a:bodyPr wrap="square" lIns="50800" tIns="50800" rIns="50800" bIns="508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"환영 문구가 있는 첫 화면을 만들어 줘"</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1 · 도입 · 완성본 데모</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첫 요청: "환영합니다" 페이지</a:t>
            </a:r>
            <a:endParaRPr lang="en-US" sz="3600" dirty="0"/>
          </a:p>
        </p:txBody>
      </p:sp>
      <p:sp>
        <p:nvSpPr>
          <p:cNvPr id="6" name="Text 3"/>
          <p:cNvSpPr/>
          <p:nvPr/>
        </p:nvSpPr>
        <p:spPr>
          <a:xfrm>
            <a:off x="548640" y="1554480"/>
            <a:ext cx="3520440" cy="2011680"/>
          </a:xfrm>
          <a:prstGeom prst="roundRect">
            <a:avLst>
              <a:gd name="adj" fmla="val 5455"/>
            </a:avLst>
          </a:prstGeom>
          <a:solidFill>
            <a:srgbClr val="FFFBF0"/>
          </a:solidFill>
          <a:ln w="15875">
            <a:solidFill>
              <a:srgbClr val="D9CDB0"/>
            </a:solidFill>
          </a:ln>
        </p:spPr>
        <p:txBody>
          <a:bodyPr wrap="square" lIns="76200" tIns="76200" rIns="76200" bIns="76200" rtlCol="0" anchor="ctr"/>
          <a:lstStyle/>
          <a:p>
            <a:pPr marL="0" indent="0" algn="ctr">
              <a:buNone/>
            </a:pPr>
            <a:endParaRPr lang="en-US" sz="1800" dirty="0"/>
          </a:p>
        </p:txBody>
      </p:sp>
      <p:sp>
        <p:nvSpPr>
          <p:cNvPr id="7" name="Text 4"/>
          <p:cNvSpPr/>
          <p:nvPr/>
        </p:nvSpPr>
        <p:spPr>
          <a:xfrm>
            <a:off x="685800" y="1691640"/>
            <a:ext cx="457200" cy="457200"/>
          </a:xfrm>
          <a:prstGeom prst="ellipse">
            <a:avLst/>
          </a:prstGeom>
          <a:solidFill>
            <a:srgbClr val="B0402C"/>
          </a:solidFill>
          <a:ln/>
        </p:spPr>
        <p:txBody>
          <a:bodyPr wrap="square" lIns="0" tIns="0" rIns="0" bIns="0" rtlCol="0" anchor="ctr"/>
          <a:lstStyle/>
          <a:p>
            <a:pPr marL="0" indent="0" algn="ctr">
              <a:buNone/>
            </a:pPr>
            <a:r>
              <a:rPr lang="en-US" sz="1800" b="1" dirty="0">
                <a:solidFill>
                  <a:srgbClr val="FFFFFF"/>
                </a:solidFill>
                <a:latin typeface="Malgun Gothic" pitchFamily="34" charset="0"/>
                <a:ea typeface="Malgun Gothic" pitchFamily="34" charset="-122"/>
                <a:cs typeface="Malgun Gothic" pitchFamily="34" charset="-120"/>
              </a:rPr>
              <a:t>1</a:t>
            </a:r>
            <a:endParaRPr lang="en-US" sz="1800" dirty="0"/>
          </a:p>
        </p:txBody>
      </p:sp>
      <p:sp>
        <p:nvSpPr>
          <p:cNvPr id="8" name="Text 5"/>
          <p:cNvSpPr txBox="1"/>
          <p:nvPr/>
        </p:nvSpPr>
        <p:spPr>
          <a:xfrm>
            <a:off x="1234440" y="1664208"/>
            <a:ext cx="2697480" cy="502920"/>
          </a:xfrm>
          <a:prstGeom prst="rect">
            <a:avLst/>
          </a:prstGeom>
          <a:noFill/>
          <a:ln/>
        </p:spPr>
        <p:txBody>
          <a:bodyPr wrap="square" lIns="0" tIns="0" rIns="0" bIns="0" rtlCol="0" anchor="ctr"/>
          <a:lstStyle/>
          <a:p>
            <a:pPr marL="0" indent="0">
              <a:buNone/>
            </a:pPr>
            <a:r>
              <a:rPr lang="en-US" sz="1800" b="1" dirty="0">
                <a:solidFill>
                  <a:srgbClr val="2A2314"/>
                </a:solidFill>
                <a:latin typeface="Malgun Gothic" pitchFamily="34" charset="0"/>
                <a:ea typeface="Malgun Gothic" pitchFamily="34" charset="-122"/>
                <a:cs typeface="Malgun Gothic" pitchFamily="34" charset="-120"/>
              </a:rPr>
              <a:t>폴더 만들기</a:t>
            </a:r>
            <a:endParaRPr lang="en-US" sz="1800" dirty="0"/>
          </a:p>
        </p:txBody>
      </p:sp>
      <p:sp>
        <p:nvSpPr>
          <p:cNvPr id="9" name="Text 6"/>
          <p:cNvSpPr txBox="1"/>
          <p:nvPr/>
        </p:nvSpPr>
        <p:spPr>
          <a:xfrm>
            <a:off x="731520" y="2331720"/>
            <a:ext cx="3154680" cy="1097280"/>
          </a:xfrm>
          <a:prstGeom prst="rect">
            <a:avLst/>
          </a:prstGeom>
          <a:noFill/>
          <a:ln/>
        </p:spPr>
        <p:txBody>
          <a:bodyPr wrap="square" lIns="0" tIns="0" rIns="0" bIns="0" rtlCol="0" anchor="t"/>
          <a:lstStyle/>
          <a:p>
            <a:pPr marL="0" indent="0">
              <a:buNone/>
            </a:pPr>
            <a:r>
              <a:rPr lang="en-US" sz="1600" dirty="0">
                <a:solidFill>
                  <a:srgbClr val="2A2314"/>
                </a:solidFill>
                <a:latin typeface="Consolas" pitchFamily="34" charset="0"/>
                <a:ea typeface="Consolas" pitchFamily="34" charset="-122"/>
                <a:cs typeface="Consolas" pitchFamily="34" charset="-120"/>
              </a:rPr>
              <a:t>mkdir my-classroom</a:t>
            </a:r>
            <a:endParaRPr lang="en-US" sz="1600" dirty="0"/>
          </a:p>
          <a:p>
            <a:pPr marL="0" indent="0">
              <a:buNone/>
            </a:pPr>
            <a:r>
              <a:rPr lang="en-US" sz="1600" dirty="0">
                <a:solidFill>
                  <a:srgbClr val="2A2314"/>
                </a:solidFill>
                <a:latin typeface="Consolas" pitchFamily="34" charset="0"/>
                <a:ea typeface="Consolas" pitchFamily="34" charset="-122"/>
                <a:cs typeface="Consolas" pitchFamily="34" charset="-120"/>
              </a:rPr>
              <a:t>cd my-classroom</a:t>
            </a:r>
            <a:endParaRPr lang="en-US" sz="1600" dirty="0"/>
          </a:p>
        </p:txBody>
      </p:sp>
      <p:sp>
        <p:nvSpPr>
          <p:cNvPr id="10" name="Text 7"/>
          <p:cNvSpPr/>
          <p:nvPr/>
        </p:nvSpPr>
        <p:spPr>
          <a:xfrm>
            <a:off x="4325112" y="1554480"/>
            <a:ext cx="3520440" cy="2011680"/>
          </a:xfrm>
          <a:prstGeom prst="roundRect">
            <a:avLst>
              <a:gd name="adj" fmla="val 5455"/>
            </a:avLst>
          </a:prstGeom>
          <a:solidFill>
            <a:srgbClr val="FFFBF0"/>
          </a:solidFill>
          <a:ln w="15875">
            <a:solidFill>
              <a:srgbClr val="D9CDB0"/>
            </a:solidFill>
          </a:ln>
        </p:spPr>
        <p:txBody>
          <a:bodyPr wrap="square" lIns="76200" tIns="76200" rIns="76200" bIns="76200" rtlCol="0" anchor="ctr"/>
          <a:lstStyle/>
          <a:p>
            <a:pPr marL="0" indent="0" algn="ctr">
              <a:buNone/>
            </a:pPr>
            <a:endParaRPr lang="en-US" sz="1800" dirty="0"/>
          </a:p>
        </p:txBody>
      </p:sp>
      <p:sp>
        <p:nvSpPr>
          <p:cNvPr id="11" name="Text 8"/>
          <p:cNvSpPr/>
          <p:nvPr/>
        </p:nvSpPr>
        <p:spPr>
          <a:xfrm>
            <a:off x="4462272" y="1691640"/>
            <a:ext cx="457200" cy="457200"/>
          </a:xfrm>
          <a:prstGeom prst="ellipse">
            <a:avLst/>
          </a:prstGeom>
          <a:solidFill>
            <a:srgbClr val="B0402C"/>
          </a:solidFill>
          <a:ln/>
        </p:spPr>
        <p:txBody>
          <a:bodyPr wrap="square" lIns="0" tIns="0" rIns="0" bIns="0" rtlCol="0" anchor="ctr"/>
          <a:lstStyle/>
          <a:p>
            <a:pPr marL="0" indent="0" algn="ctr">
              <a:buNone/>
            </a:pPr>
            <a:r>
              <a:rPr lang="en-US" sz="1800" b="1" dirty="0">
                <a:solidFill>
                  <a:srgbClr val="FFFFFF"/>
                </a:solidFill>
                <a:latin typeface="Malgun Gothic" pitchFamily="34" charset="0"/>
                <a:ea typeface="Malgun Gothic" pitchFamily="34" charset="-122"/>
                <a:cs typeface="Malgun Gothic" pitchFamily="34" charset="-120"/>
              </a:rPr>
              <a:t>2</a:t>
            </a:r>
            <a:endParaRPr lang="en-US" sz="1800" dirty="0"/>
          </a:p>
        </p:txBody>
      </p:sp>
      <p:sp>
        <p:nvSpPr>
          <p:cNvPr id="12" name="Text 9"/>
          <p:cNvSpPr txBox="1"/>
          <p:nvPr/>
        </p:nvSpPr>
        <p:spPr>
          <a:xfrm>
            <a:off x="5010912" y="1664208"/>
            <a:ext cx="2697480" cy="502920"/>
          </a:xfrm>
          <a:prstGeom prst="rect">
            <a:avLst/>
          </a:prstGeom>
          <a:noFill/>
          <a:ln/>
        </p:spPr>
        <p:txBody>
          <a:bodyPr wrap="square" lIns="0" tIns="0" rIns="0" bIns="0" rtlCol="0" anchor="ctr"/>
          <a:lstStyle/>
          <a:p>
            <a:pPr marL="0" indent="0">
              <a:buNone/>
            </a:pPr>
            <a:r>
              <a:rPr lang="en-US" sz="1800" b="1" dirty="0">
                <a:solidFill>
                  <a:srgbClr val="2A2314"/>
                </a:solidFill>
                <a:latin typeface="Malgun Gothic" pitchFamily="34" charset="0"/>
                <a:ea typeface="Malgun Gothic" pitchFamily="34" charset="-122"/>
                <a:cs typeface="Malgun Gothic" pitchFamily="34" charset="-120"/>
              </a:rPr>
              <a:t>Claude Code 실행·붙여넣기</a:t>
            </a:r>
            <a:endParaRPr lang="en-US" sz="1800" dirty="0"/>
          </a:p>
        </p:txBody>
      </p:sp>
      <p:sp>
        <p:nvSpPr>
          <p:cNvPr id="13" name="Text 10"/>
          <p:cNvSpPr txBox="1"/>
          <p:nvPr/>
        </p:nvSpPr>
        <p:spPr>
          <a:xfrm>
            <a:off x="4507992" y="2331720"/>
            <a:ext cx="3154680" cy="1097280"/>
          </a:xfrm>
          <a:prstGeom prst="rect">
            <a:avLst/>
          </a:prstGeom>
          <a:noFill/>
          <a:ln/>
        </p:spPr>
        <p:txBody>
          <a:bodyPr wrap="square" lIns="0" tIns="0" rIns="0" bIns="0" rtlCol="0" anchor="t"/>
          <a:lstStyle/>
          <a:p>
            <a:pPr marL="0" indent="0">
              <a:buNone/>
            </a:pPr>
            <a:r>
              <a:rPr lang="en-US" sz="1600" dirty="0">
                <a:solidFill>
                  <a:srgbClr val="2A2314"/>
                </a:solidFill>
                <a:latin typeface="Consolas" pitchFamily="34" charset="0"/>
                <a:ea typeface="Consolas" pitchFamily="34" charset="-122"/>
                <a:cs typeface="Consolas" pitchFamily="34" charset="-120"/>
              </a:rPr>
              <a:t>claude</a:t>
            </a:r>
            <a:endParaRPr lang="en-US" sz="1600" dirty="0"/>
          </a:p>
          <a:p>
            <a:pPr marL="0" indent="0">
              <a:buNone/>
            </a:pPr>
            <a:r>
              <a:rPr lang="en-US" sz="1600" dirty="0">
                <a:solidFill>
                  <a:srgbClr val="2A2314"/>
                </a:solidFill>
                <a:latin typeface="Consolas" pitchFamily="34" charset="0"/>
                <a:ea typeface="Consolas" pitchFamily="34" charset="-122"/>
                <a:cs typeface="Consolas" pitchFamily="34" charset="-120"/>
              </a:rPr>
              <a:t>아래 요청을 붙여넣기</a:t>
            </a:r>
            <a:endParaRPr lang="en-US" sz="1600" dirty="0"/>
          </a:p>
        </p:txBody>
      </p:sp>
      <p:sp>
        <p:nvSpPr>
          <p:cNvPr id="14" name="Text 11"/>
          <p:cNvSpPr/>
          <p:nvPr/>
        </p:nvSpPr>
        <p:spPr>
          <a:xfrm>
            <a:off x="8101584" y="1554480"/>
            <a:ext cx="3520440" cy="2011680"/>
          </a:xfrm>
          <a:prstGeom prst="roundRect">
            <a:avLst>
              <a:gd name="adj" fmla="val 5455"/>
            </a:avLst>
          </a:prstGeom>
          <a:solidFill>
            <a:srgbClr val="FFFBF0"/>
          </a:solidFill>
          <a:ln w="15875">
            <a:solidFill>
              <a:srgbClr val="D9CDB0"/>
            </a:solidFill>
          </a:ln>
        </p:spPr>
        <p:txBody>
          <a:bodyPr wrap="square" lIns="76200" tIns="76200" rIns="76200" bIns="76200" rtlCol="0" anchor="ctr"/>
          <a:lstStyle/>
          <a:p>
            <a:pPr marL="0" indent="0" algn="ctr">
              <a:buNone/>
            </a:pPr>
            <a:endParaRPr lang="en-US" sz="1800" dirty="0"/>
          </a:p>
        </p:txBody>
      </p:sp>
      <p:sp>
        <p:nvSpPr>
          <p:cNvPr id="15" name="Text 12"/>
          <p:cNvSpPr/>
          <p:nvPr/>
        </p:nvSpPr>
        <p:spPr>
          <a:xfrm>
            <a:off x="8238744" y="1691640"/>
            <a:ext cx="457200" cy="457200"/>
          </a:xfrm>
          <a:prstGeom prst="ellipse">
            <a:avLst/>
          </a:prstGeom>
          <a:solidFill>
            <a:srgbClr val="B0402C"/>
          </a:solidFill>
          <a:ln/>
        </p:spPr>
        <p:txBody>
          <a:bodyPr wrap="square" lIns="0" tIns="0" rIns="0" bIns="0" rtlCol="0" anchor="ctr"/>
          <a:lstStyle/>
          <a:p>
            <a:pPr marL="0" indent="0" algn="ctr">
              <a:buNone/>
            </a:pPr>
            <a:r>
              <a:rPr lang="en-US" sz="1800" b="1" dirty="0">
                <a:solidFill>
                  <a:srgbClr val="FFFFFF"/>
                </a:solidFill>
                <a:latin typeface="Malgun Gothic" pitchFamily="34" charset="0"/>
                <a:ea typeface="Malgun Gothic" pitchFamily="34" charset="-122"/>
                <a:cs typeface="Malgun Gothic" pitchFamily="34" charset="-120"/>
              </a:rPr>
              <a:t>3</a:t>
            </a:r>
            <a:endParaRPr lang="en-US" sz="1800" dirty="0"/>
          </a:p>
        </p:txBody>
      </p:sp>
      <p:sp>
        <p:nvSpPr>
          <p:cNvPr id="16" name="Text 13"/>
          <p:cNvSpPr txBox="1"/>
          <p:nvPr/>
        </p:nvSpPr>
        <p:spPr>
          <a:xfrm>
            <a:off x="8787384" y="1664208"/>
            <a:ext cx="2697480" cy="502920"/>
          </a:xfrm>
          <a:prstGeom prst="rect">
            <a:avLst/>
          </a:prstGeom>
          <a:noFill/>
          <a:ln/>
        </p:spPr>
        <p:txBody>
          <a:bodyPr wrap="square" lIns="0" tIns="0" rIns="0" bIns="0" rtlCol="0" anchor="ctr"/>
          <a:lstStyle/>
          <a:p>
            <a:pPr marL="0" indent="0">
              <a:buNone/>
            </a:pPr>
            <a:r>
              <a:rPr lang="en-US" sz="1800" b="1" dirty="0">
                <a:solidFill>
                  <a:srgbClr val="2A2314"/>
                </a:solidFill>
                <a:latin typeface="Malgun Gothic" pitchFamily="34" charset="0"/>
                <a:ea typeface="Malgun Gothic" pitchFamily="34" charset="-122"/>
                <a:cs typeface="Malgun Gothic" pitchFamily="34" charset="-120"/>
              </a:rPr>
              <a:t>브라우저에서 확인</a:t>
            </a:r>
            <a:endParaRPr lang="en-US" sz="1800" dirty="0"/>
          </a:p>
        </p:txBody>
      </p:sp>
      <p:sp>
        <p:nvSpPr>
          <p:cNvPr id="17" name="Text 14"/>
          <p:cNvSpPr/>
          <p:nvPr/>
        </p:nvSpPr>
        <p:spPr>
          <a:xfrm>
            <a:off x="8284464" y="2331720"/>
            <a:ext cx="3154680" cy="1097280"/>
          </a:xfrm>
          <a:prstGeom prst="rect">
            <a:avLst/>
          </a:prstGeom>
          <a:solidFill>
            <a:srgbClr val="FFF1CC"/>
          </a:solidFill>
          <a:ln w="25400">
            <a:solidFill>
              <a:srgbClr val="B0402C"/>
            </a:solidFill>
            <a:prstDash val="dash"/>
          </a:ln>
        </p:spPr>
        <p:txBody>
          <a:bodyPr wrap="square" lIns="76200" tIns="76200" rIns="76200" bIns="76200" rtlCol="0" anchor="ctr"/>
          <a:lstStyle/>
          <a:p>
            <a:pPr marL="0" indent="0" algn="ctr">
              <a:buNone/>
            </a:pPr>
            <a:r>
              <a:rPr lang="en-US" sz="1400" b="1" dirty="0">
                <a:solidFill>
                  <a:srgbClr val="B0402C"/>
                </a:solidFill>
                <a:latin typeface="Malgun Gothic" pitchFamily="34" charset="0"/>
                <a:ea typeface="Malgun Gothic" pitchFamily="34" charset="-122"/>
                <a:cs typeface="Malgun Gothic" pitchFamily="34" charset="-120"/>
              </a:rPr>
              <a:t>["환영합니다" 화면 캡처 자리]</a:t>
            </a:r>
            <a:endParaRPr lang="en-US" sz="1400" dirty="0"/>
          </a:p>
        </p:txBody>
      </p:sp>
      <p:sp>
        <p:nvSpPr>
          <p:cNvPr id="18" name="Text 15"/>
          <p:cNvSpPr txBox="1"/>
          <p:nvPr/>
        </p:nvSpPr>
        <p:spPr>
          <a:xfrm>
            <a:off x="548640" y="3730752"/>
            <a:ext cx="11064240" cy="274320"/>
          </a:xfrm>
          <a:prstGeom prst="rect">
            <a:avLst/>
          </a:prstGeom>
          <a:noFill/>
          <a:ln/>
        </p:spPr>
        <p:txBody>
          <a:bodyPr wrap="square" lIns="0" tIns="0" rIns="0" bIns="0" rtlCol="0" anchor="ctr"/>
          <a:lstStyle/>
          <a:p>
            <a:pPr marL="0" indent="0">
              <a:buNone/>
            </a:pPr>
            <a:r>
              <a:rPr lang="en-US" sz="1400" dirty="0">
                <a:solidFill>
                  <a:srgbClr val="6B5E45"/>
                </a:solidFill>
                <a:latin typeface="Malgun Gothic" pitchFamily="34" charset="0"/>
                <a:ea typeface="Malgun Gothic" pitchFamily="34" charset="-122"/>
                <a:cs typeface="Malgun Gothic" pitchFamily="34" charset="-120"/>
              </a:rPr>
              <a:t>복사해서 Claude Code에 붙여넣기</a:t>
            </a:r>
            <a:endParaRPr lang="en-US" sz="1400" dirty="0"/>
          </a:p>
        </p:txBody>
      </p:sp>
      <p:sp>
        <p:nvSpPr>
          <p:cNvPr id="19" name="Shape 16"/>
          <p:cNvSpPr/>
          <p:nvPr/>
        </p:nvSpPr>
        <p:spPr>
          <a:xfrm>
            <a:off x="548640" y="4023360"/>
            <a:ext cx="11064240" cy="1600200"/>
          </a:xfrm>
          <a:prstGeom prst="roundRect">
            <a:avLst>
              <a:gd name="adj" fmla="val 5714"/>
            </a:avLst>
          </a:prstGeom>
          <a:solidFill>
            <a:srgbClr val="2A2314"/>
          </a:solidFill>
          <a:ln w="12700">
            <a:solidFill>
              <a:srgbClr val="2A2314"/>
            </a:solidFill>
            <a:prstDash val="solid"/>
          </a:ln>
        </p:spPr>
        <p:txBody>
          <a:bodyPr/>
          <a:lstStyle/>
          <a:p>
            <a:endParaRPr lang="ko-KR" altLang="en-US"/>
          </a:p>
        </p:txBody>
      </p:sp>
      <p:sp>
        <p:nvSpPr>
          <p:cNvPr id="20" name="Text 17"/>
          <p:cNvSpPr txBox="1"/>
          <p:nvPr/>
        </p:nvSpPr>
        <p:spPr>
          <a:xfrm>
            <a:off x="731520" y="4114800"/>
            <a:ext cx="10698480" cy="1417320"/>
          </a:xfrm>
          <a:prstGeom prst="rect">
            <a:avLst/>
          </a:prstGeom>
          <a:noFill/>
          <a:ln/>
        </p:spPr>
        <p:txBody>
          <a:bodyPr wrap="square" lIns="0" tIns="0" rIns="0" bIns="0" rtlCol="0" anchor="t"/>
          <a:lstStyle/>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이 폴더에 index.html 파일을 하나 만들어 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화면 가운데에 "환영합니다. 우리 반 온라인 클래스룸"이라는 큰 제목이 보이게 해 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배경은 크림색(#f8f2e4), 글자는 진한 갈색(#2a2314)으로 하고, 초등학생도 읽기 쉬운 큰 글씨로 해 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파일은 index.html 하나만 만들고, 다른 설치나 설정은 하지 마.</a:t>
            </a:r>
            <a:endParaRPr lang="en-US" sz="1500" dirty="0"/>
          </a:p>
        </p:txBody>
      </p:sp>
      <p:sp>
        <p:nvSpPr>
          <p:cNvPr id="21" name="Text 18"/>
          <p:cNvSpPr txBox="1"/>
          <p:nvPr/>
        </p:nvSpPr>
        <p:spPr>
          <a:xfrm>
            <a:off x="548640" y="5852160"/>
            <a:ext cx="11064240" cy="457200"/>
          </a:xfrm>
          <a:prstGeom prst="rect">
            <a:avLst/>
          </a:prstGeom>
          <a:noFill/>
          <a:ln/>
        </p:spPr>
        <p:txBody>
          <a:bodyPr wrap="square" lIns="0" tIns="0" rIns="0" bIns="0" rtlCol="0" anchor="ctr"/>
          <a:lstStyle/>
          <a:p>
            <a:pPr marL="0" indent="0">
              <a:buNone/>
            </a:pPr>
            <a:r>
              <a:rPr lang="en-US" sz="1600" b="1" dirty="0">
                <a:solidFill>
                  <a:srgbClr val="B0402C"/>
                </a:solidFill>
                <a:latin typeface="Malgun Gothic" pitchFamily="34" charset="0"/>
                <a:ea typeface="Malgun Gothic" pitchFamily="34" charset="-122"/>
                <a:cs typeface="Malgun Gothic" pitchFamily="34" charset="-120"/>
              </a:rPr>
              <a:t>막힐 때  </a:t>
            </a:r>
            <a:r>
              <a:rPr lang="en-US" sz="1600" dirty="0">
                <a:solidFill>
                  <a:srgbClr val="2A2314"/>
                </a:solidFill>
                <a:latin typeface="Malgun Gothic" pitchFamily="34" charset="0"/>
                <a:ea typeface="Malgun Gothic" pitchFamily="34" charset="-122"/>
                <a:cs typeface="Malgun Gothic" pitchFamily="34" charset="-120"/>
              </a:rPr>
              <a:t>허락을 물으면 yes. 화면이 비면 "index.html이 비어 있어. 다시 만들어 줘". 안 되면 checkpoint-0</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1 · 도입 · 완성본 데모</a:t>
            </a:r>
            <a:endParaRPr lang="en-US" sz="1600" dirty="0"/>
          </a:p>
        </p:txBody>
      </p:sp>
      <p:sp>
        <p:nvSpPr>
          <p:cNvPr id="3" name="Text 1"/>
          <p:cNvSpPr/>
          <p:nvPr/>
        </p:nvSpPr>
        <p:spPr>
          <a:xfrm>
            <a:off x="5394960" y="274320"/>
            <a:ext cx="822960" cy="329184"/>
          </a:xfrm>
          <a:prstGeom prst="roundRect">
            <a:avLst>
              <a:gd name="adj" fmla="val 50000"/>
            </a:avLst>
          </a:prstGeom>
          <a:solidFill>
            <a:srgbClr val="6B5E45"/>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정리</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오늘의 작업 리듬</a:t>
            </a:r>
            <a:endParaRPr lang="en-US" sz="3600" dirty="0"/>
          </a:p>
        </p:txBody>
      </p:sp>
      <p:sp>
        <p:nvSpPr>
          <p:cNvPr id="6" name="Text 3"/>
          <p:cNvSpPr txBox="1"/>
          <p:nvPr/>
        </p:nvSpPr>
        <p:spPr>
          <a:xfrm>
            <a:off x="548640" y="1554480"/>
            <a:ext cx="11064240" cy="173736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요청 → 확인 → 막히면 오류 메시지를 그대로 붙여넣기.</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그래도 막히면 checkpoint 폴더에서 이어가기.</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모듈이 끝날 때마다 복구 지점이 있습니다.</a:t>
            </a:r>
            <a:endParaRPr lang="en-US" sz="2400" dirty="0"/>
          </a:p>
        </p:txBody>
      </p:sp>
      <p:sp>
        <p:nvSpPr>
          <p:cNvPr id="7" name="Text 4"/>
          <p:cNvSpPr/>
          <p:nvPr/>
        </p:nvSpPr>
        <p:spPr>
          <a:xfrm>
            <a:off x="548640" y="3657600"/>
            <a:ext cx="1554480" cy="1371600"/>
          </a:xfrm>
          <a:prstGeom prst="roundRect">
            <a:avLst>
              <a:gd name="adj" fmla="val 8000"/>
            </a:avLst>
          </a:prstGeom>
          <a:solidFill>
            <a:srgbClr val="DCE9E5"/>
          </a:solidFill>
          <a:ln w="25400">
            <a:solidFill>
              <a:srgbClr val="356E67"/>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요청</a:t>
            </a:r>
            <a:endParaRPr lang="en-US" sz="1800" dirty="0"/>
          </a:p>
        </p:txBody>
      </p:sp>
      <p:sp>
        <p:nvSpPr>
          <p:cNvPr id="8" name="Shape 5"/>
          <p:cNvSpPr/>
          <p:nvPr/>
        </p:nvSpPr>
        <p:spPr>
          <a:xfrm>
            <a:off x="2148840" y="419709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9" name="Text 6"/>
          <p:cNvSpPr/>
          <p:nvPr/>
        </p:nvSpPr>
        <p:spPr>
          <a:xfrm>
            <a:off x="2468880" y="3657600"/>
            <a:ext cx="1554480" cy="1371600"/>
          </a:xfrm>
          <a:prstGeom prst="roundRect">
            <a:avLst>
              <a:gd name="adj" fmla="val 8000"/>
            </a:avLst>
          </a:prstGeom>
          <a:solidFill>
            <a:srgbClr val="DCE9E5"/>
          </a:solidFill>
          <a:ln w="25400">
            <a:solidFill>
              <a:srgbClr val="356E67"/>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확인</a:t>
            </a:r>
            <a:endParaRPr lang="en-US" sz="1800" dirty="0"/>
          </a:p>
        </p:txBody>
      </p:sp>
      <p:sp>
        <p:nvSpPr>
          <p:cNvPr id="10" name="Shape 7"/>
          <p:cNvSpPr/>
          <p:nvPr/>
        </p:nvSpPr>
        <p:spPr>
          <a:xfrm>
            <a:off x="4069080" y="419709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1" name="Text 8"/>
          <p:cNvSpPr/>
          <p:nvPr/>
        </p:nvSpPr>
        <p:spPr>
          <a:xfrm>
            <a:off x="4389120" y="3657600"/>
            <a:ext cx="1554480" cy="1371600"/>
          </a:xfrm>
          <a:prstGeom prst="roundRect">
            <a:avLst>
              <a:gd name="adj" fmla="val 8000"/>
            </a:avLst>
          </a:prstGeom>
          <a:solidFill>
            <a:srgbClr val="F3DDD6"/>
          </a:solidFill>
          <a:ln w="25400">
            <a:solidFill>
              <a:srgbClr val="B0402C"/>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막힘 →</a:t>
            </a:r>
            <a:endParaRPr lang="en-US" sz="1800" dirty="0"/>
          </a:p>
          <a:p>
            <a:pPr marL="0" indent="0" algn="ctr">
              <a:buNone/>
            </a:pPr>
            <a:r>
              <a:rPr lang="en-US" sz="1800" dirty="0">
                <a:solidFill>
                  <a:srgbClr val="2A2314"/>
                </a:solidFill>
                <a:latin typeface="Malgun Gothic" pitchFamily="34" charset="0"/>
                <a:ea typeface="Malgun Gothic" pitchFamily="34" charset="-122"/>
                <a:cs typeface="Malgun Gothic" pitchFamily="34" charset="-120"/>
              </a:rPr>
              <a:t>오류 메시지</a:t>
            </a:r>
            <a:endParaRPr lang="en-US" sz="1800" dirty="0"/>
          </a:p>
          <a:p>
            <a:pPr marL="0" indent="0" algn="ctr">
              <a:buNone/>
            </a:pPr>
            <a:r>
              <a:rPr lang="en-US" sz="1800" dirty="0">
                <a:solidFill>
                  <a:srgbClr val="2A2314"/>
                </a:solidFill>
                <a:latin typeface="Malgun Gothic" pitchFamily="34" charset="0"/>
                <a:ea typeface="Malgun Gothic" pitchFamily="34" charset="-122"/>
                <a:cs typeface="Malgun Gothic" pitchFamily="34" charset="-120"/>
              </a:rPr>
              <a:t>그대로 붙여넣기</a:t>
            </a:r>
            <a:endParaRPr lang="en-US" sz="1800" dirty="0"/>
          </a:p>
        </p:txBody>
      </p:sp>
      <p:sp>
        <p:nvSpPr>
          <p:cNvPr id="12" name="Shape 9"/>
          <p:cNvSpPr/>
          <p:nvPr/>
        </p:nvSpPr>
        <p:spPr>
          <a:xfrm>
            <a:off x="5989320" y="419709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3" name="Text 10"/>
          <p:cNvSpPr/>
          <p:nvPr/>
        </p:nvSpPr>
        <p:spPr>
          <a:xfrm>
            <a:off x="6309360" y="3657600"/>
            <a:ext cx="1554480" cy="1371600"/>
          </a:xfrm>
          <a:prstGeom prst="roundRect">
            <a:avLst>
              <a:gd name="adj" fmla="val 8000"/>
            </a:avLst>
          </a:prstGeom>
          <a:solidFill>
            <a:srgbClr val="FFF1CC"/>
          </a:solidFill>
          <a:ln w="25400">
            <a:solidFill>
              <a:srgbClr val="C9A24A"/>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그래도 막힘 →</a:t>
            </a:r>
            <a:endParaRPr lang="en-US" sz="1800" dirty="0"/>
          </a:p>
          <a:p>
            <a:pPr marL="0" indent="0" algn="ctr">
              <a:buNone/>
            </a:pPr>
            <a:r>
              <a:rPr lang="en-US" sz="1800" dirty="0">
                <a:solidFill>
                  <a:srgbClr val="2A2314"/>
                </a:solidFill>
                <a:latin typeface="Malgun Gothic" pitchFamily="34" charset="0"/>
                <a:ea typeface="Malgun Gothic" pitchFamily="34" charset="-122"/>
                <a:cs typeface="Malgun Gothic" pitchFamily="34" charset="-120"/>
              </a:rPr>
              <a:t>checkpoint</a:t>
            </a:r>
            <a:endParaRPr lang="en-US" sz="1800" dirty="0"/>
          </a:p>
          <a:p>
            <a:pPr marL="0" indent="0" algn="ctr">
              <a:buNone/>
            </a:pPr>
            <a:r>
              <a:rPr lang="en-US" sz="1800" dirty="0">
                <a:solidFill>
                  <a:srgbClr val="2A2314"/>
                </a:solidFill>
                <a:latin typeface="Malgun Gothic" pitchFamily="34" charset="0"/>
                <a:ea typeface="Malgun Gothic" pitchFamily="34" charset="-122"/>
                <a:cs typeface="Malgun Gothic" pitchFamily="34" charset="-120"/>
              </a:rPr>
              <a:t>폴더 열기</a:t>
            </a:r>
            <a:endParaRPr lang="en-US" sz="1800" dirty="0"/>
          </a:p>
        </p:txBody>
      </p:sp>
      <p:sp>
        <p:nvSpPr>
          <p:cNvPr id="14" name="Text 11"/>
          <p:cNvSpPr txBox="1"/>
          <p:nvPr/>
        </p:nvSpPr>
        <p:spPr>
          <a:xfrm>
            <a:off x="8229600" y="3520440"/>
            <a:ext cx="3017520" cy="365760"/>
          </a:xfrm>
          <a:prstGeom prst="rect">
            <a:avLst/>
          </a:prstGeom>
          <a:noFill/>
          <a:ln/>
        </p:spPr>
        <p:txBody>
          <a:bodyPr wrap="square" lIns="0" tIns="0" rIns="0" bIns="0" rtlCol="0" anchor="ctr"/>
          <a:lstStyle/>
          <a:p>
            <a:pPr marL="0" indent="0">
              <a:buNone/>
            </a:pPr>
            <a:r>
              <a:rPr lang="en-US" sz="1800" b="1" dirty="0">
                <a:solidFill>
                  <a:srgbClr val="2A2314"/>
                </a:solidFill>
                <a:latin typeface="Malgun Gothic" pitchFamily="34" charset="0"/>
                <a:ea typeface="Malgun Gothic" pitchFamily="34" charset="-122"/>
                <a:cs typeface="Malgun Gothic" pitchFamily="34" charset="-120"/>
              </a:rPr>
              <a:t>복구 지점</a:t>
            </a:r>
            <a:endParaRPr lang="en-US" sz="1800" dirty="0"/>
          </a:p>
        </p:txBody>
      </p:sp>
      <p:sp>
        <p:nvSpPr>
          <p:cNvPr id="15" name="Text 12"/>
          <p:cNvSpPr/>
          <p:nvPr/>
        </p:nvSpPr>
        <p:spPr>
          <a:xfrm>
            <a:off x="8229600" y="3977640"/>
            <a:ext cx="1645920" cy="457200"/>
          </a:xfrm>
          <a:prstGeom prst="roundRect">
            <a:avLst>
              <a:gd name="adj" fmla="val 16000"/>
            </a:avLst>
          </a:prstGeom>
          <a:solidFill>
            <a:srgbClr val="FFF1CC"/>
          </a:solidFill>
          <a:ln w="19050">
            <a:solidFill>
              <a:srgbClr val="C9A24A"/>
            </a:solidFill>
          </a:ln>
        </p:spPr>
        <p:txBody>
          <a:bodyPr wrap="square" lIns="25400" tIns="25400" rIns="25400" bIns="25400" rtlCol="0" anchor="ctr"/>
          <a:lstStyle/>
          <a:p>
            <a:pPr marL="0" indent="0" algn="ctr">
              <a:buNone/>
            </a:pPr>
            <a:r>
              <a:rPr lang="en-US" sz="1300" b="1" dirty="0">
                <a:solidFill>
                  <a:srgbClr val="2A2314"/>
                </a:solidFill>
                <a:latin typeface="Consolas" pitchFamily="34" charset="0"/>
                <a:ea typeface="Consolas" pitchFamily="34" charset="-122"/>
                <a:cs typeface="Consolas" pitchFamily="34" charset="-120"/>
              </a:rPr>
              <a:t>checkpoint-0</a:t>
            </a:r>
            <a:endParaRPr lang="en-US" sz="1300" dirty="0"/>
          </a:p>
        </p:txBody>
      </p:sp>
      <p:sp>
        <p:nvSpPr>
          <p:cNvPr id="16" name="Text 13"/>
          <p:cNvSpPr/>
          <p:nvPr/>
        </p:nvSpPr>
        <p:spPr>
          <a:xfrm>
            <a:off x="10012680" y="3977640"/>
            <a:ext cx="1645920" cy="457200"/>
          </a:xfrm>
          <a:prstGeom prst="roundRect">
            <a:avLst>
              <a:gd name="adj" fmla="val 16000"/>
            </a:avLst>
          </a:prstGeom>
          <a:solidFill>
            <a:srgbClr val="FFF1CC"/>
          </a:solidFill>
          <a:ln w="19050">
            <a:solidFill>
              <a:srgbClr val="C9A24A"/>
            </a:solidFill>
          </a:ln>
        </p:spPr>
        <p:txBody>
          <a:bodyPr wrap="square" lIns="25400" tIns="25400" rIns="25400" bIns="25400" rtlCol="0" anchor="ctr"/>
          <a:lstStyle/>
          <a:p>
            <a:pPr marL="0" indent="0" algn="ctr">
              <a:buNone/>
            </a:pPr>
            <a:r>
              <a:rPr lang="en-US" sz="1300" b="1" dirty="0">
                <a:solidFill>
                  <a:srgbClr val="2A2314"/>
                </a:solidFill>
                <a:latin typeface="Consolas" pitchFamily="34" charset="0"/>
                <a:ea typeface="Consolas" pitchFamily="34" charset="-122"/>
                <a:cs typeface="Consolas" pitchFamily="34" charset="-120"/>
              </a:rPr>
              <a:t>checkpoint-m2</a:t>
            </a:r>
            <a:endParaRPr lang="en-US" sz="1300" dirty="0"/>
          </a:p>
        </p:txBody>
      </p:sp>
      <p:sp>
        <p:nvSpPr>
          <p:cNvPr id="17" name="Text 14"/>
          <p:cNvSpPr/>
          <p:nvPr/>
        </p:nvSpPr>
        <p:spPr>
          <a:xfrm>
            <a:off x="8229600" y="4526280"/>
            <a:ext cx="1645920" cy="457200"/>
          </a:xfrm>
          <a:prstGeom prst="roundRect">
            <a:avLst>
              <a:gd name="adj" fmla="val 16000"/>
            </a:avLst>
          </a:prstGeom>
          <a:solidFill>
            <a:srgbClr val="FFF1CC"/>
          </a:solidFill>
          <a:ln w="19050">
            <a:solidFill>
              <a:srgbClr val="C9A24A"/>
            </a:solidFill>
          </a:ln>
        </p:spPr>
        <p:txBody>
          <a:bodyPr wrap="square" lIns="25400" tIns="25400" rIns="25400" bIns="25400" rtlCol="0" anchor="ctr"/>
          <a:lstStyle/>
          <a:p>
            <a:pPr marL="0" indent="0" algn="ctr">
              <a:buNone/>
            </a:pPr>
            <a:r>
              <a:rPr lang="en-US" sz="1300" b="1" dirty="0">
                <a:solidFill>
                  <a:srgbClr val="2A2314"/>
                </a:solidFill>
                <a:latin typeface="Consolas" pitchFamily="34" charset="0"/>
                <a:ea typeface="Consolas" pitchFamily="34" charset="-122"/>
                <a:cs typeface="Consolas" pitchFamily="34" charset="-120"/>
              </a:rPr>
              <a:t>checkpoint-m3</a:t>
            </a:r>
            <a:endParaRPr lang="en-US" sz="1300" dirty="0"/>
          </a:p>
        </p:txBody>
      </p:sp>
      <p:sp>
        <p:nvSpPr>
          <p:cNvPr id="18" name="Text 15"/>
          <p:cNvSpPr/>
          <p:nvPr/>
        </p:nvSpPr>
        <p:spPr>
          <a:xfrm>
            <a:off x="10012680" y="4526280"/>
            <a:ext cx="1645920" cy="457200"/>
          </a:xfrm>
          <a:prstGeom prst="roundRect">
            <a:avLst>
              <a:gd name="adj" fmla="val 16000"/>
            </a:avLst>
          </a:prstGeom>
          <a:solidFill>
            <a:srgbClr val="FFF1CC"/>
          </a:solidFill>
          <a:ln w="19050">
            <a:solidFill>
              <a:srgbClr val="C9A24A"/>
            </a:solidFill>
          </a:ln>
        </p:spPr>
        <p:txBody>
          <a:bodyPr wrap="square" lIns="25400" tIns="25400" rIns="25400" bIns="25400" rtlCol="0" anchor="ctr"/>
          <a:lstStyle/>
          <a:p>
            <a:pPr marL="0" indent="0" algn="ctr">
              <a:buNone/>
            </a:pPr>
            <a:r>
              <a:rPr lang="en-US" sz="1300" b="1" dirty="0">
                <a:solidFill>
                  <a:srgbClr val="2A2314"/>
                </a:solidFill>
                <a:latin typeface="Consolas" pitchFamily="34" charset="0"/>
                <a:ea typeface="Consolas" pitchFamily="34" charset="-122"/>
                <a:cs typeface="Consolas" pitchFamily="34" charset="-120"/>
              </a:rPr>
              <a:t>checkpoint-m4</a:t>
            </a:r>
            <a:endParaRPr lang="en-US" sz="1300" dirty="0"/>
          </a:p>
        </p:txBody>
      </p:sp>
      <p:sp>
        <p:nvSpPr>
          <p:cNvPr id="19" name="Text 16"/>
          <p:cNvSpPr/>
          <p:nvPr/>
        </p:nvSpPr>
        <p:spPr>
          <a:xfrm>
            <a:off x="8229600" y="5074920"/>
            <a:ext cx="1645920" cy="457200"/>
          </a:xfrm>
          <a:prstGeom prst="roundRect">
            <a:avLst>
              <a:gd name="adj" fmla="val 16000"/>
            </a:avLst>
          </a:prstGeom>
          <a:solidFill>
            <a:srgbClr val="FFF1CC"/>
          </a:solidFill>
          <a:ln w="19050">
            <a:solidFill>
              <a:srgbClr val="C9A24A"/>
            </a:solidFill>
          </a:ln>
        </p:spPr>
        <p:txBody>
          <a:bodyPr wrap="square" lIns="25400" tIns="25400" rIns="25400" bIns="25400" rtlCol="0" anchor="ctr"/>
          <a:lstStyle/>
          <a:p>
            <a:pPr marL="0" indent="0" algn="ctr">
              <a:buNone/>
            </a:pPr>
            <a:r>
              <a:rPr lang="en-US" sz="1300" b="1" dirty="0">
                <a:solidFill>
                  <a:srgbClr val="2A2314"/>
                </a:solidFill>
                <a:latin typeface="Consolas" pitchFamily="34" charset="0"/>
                <a:ea typeface="Consolas" pitchFamily="34" charset="-122"/>
                <a:cs typeface="Consolas" pitchFamily="34" charset="-120"/>
              </a:rPr>
              <a:t>checkpoint-m5</a:t>
            </a:r>
            <a:endParaRPr lang="en-US" sz="1300" dirty="0"/>
          </a:p>
        </p:txBody>
      </p:sp>
      <p:sp>
        <p:nvSpPr>
          <p:cNvPr id="20" name="Text 17"/>
          <p:cNvSpPr/>
          <p:nvPr/>
        </p:nvSpPr>
        <p:spPr>
          <a:xfrm>
            <a:off x="10012680" y="5074920"/>
            <a:ext cx="1645920" cy="457200"/>
          </a:xfrm>
          <a:prstGeom prst="roundRect">
            <a:avLst>
              <a:gd name="adj" fmla="val 16000"/>
            </a:avLst>
          </a:prstGeom>
          <a:solidFill>
            <a:srgbClr val="FFF1CC"/>
          </a:solidFill>
          <a:ln w="19050">
            <a:solidFill>
              <a:srgbClr val="C9A24A"/>
            </a:solidFill>
          </a:ln>
        </p:spPr>
        <p:txBody>
          <a:bodyPr wrap="square" lIns="25400" tIns="25400" rIns="25400" bIns="25400" rtlCol="0" anchor="ctr"/>
          <a:lstStyle/>
          <a:p>
            <a:pPr marL="0" indent="0" algn="ctr">
              <a:buNone/>
            </a:pPr>
            <a:r>
              <a:rPr lang="en-US" sz="1300" b="1" dirty="0">
                <a:solidFill>
                  <a:srgbClr val="2A2314"/>
                </a:solidFill>
                <a:latin typeface="Consolas" pitchFamily="34" charset="0"/>
                <a:ea typeface="Consolas" pitchFamily="34" charset="-122"/>
                <a:cs typeface="Consolas" pitchFamily="34" charset="-120"/>
              </a:rPr>
              <a:t>checkpoint-m6</a:t>
            </a:r>
            <a:endParaRPr lang="en-US" sz="1300" dirty="0"/>
          </a:p>
        </p:txBody>
      </p:sp>
      <p:sp>
        <p:nvSpPr>
          <p:cNvPr id="21" name="Text 18"/>
          <p:cNvSpPr/>
          <p:nvPr/>
        </p:nvSpPr>
        <p:spPr>
          <a:xfrm>
            <a:off x="8229600" y="5623560"/>
            <a:ext cx="1645920" cy="457200"/>
          </a:xfrm>
          <a:prstGeom prst="roundRect">
            <a:avLst>
              <a:gd name="adj" fmla="val 16000"/>
            </a:avLst>
          </a:prstGeom>
          <a:solidFill>
            <a:srgbClr val="FFF1CC"/>
          </a:solidFill>
          <a:ln w="19050">
            <a:solidFill>
              <a:srgbClr val="C9A24A"/>
            </a:solidFill>
          </a:ln>
        </p:spPr>
        <p:txBody>
          <a:bodyPr wrap="square" lIns="25400" tIns="25400" rIns="25400" bIns="25400" rtlCol="0" anchor="ctr"/>
          <a:lstStyle/>
          <a:p>
            <a:pPr marL="0" indent="0" algn="ctr">
              <a:buNone/>
            </a:pPr>
            <a:r>
              <a:rPr lang="en-US" sz="1300" b="1" dirty="0">
                <a:solidFill>
                  <a:srgbClr val="2A2314"/>
                </a:solidFill>
                <a:latin typeface="Consolas" pitchFamily="34" charset="0"/>
                <a:ea typeface="Consolas" pitchFamily="34" charset="-122"/>
                <a:cs typeface="Consolas" pitchFamily="34" charset="-120"/>
              </a:rPr>
              <a:t>checkpoint-final</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2 · Firebase 설정 + 구글 로그인</a:t>
            </a:r>
            <a:endParaRPr lang="en-US" sz="1600" dirty="0"/>
          </a:p>
        </p:txBody>
      </p:sp>
      <p:sp>
        <p:nvSpPr>
          <p:cNvPr id="3" name="Text 1"/>
          <p:cNvSpPr/>
          <p:nvPr/>
        </p:nvSpPr>
        <p:spPr>
          <a:xfrm>
            <a:off x="5394960" y="274320"/>
            <a:ext cx="822960" cy="329184"/>
          </a:xfrm>
          <a:prstGeom prst="roundRect">
            <a:avLst>
              <a:gd name="adj" fmla="val 50000"/>
            </a:avLst>
          </a:prstGeom>
          <a:solidFill>
            <a:srgbClr val="356E67"/>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개념</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Firebase 한 장 정리</a:t>
            </a:r>
            <a:endParaRPr lang="en-US" sz="3600" dirty="0"/>
          </a:p>
        </p:txBody>
      </p:sp>
      <p:sp>
        <p:nvSpPr>
          <p:cNvPr id="6" name="Text 3"/>
          <p:cNvSpPr txBox="1"/>
          <p:nvPr/>
        </p:nvSpPr>
        <p:spPr>
          <a:xfrm>
            <a:off x="548640" y="1554480"/>
            <a:ext cx="11064240" cy="54864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Firebase = 구글이 빌려주는 "학교 운영 도구 세트"</a:t>
            </a:r>
            <a:endParaRPr lang="en-US" sz="2400" dirty="0"/>
          </a:p>
        </p:txBody>
      </p:sp>
      <p:sp>
        <p:nvSpPr>
          <p:cNvPr id="7" name="Text 4"/>
          <p:cNvSpPr/>
          <p:nvPr/>
        </p:nvSpPr>
        <p:spPr>
          <a:xfrm>
            <a:off x="548640" y="2331720"/>
            <a:ext cx="3566160" cy="2743200"/>
          </a:xfrm>
          <a:prstGeom prst="roundRect">
            <a:avLst>
              <a:gd name="adj" fmla="val 4000"/>
            </a:avLst>
          </a:prstGeom>
          <a:solidFill>
            <a:srgbClr val="FFFBF0"/>
          </a:solidFill>
          <a:ln w="15875">
            <a:solidFill>
              <a:srgbClr val="D9CDB0"/>
            </a:solidFill>
          </a:ln>
        </p:spPr>
        <p:txBody>
          <a:bodyPr wrap="square" lIns="76200" tIns="76200" rIns="76200" bIns="76200" rtlCol="0" anchor="ctr"/>
          <a:lstStyle/>
          <a:p>
            <a:pPr marL="0" indent="0" algn="ctr">
              <a:buNone/>
            </a:pPr>
            <a:endParaRPr lang="en-US" sz="1800" dirty="0"/>
          </a:p>
        </p:txBody>
      </p:sp>
      <p:sp>
        <p:nvSpPr>
          <p:cNvPr id="8" name="Text 5"/>
          <p:cNvSpPr/>
          <p:nvPr/>
        </p:nvSpPr>
        <p:spPr>
          <a:xfrm>
            <a:off x="822960" y="2560320"/>
            <a:ext cx="822960" cy="822960"/>
          </a:xfrm>
          <a:prstGeom prst="ellipse">
            <a:avLst/>
          </a:prstGeom>
          <a:solidFill>
            <a:srgbClr val="356E67"/>
          </a:solidFill>
          <a:ln/>
        </p:spPr>
        <p:txBody>
          <a:bodyPr wrap="square" lIns="0" tIns="0" rIns="0" bIns="0"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A</a:t>
            </a:r>
            <a:endParaRPr lang="en-US" sz="3200" dirty="0"/>
          </a:p>
        </p:txBody>
      </p:sp>
      <p:sp>
        <p:nvSpPr>
          <p:cNvPr id="9" name="Text 6"/>
          <p:cNvSpPr txBox="1"/>
          <p:nvPr/>
        </p:nvSpPr>
        <p:spPr>
          <a:xfrm>
            <a:off x="1783080" y="2606040"/>
            <a:ext cx="2194560" cy="731520"/>
          </a:xfrm>
          <a:prstGeom prst="rect">
            <a:avLst/>
          </a:prstGeom>
          <a:noFill/>
          <a:ln/>
        </p:spPr>
        <p:txBody>
          <a:bodyPr wrap="square" lIns="0" tIns="0" rIns="0" bIns="0" rtlCol="0" anchor="ctr"/>
          <a:lstStyle/>
          <a:p>
            <a:pPr marL="0" indent="0">
              <a:buNone/>
            </a:pPr>
            <a:r>
              <a:rPr lang="en-US" sz="2400" b="1" dirty="0">
                <a:solidFill>
                  <a:srgbClr val="2A2314"/>
                </a:solidFill>
                <a:latin typeface="Malgun Gothic" pitchFamily="34" charset="0"/>
                <a:ea typeface="Malgun Gothic" pitchFamily="34" charset="-122"/>
                <a:cs typeface="Malgun Gothic" pitchFamily="34" charset="-120"/>
              </a:rPr>
              <a:t>Authentication</a:t>
            </a:r>
            <a:endParaRPr lang="en-US" sz="2400" dirty="0"/>
          </a:p>
        </p:txBody>
      </p:sp>
      <p:sp>
        <p:nvSpPr>
          <p:cNvPr id="10" name="Text 7"/>
          <p:cNvSpPr txBox="1"/>
          <p:nvPr/>
        </p:nvSpPr>
        <p:spPr>
          <a:xfrm>
            <a:off x="822960" y="3611880"/>
            <a:ext cx="3017520" cy="548640"/>
          </a:xfrm>
          <a:prstGeom prst="rect">
            <a:avLst/>
          </a:prstGeom>
          <a:noFill/>
          <a:ln/>
        </p:spPr>
        <p:txBody>
          <a:bodyPr wrap="square" lIns="0" tIns="0" rIns="0" bIns="0" rtlCol="0" anchor="ctr"/>
          <a:lstStyle/>
          <a:p>
            <a:pPr marL="0" indent="0">
              <a:buNone/>
            </a:pPr>
            <a:r>
              <a:rPr lang="en-US" sz="2800" b="1" dirty="0">
                <a:solidFill>
                  <a:srgbClr val="356E67"/>
                </a:solidFill>
                <a:latin typeface="Malgun Gothic" pitchFamily="34" charset="0"/>
                <a:ea typeface="Malgun Gothic" pitchFamily="34" charset="-122"/>
                <a:cs typeface="Malgun Gothic" pitchFamily="34" charset="-120"/>
              </a:rPr>
              <a:t>출석부 확인</a:t>
            </a:r>
            <a:endParaRPr lang="en-US" sz="2800" dirty="0"/>
          </a:p>
        </p:txBody>
      </p:sp>
      <p:sp>
        <p:nvSpPr>
          <p:cNvPr id="11" name="Text 8"/>
          <p:cNvSpPr txBox="1"/>
          <p:nvPr/>
        </p:nvSpPr>
        <p:spPr>
          <a:xfrm>
            <a:off x="822960" y="4206240"/>
            <a:ext cx="3017520" cy="457200"/>
          </a:xfrm>
          <a:prstGeom prst="rect">
            <a:avLst/>
          </a:prstGeom>
          <a:noFill/>
          <a:ln/>
        </p:spPr>
        <p:txBody>
          <a:bodyPr wrap="square" lIns="0" tIns="0" rIns="0" bIns="0" rtlCol="0" anchor="ctr"/>
          <a:lstStyle/>
          <a:p>
            <a:pPr marL="0" indent="0">
              <a:buNone/>
            </a:pPr>
            <a:r>
              <a:rPr lang="en-US" sz="2000" dirty="0">
                <a:solidFill>
                  <a:srgbClr val="2A2314"/>
                </a:solidFill>
                <a:latin typeface="Malgun Gothic" pitchFamily="34" charset="0"/>
                <a:ea typeface="Malgun Gothic" pitchFamily="34" charset="-122"/>
                <a:cs typeface="Malgun Gothic" pitchFamily="34" charset="-120"/>
              </a:rPr>
              <a:t>누구인지 확인</a:t>
            </a:r>
            <a:endParaRPr lang="en-US" sz="2000" dirty="0"/>
          </a:p>
        </p:txBody>
      </p:sp>
      <p:sp>
        <p:nvSpPr>
          <p:cNvPr id="12" name="Text 9"/>
          <p:cNvSpPr/>
          <p:nvPr/>
        </p:nvSpPr>
        <p:spPr>
          <a:xfrm>
            <a:off x="4297680" y="2331720"/>
            <a:ext cx="3566160" cy="2743200"/>
          </a:xfrm>
          <a:prstGeom prst="roundRect">
            <a:avLst>
              <a:gd name="adj" fmla="val 4000"/>
            </a:avLst>
          </a:prstGeom>
          <a:solidFill>
            <a:srgbClr val="FFFBF0"/>
          </a:solidFill>
          <a:ln w="15875">
            <a:solidFill>
              <a:srgbClr val="D9CDB0"/>
            </a:solidFill>
          </a:ln>
        </p:spPr>
        <p:txBody>
          <a:bodyPr wrap="square" lIns="76200" tIns="76200" rIns="76200" bIns="76200" rtlCol="0" anchor="ctr"/>
          <a:lstStyle/>
          <a:p>
            <a:pPr marL="0" indent="0" algn="ctr">
              <a:buNone/>
            </a:pPr>
            <a:endParaRPr lang="en-US" sz="1800" dirty="0"/>
          </a:p>
        </p:txBody>
      </p:sp>
      <p:sp>
        <p:nvSpPr>
          <p:cNvPr id="13" name="Text 10"/>
          <p:cNvSpPr/>
          <p:nvPr/>
        </p:nvSpPr>
        <p:spPr>
          <a:xfrm>
            <a:off x="4572000" y="2560320"/>
            <a:ext cx="822960" cy="822960"/>
          </a:xfrm>
          <a:prstGeom prst="ellipse">
            <a:avLst/>
          </a:prstGeom>
          <a:solidFill>
            <a:srgbClr val="356E67"/>
          </a:solidFill>
          <a:ln/>
        </p:spPr>
        <p:txBody>
          <a:bodyPr wrap="square" lIns="0" tIns="0" rIns="0" bIns="0"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F</a:t>
            </a:r>
            <a:endParaRPr lang="en-US" sz="3200" dirty="0"/>
          </a:p>
        </p:txBody>
      </p:sp>
      <p:sp>
        <p:nvSpPr>
          <p:cNvPr id="14" name="Text 11"/>
          <p:cNvSpPr txBox="1"/>
          <p:nvPr/>
        </p:nvSpPr>
        <p:spPr>
          <a:xfrm>
            <a:off x="5532120" y="2606040"/>
            <a:ext cx="2194560" cy="731520"/>
          </a:xfrm>
          <a:prstGeom prst="rect">
            <a:avLst/>
          </a:prstGeom>
          <a:noFill/>
          <a:ln/>
        </p:spPr>
        <p:txBody>
          <a:bodyPr wrap="square" lIns="0" tIns="0" rIns="0" bIns="0" rtlCol="0" anchor="ctr"/>
          <a:lstStyle/>
          <a:p>
            <a:pPr marL="0" indent="0">
              <a:buNone/>
            </a:pPr>
            <a:r>
              <a:rPr lang="en-US" sz="2400" b="1" dirty="0">
                <a:solidFill>
                  <a:srgbClr val="2A2314"/>
                </a:solidFill>
                <a:latin typeface="Malgun Gothic" pitchFamily="34" charset="0"/>
                <a:ea typeface="Malgun Gothic" pitchFamily="34" charset="-122"/>
                <a:cs typeface="Malgun Gothic" pitchFamily="34" charset="-120"/>
              </a:rPr>
              <a:t>Firestore</a:t>
            </a:r>
            <a:endParaRPr lang="en-US" sz="2400" dirty="0"/>
          </a:p>
        </p:txBody>
      </p:sp>
      <p:sp>
        <p:nvSpPr>
          <p:cNvPr id="15" name="Text 12"/>
          <p:cNvSpPr txBox="1"/>
          <p:nvPr/>
        </p:nvSpPr>
        <p:spPr>
          <a:xfrm>
            <a:off x="4572000" y="3611880"/>
            <a:ext cx="3017520" cy="548640"/>
          </a:xfrm>
          <a:prstGeom prst="rect">
            <a:avLst/>
          </a:prstGeom>
          <a:noFill/>
          <a:ln/>
        </p:spPr>
        <p:txBody>
          <a:bodyPr wrap="square" lIns="0" tIns="0" rIns="0" bIns="0" rtlCol="0" anchor="ctr"/>
          <a:lstStyle/>
          <a:p>
            <a:pPr marL="0" indent="0">
              <a:buNone/>
            </a:pPr>
            <a:r>
              <a:rPr lang="en-US" sz="2800" b="1" dirty="0">
                <a:solidFill>
                  <a:srgbClr val="356E67"/>
                </a:solidFill>
                <a:latin typeface="Malgun Gothic" pitchFamily="34" charset="0"/>
                <a:ea typeface="Malgun Gothic" pitchFamily="34" charset="-122"/>
                <a:cs typeface="Malgun Gothic" pitchFamily="34" charset="-120"/>
              </a:rPr>
              <a:t>학급 서류함</a:t>
            </a:r>
            <a:endParaRPr lang="en-US" sz="2800" dirty="0"/>
          </a:p>
        </p:txBody>
      </p:sp>
      <p:sp>
        <p:nvSpPr>
          <p:cNvPr id="16" name="Text 13"/>
          <p:cNvSpPr txBox="1"/>
          <p:nvPr/>
        </p:nvSpPr>
        <p:spPr>
          <a:xfrm>
            <a:off x="4572000" y="4206240"/>
            <a:ext cx="3017520" cy="457200"/>
          </a:xfrm>
          <a:prstGeom prst="rect">
            <a:avLst/>
          </a:prstGeom>
          <a:noFill/>
          <a:ln/>
        </p:spPr>
        <p:txBody>
          <a:bodyPr wrap="square" lIns="0" tIns="0" rIns="0" bIns="0" rtlCol="0" anchor="ctr"/>
          <a:lstStyle/>
          <a:p>
            <a:pPr marL="0" indent="0">
              <a:buNone/>
            </a:pPr>
            <a:r>
              <a:rPr lang="en-US" sz="2000" dirty="0">
                <a:solidFill>
                  <a:srgbClr val="2A2314"/>
                </a:solidFill>
                <a:latin typeface="Malgun Gothic" pitchFamily="34" charset="0"/>
                <a:ea typeface="Malgun Gothic" pitchFamily="34" charset="-122"/>
                <a:cs typeface="Malgun Gothic" pitchFamily="34" charset="-120"/>
              </a:rPr>
              <a:t>데이터 보관</a:t>
            </a:r>
            <a:endParaRPr lang="en-US" sz="2000" dirty="0"/>
          </a:p>
        </p:txBody>
      </p:sp>
      <p:sp>
        <p:nvSpPr>
          <p:cNvPr id="17" name="Text 14"/>
          <p:cNvSpPr/>
          <p:nvPr/>
        </p:nvSpPr>
        <p:spPr>
          <a:xfrm>
            <a:off x="8046720" y="2331720"/>
            <a:ext cx="3566160" cy="2743200"/>
          </a:xfrm>
          <a:prstGeom prst="roundRect">
            <a:avLst>
              <a:gd name="adj" fmla="val 4000"/>
            </a:avLst>
          </a:prstGeom>
          <a:solidFill>
            <a:srgbClr val="FFFBF0"/>
          </a:solidFill>
          <a:ln w="15875">
            <a:solidFill>
              <a:srgbClr val="D9CDB0"/>
            </a:solidFill>
          </a:ln>
        </p:spPr>
        <p:txBody>
          <a:bodyPr wrap="square" lIns="76200" tIns="76200" rIns="76200" bIns="76200" rtlCol="0" anchor="ctr"/>
          <a:lstStyle/>
          <a:p>
            <a:pPr marL="0" indent="0" algn="ctr">
              <a:buNone/>
            </a:pPr>
            <a:endParaRPr lang="en-US" sz="1800" dirty="0"/>
          </a:p>
        </p:txBody>
      </p:sp>
      <p:sp>
        <p:nvSpPr>
          <p:cNvPr id="18" name="Text 15"/>
          <p:cNvSpPr/>
          <p:nvPr/>
        </p:nvSpPr>
        <p:spPr>
          <a:xfrm>
            <a:off x="8321040" y="2560320"/>
            <a:ext cx="822960" cy="822960"/>
          </a:xfrm>
          <a:prstGeom prst="ellipse">
            <a:avLst/>
          </a:prstGeom>
          <a:solidFill>
            <a:srgbClr val="6B5E45"/>
          </a:solidFill>
          <a:ln/>
        </p:spPr>
        <p:txBody>
          <a:bodyPr wrap="square" lIns="0" tIns="0" rIns="0" bIns="0"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H</a:t>
            </a:r>
            <a:endParaRPr lang="en-US" sz="3200" dirty="0"/>
          </a:p>
        </p:txBody>
      </p:sp>
      <p:sp>
        <p:nvSpPr>
          <p:cNvPr id="19" name="Text 16"/>
          <p:cNvSpPr txBox="1"/>
          <p:nvPr/>
        </p:nvSpPr>
        <p:spPr>
          <a:xfrm>
            <a:off x="9281160" y="2606040"/>
            <a:ext cx="2194560" cy="731520"/>
          </a:xfrm>
          <a:prstGeom prst="rect">
            <a:avLst/>
          </a:prstGeom>
          <a:noFill/>
          <a:ln/>
        </p:spPr>
        <p:txBody>
          <a:bodyPr wrap="square" lIns="0" tIns="0" rIns="0" bIns="0" rtlCol="0" anchor="ctr"/>
          <a:lstStyle/>
          <a:p>
            <a:pPr marL="0" indent="0">
              <a:buNone/>
            </a:pPr>
            <a:r>
              <a:rPr lang="en-US" sz="2400" b="1" dirty="0">
                <a:solidFill>
                  <a:srgbClr val="2A2314"/>
                </a:solidFill>
                <a:latin typeface="Malgun Gothic" pitchFamily="34" charset="0"/>
                <a:ea typeface="Malgun Gothic" pitchFamily="34" charset="-122"/>
                <a:cs typeface="Malgun Gothic" pitchFamily="34" charset="-120"/>
              </a:rPr>
              <a:t>Hosting</a:t>
            </a:r>
            <a:endParaRPr lang="en-US" sz="2400" dirty="0"/>
          </a:p>
        </p:txBody>
      </p:sp>
      <p:sp>
        <p:nvSpPr>
          <p:cNvPr id="20" name="Text 17"/>
          <p:cNvSpPr txBox="1"/>
          <p:nvPr/>
        </p:nvSpPr>
        <p:spPr>
          <a:xfrm>
            <a:off x="8321040" y="3611880"/>
            <a:ext cx="3017520" cy="548640"/>
          </a:xfrm>
          <a:prstGeom prst="rect">
            <a:avLst/>
          </a:prstGeom>
          <a:noFill/>
          <a:ln/>
        </p:spPr>
        <p:txBody>
          <a:bodyPr wrap="square" lIns="0" tIns="0" rIns="0" bIns="0" rtlCol="0" anchor="ctr"/>
          <a:lstStyle/>
          <a:p>
            <a:pPr marL="0" indent="0">
              <a:buNone/>
            </a:pPr>
            <a:r>
              <a:rPr lang="en-US" sz="2800" b="1" dirty="0">
                <a:solidFill>
                  <a:srgbClr val="6B5E45"/>
                </a:solidFill>
                <a:latin typeface="Malgun Gothic" pitchFamily="34" charset="0"/>
                <a:ea typeface="Malgun Gothic" pitchFamily="34" charset="-122"/>
                <a:cs typeface="Malgun Gothic" pitchFamily="34" charset="-120"/>
              </a:rPr>
              <a:t>학교 게시판</a:t>
            </a:r>
            <a:endParaRPr lang="en-US" sz="2800" dirty="0"/>
          </a:p>
        </p:txBody>
      </p:sp>
      <p:sp>
        <p:nvSpPr>
          <p:cNvPr id="21" name="Text 18"/>
          <p:cNvSpPr txBox="1"/>
          <p:nvPr/>
        </p:nvSpPr>
        <p:spPr>
          <a:xfrm>
            <a:off x="8321040" y="4206240"/>
            <a:ext cx="3017520" cy="457200"/>
          </a:xfrm>
          <a:prstGeom prst="rect">
            <a:avLst/>
          </a:prstGeom>
          <a:noFill/>
          <a:ln/>
        </p:spPr>
        <p:txBody>
          <a:bodyPr wrap="square" lIns="0" tIns="0" rIns="0" bIns="0" rtlCol="0" anchor="ctr"/>
          <a:lstStyle/>
          <a:p>
            <a:pPr marL="0" indent="0">
              <a:buNone/>
            </a:pPr>
            <a:r>
              <a:rPr lang="en-US" sz="2000" dirty="0">
                <a:solidFill>
                  <a:srgbClr val="2A2314"/>
                </a:solidFill>
                <a:latin typeface="Malgun Gothic" pitchFamily="34" charset="0"/>
                <a:ea typeface="Malgun Gothic" pitchFamily="34" charset="-122"/>
                <a:cs typeface="Malgun Gothic" pitchFamily="34" charset="-120"/>
              </a:rPr>
              <a:t>웹 주소로 공개</a:t>
            </a:r>
            <a:endParaRPr lang="en-US" sz="2000" dirty="0"/>
          </a:p>
        </p:txBody>
      </p:sp>
      <p:sp>
        <p:nvSpPr>
          <p:cNvPr id="22" name="Text 19"/>
          <p:cNvSpPr txBox="1"/>
          <p:nvPr/>
        </p:nvSpPr>
        <p:spPr>
          <a:xfrm>
            <a:off x="548640" y="5440680"/>
            <a:ext cx="11064240" cy="457200"/>
          </a:xfrm>
          <a:prstGeom prst="rect">
            <a:avLst/>
          </a:prstGeom>
          <a:noFill/>
          <a:ln/>
        </p:spPr>
        <p:txBody>
          <a:bodyPr wrap="square" lIns="0" tIns="0" rIns="0" bIns="0" rtlCol="0" anchor="ctr"/>
          <a:lstStyle/>
          <a:p>
            <a:pPr marL="0" indent="0">
              <a:buNone/>
            </a:pPr>
            <a:r>
              <a:rPr lang="en-US" sz="2000" b="1" dirty="0">
                <a:solidFill>
                  <a:srgbClr val="B0402C"/>
                </a:solidFill>
                <a:latin typeface="Malgun Gothic" pitchFamily="34" charset="0"/>
                <a:ea typeface="Malgun Gothic" pitchFamily="34" charset="-122"/>
                <a:cs typeface="Malgun Gothic" pitchFamily="34" charset="-120"/>
              </a:rPr>
              <a:t>오늘 모듈 2는 앞의 두 개(Authentication, Firestore)를 씁니다. Hosting은 모듈 7</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2 · Firebase 설정 + 구글 로그인</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프로젝트 만들기</a:t>
            </a:r>
            <a:endParaRPr lang="en-US" sz="3600" dirty="0"/>
          </a:p>
        </p:txBody>
      </p:sp>
      <p:sp>
        <p:nvSpPr>
          <p:cNvPr id="6" name="Text 3"/>
          <p:cNvSpPr txBox="1"/>
          <p:nvPr/>
        </p:nvSpPr>
        <p:spPr>
          <a:xfrm>
            <a:off x="548640" y="1554480"/>
            <a:ext cx="11064240" cy="182880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Firebase 콘솔에서 새 프로젝트 만들기 (이름 예: my-classroom)</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테스트용 구글 계정(교사용)으로 진행. 실제 학생 정보 금지</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순서: 화면에서 찾을 것 → 누를 것 → 확인할 것</a:t>
            </a:r>
            <a:endParaRPr lang="en-US" sz="2400" dirty="0"/>
          </a:p>
        </p:txBody>
      </p:sp>
      <p:sp>
        <p:nvSpPr>
          <p:cNvPr id="7" name="Text 4"/>
          <p:cNvSpPr/>
          <p:nvPr/>
        </p:nvSpPr>
        <p:spPr>
          <a:xfrm>
            <a:off x="548640" y="3611880"/>
            <a:ext cx="3383280" cy="1371600"/>
          </a:xfrm>
          <a:prstGeom prst="rect">
            <a:avLst/>
          </a:prstGeom>
          <a:solidFill>
            <a:srgbClr val="FFF1CC"/>
          </a:solidFill>
          <a:ln w="25400">
            <a:solidFill>
              <a:srgbClr val="B0402C"/>
            </a:solidFill>
            <a:prstDash val="dash"/>
          </a:ln>
        </p:spPr>
        <p:txBody>
          <a:bodyPr wrap="square" lIns="76200" tIns="76200" rIns="76200" bIns="76200" rtlCol="0" anchor="ctr"/>
          <a:lstStyle/>
          <a:p>
            <a:pPr marL="0" indent="0" algn="ctr">
              <a:buNone/>
            </a:pPr>
            <a:r>
              <a:rPr lang="en-US" sz="1500" b="1" dirty="0">
                <a:solidFill>
                  <a:srgbClr val="B0402C"/>
                </a:solidFill>
                <a:latin typeface="Malgun Gothic" pitchFamily="34" charset="0"/>
                <a:ea typeface="Malgun Gothic" pitchFamily="34" charset="-122"/>
                <a:cs typeface="Malgun Gothic" pitchFamily="34" charset="-120"/>
              </a:rPr>
              <a:t>[콘솔 화면 캡처 자리]</a:t>
            </a:r>
            <a:endParaRPr lang="en-US" sz="1500" dirty="0"/>
          </a:p>
        </p:txBody>
      </p:sp>
      <p:sp>
        <p:nvSpPr>
          <p:cNvPr id="8" name="Text 5"/>
          <p:cNvSpPr txBox="1"/>
          <p:nvPr/>
        </p:nvSpPr>
        <p:spPr>
          <a:xfrm>
            <a:off x="548640" y="5074920"/>
            <a:ext cx="3383280" cy="365760"/>
          </a:xfrm>
          <a:prstGeom prst="rect">
            <a:avLst/>
          </a:prstGeom>
          <a:noFill/>
          <a:ln/>
        </p:spPr>
        <p:txBody>
          <a:bodyPr wrap="square" lIns="0" tIns="0" rIns="0" bIns="0" rtlCol="0" anchor="ctr"/>
          <a:lstStyle/>
          <a:p>
            <a:pPr marL="0" indent="0">
              <a:buNone/>
            </a:pPr>
            <a:r>
              <a:rPr lang="en-US" sz="1800" b="1" dirty="0">
                <a:solidFill>
                  <a:srgbClr val="2A2314"/>
                </a:solidFill>
                <a:latin typeface="Malgun Gothic" pitchFamily="34" charset="0"/>
                <a:ea typeface="Malgun Gothic" pitchFamily="34" charset="-122"/>
                <a:cs typeface="Malgun Gothic" pitchFamily="34" charset="-120"/>
              </a:rPr>
              <a:t>1 콘솔 접속</a:t>
            </a:r>
            <a:endParaRPr lang="en-US" sz="1800" dirty="0"/>
          </a:p>
        </p:txBody>
      </p:sp>
      <p:sp>
        <p:nvSpPr>
          <p:cNvPr id="9" name="Text 6"/>
          <p:cNvSpPr txBox="1"/>
          <p:nvPr/>
        </p:nvSpPr>
        <p:spPr>
          <a:xfrm>
            <a:off x="548640" y="5440680"/>
            <a:ext cx="3383280" cy="365760"/>
          </a:xfrm>
          <a:prstGeom prst="rect">
            <a:avLst/>
          </a:prstGeom>
          <a:noFill/>
          <a:ln/>
        </p:spPr>
        <p:txBody>
          <a:bodyPr wrap="square" lIns="0" tIns="0" rIns="0" bIns="0" rtlCol="0" anchor="ctr"/>
          <a:lstStyle/>
          <a:p>
            <a:pPr marL="0" indent="0">
              <a:buNone/>
            </a:pPr>
            <a:r>
              <a:rPr lang="en-US" sz="1600" dirty="0">
                <a:solidFill>
                  <a:srgbClr val="6B5E45"/>
                </a:solidFill>
                <a:latin typeface="Consolas" pitchFamily="34" charset="0"/>
                <a:ea typeface="Consolas" pitchFamily="34" charset="-122"/>
                <a:cs typeface="Consolas" pitchFamily="34" charset="-120"/>
              </a:rPr>
              <a:t>console.firebase.google.com</a:t>
            </a:r>
            <a:endParaRPr lang="en-US" sz="1600" dirty="0"/>
          </a:p>
        </p:txBody>
      </p:sp>
      <p:sp>
        <p:nvSpPr>
          <p:cNvPr id="10" name="Shape 7"/>
          <p:cNvSpPr/>
          <p:nvPr/>
        </p:nvSpPr>
        <p:spPr>
          <a:xfrm>
            <a:off x="4023360" y="4151376"/>
            <a:ext cx="274320" cy="292608"/>
          </a:xfrm>
          <a:prstGeom prst="rightArrow">
            <a:avLst/>
          </a:prstGeom>
          <a:solidFill>
            <a:srgbClr val="B0402C"/>
          </a:solidFill>
          <a:ln w="12700">
            <a:solidFill>
              <a:srgbClr val="B0402C"/>
            </a:solidFill>
            <a:prstDash val="solid"/>
          </a:ln>
        </p:spPr>
        <p:txBody>
          <a:bodyPr/>
          <a:lstStyle/>
          <a:p>
            <a:endParaRPr lang="ko-KR" altLang="en-US"/>
          </a:p>
        </p:txBody>
      </p:sp>
      <p:sp>
        <p:nvSpPr>
          <p:cNvPr id="11" name="Text 8"/>
          <p:cNvSpPr/>
          <p:nvPr/>
        </p:nvSpPr>
        <p:spPr>
          <a:xfrm>
            <a:off x="4389120" y="3611880"/>
            <a:ext cx="3383280" cy="1371600"/>
          </a:xfrm>
          <a:prstGeom prst="rect">
            <a:avLst/>
          </a:prstGeom>
          <a:solidFill>
            <a:srgbClr val="FFF1CC"/>
          </a:solidFill>
          <a:ln w="25400">
            <a:solidFill>
              <a:srgbClr val="B0402C"/>
            </a:solidFill>
            <a:prstDash val="dash"/>
          </a:ln>
        </p:spPr>
        <p:txBody>
          <a:bodyPr wrap="square" lIns="76200" tIns="76200" rIns="76200" bIns="76200" rtlCol="0" anchor="ctr"/>
          <a:lstStyle/>
          <a:p>
            <a:pPr marL="0" indent="0" algn="ctr">
              <a:buNone/>
            </a:pPr>
            <a:r>
              <a:rPr lang="en-US" sz="1500" b="1" dirty="0">
                <a:solidFill>
                  <a:srgbClr val="B0402C"/>
                </a:solidFill>
                <a:latin typeface="Malgun Gothic" pitchFamily="34" charset="0"/>
                <a:ea typeface="Malgun Gothic" pitchFamily="34" charset="-122"/>
                <a:cs typeface="Malgun Gothic" pitchFamily="34" charset="-120"/>
              </a:rPr>
              <a:t>[콘솔 화면 캡처 자리]</a:t>
            </a:r>
            <a:endParaRPr lang="en-US" sz="1500" dirty="0"/>
          </a:p>
        </p:txBody>
      </p:sp>
      <p:sp>
        <p:nvSpPr>
          <p:cNvPr id="12" name="Text 9"/>
          <p:cNvSpPr txBox="1"/>
          <p:nvPr/>
        </p:nvSpPr>
        <p:spPr>
          <a:xfrm>
            <a:off x="4389120" y="5074920"/>
            <a:ext cx="3383280" cy="365760"/>
          </a:xfrm>
          <a:prstGeom prst="rect">
            <a:avLst/>
          </a:prstGeom>
          <a:noFill/>
          <a:ln/>
        </p:spPr>
        <p:txBody>
          <a:bodyPr wrap="square" lIns="0" tIns="0" rIns="0" bIns="0" rtlCol="0" anchor="ctr"/>
          <a:lstStyle/>
          <a:p>
            <a:pPr marL="0" indent="0">
              <a:buNone/>
            </a:pPr>
            <a:r>
              <a:rPr lang="en-US" sz="1800" b="1" dirty="0">
                <a:solidFill>
                  <a:srgbClr val="2A2314"/>
                </a:solidFill>
                <a:latin typeface="Malgun Gothic" pitchFamily="34" charset="0"/>
                <a:ea typeface="Malgun Gothic" pitchFamily="34" charset="-122"/>
                <a:cs typeface="Malgun Gothic" pitchFamily="34" charset="-120"/>
              </a:rPr>
              <a:t>2 프로젝트 추가</a:t>
            </a:r>
            <a:endParaRPr lang="en-US" sz="1800" dirty="0"/>
          </a:p>
        </p:txBody>
      </p:sp>
      <p:sp>
        <p:nvSpPr>
          <p:cNvPr id="13" name="Text 10"/>
          <p:cNvSpPr txBox="1"/>
          <p:nvPr/>
        </p:nvSpPr>
        <p:spPr>
          <a:xfrm>
            <a:off x="4389120" y="5440680"/>
            <a:ext cx="3383280" cy="365760"/>
          </a:xfrm>
          <a:prstGeom prst="rect">
            <a:avLst/>
          </a:prstGeom>
          <a:noFill/>
          <a:ln/>
        </p:spPr>
        <p:txBody>
          <a:bodyPr wrap="square" lIns="0" tIns="0" rIns="0" bIns="0" rtlCol="0" anchor="ctr"/>
          <a:lstStyle/>
          <a:p>
            <a:pPr marL="0" indent="0">
              <a:buNone/>
            </a:pPr>
            <a:r>
              <a:rPr lang="en-US" sz="1600" dirty="0">
                <a:solidFill>
                  <a:srgbClr val="6B5E45"/>
                </a:solidFill>
                <a:latin typeface="Consolas" pitchFamily="34" charset="0"/>
                <a:ea typeface="Consolas" pitchFamily="34" charset="-122"/>
                <a:cs typeface="Consolas" pitchFamily="34" charset="-120"/>
              </a:rPr>
              <a:t>이름 칸에 my-classroom</a:t>
            </a:r>
            <a:endParaRPr lang="en-US" sz="1600" dirty="0"/>
          </a:p>
        </p:txBody>
      </p:sp>
      <p:sp>
        <p:nvSpPr>
          <p:cNvPr id="14" name="Shape 11"/>
          <p:cNvSpPr/>
          <p:nvPr/>
        </p:nvSpPr>
        <p:spPr>
          <a:xfrm>
            <a:off x="7863840" y="4151376"/>
            <a:ext cx="274320" cy="292608"/>
          </a:xfrm>
          <a:prstGeom prst="rightArrow">
            <a:avLst/>
          </a:prstGeom>
          <a:solidFill>
            <a:srgbClr val="B0402C"/>
          </a:solidFill>
          <a:ln w="12700">
            <a:solidFill>
              <a:srgbClr val="B0402C"/>
            </a:solidFill>
            <a:prstDash val="solid"/>
          </a:ln>
        </p:spPr>
        <p:txBody>
          <a:bodyPr/>
          <a:lstStyle/>
          <a:p>
            <a:endParaRPr lang="ko-KR" altLang="en-US"/>
          </a:p>
        </p:txBody>
      </p:sp>
      <p:sp>
        <p:nvSpPr>
          <p:cNvPr id="15" name="Text 12"/>
          <p:cNvSpPr/>
          <p:nvPr/>
        </p:nvSpPr>
        <p:spPr>
          <a:xfrm>
            <a:off x="8229600" y="3611880"/>
            <a:ext cx="3383280" cy="1371600"/>
          </a:xfrm>
          <a:prstGeom prst="rect">
            <a:avLst/>
          </a:prstGeom>
          <a:solidFill>
            <a:srgbClr val="FFF1CC"/>
          </a:solidFill>
          <a:ln w="25400">
            <a:solidFill>
              <a:srgbClr val="B0402C"/>
            </a:solidFill>
            <a:prstDash val="dash"/>
          </a:ln>
        </p:spPr>
        <p:txBody>
          <a:bodyPr wrap="square" lIns="76200" tIns="76200" rIns="76200" bIns="76200" rtlCol="0" anchor="ctr"/>
          <a:lstStyle/>
          <a:p>
            <a:pPr marL="0" indent="0" algn="ctr">
              <a:buNone/>
            </a:pPr>
            <a:r>
              <a:rPr lang="en-US" sz="1500" b="1" dirty="0">
                <a:solidFill>
                  <a:srgbClr val="B0402C"/>
                </a:solidFill>
                <a:latin typeface="Malgun Gothic" pitchFamily="34" charset="0"/>
                <a:ea typeface="Malgun Gothic" pitchFamily="34" charset="-122"/>
                <a:cs typeface="Malgun Gothic" pitchFamily="34" charset="-120"/>
              </a:rPr>
              <a:t>[콘솔 화면 캡처 자리]</a:t>
            </a:r>
            <a:endParaRPr lang="en-US" sz="1500" dirty="0"/>
          </a:p>
        </p:txBody>
      </p:sp>
      <p:sp>
        <p:nvSpPr>
          <p:cNvPr id="16" name="Text 13"/>
          <p:cNvSpPr txBox="1"/>
          <p:nvPr/>
        </p:nvSpPr>
        <p:spPr>
          <a:xfrm>
            <a:off x="8229600" y="5074920"/>
            <a:ext cx="3383280" cy="365760"/>
          </a:xfrm>
          <a:prstGeom prst="rect">
            <a:avLst/>
          </a:prstGeom>
          <a:noFill/>
          <a:ln/>
        </p:spPr>
        <p:txBody>
          <a:bodyPr wrap="square" lIns="0" tIns="0" rIns="0" bIns="0" rtlCol="0" anchor="ctr"/>
          <a:lstStyle/>
          <a:p>
            <a:pPr marL="0" indent="0">
              <a:buNone/>
            </a:pPr>
            <a:r>
              <a:rPr lang="en-US" sz="1800" b="1" dirty="0">
                <a:solidFill>
                  <a:srgbClr val="2A2314"/>
                </a:solidFill>
                <a:latin typeface="Malgun Gothic" pitchFamily="34" charset="0"/>
                <a:ea typeface="Malgun Gothic" pitchFamily="34" charset="-122"/>
                <a:cs typeface="Malgun Gothic" pitchFamily="34" charset="-120"/>
              </a:rPr>
              <a:t>3 프로젝트 홈 도착</a:t>
            </a:r>
            <a:endParaRPr lang="en-US" sz="1800" dirty="0"/>
          </a:p>
        </p:txBody>
      </p:sp>
      <p:sp>
        <p:nvSpPr>
          <p:cNvPr id="17" name="Text 14"/>
          <p:cNvSpPr txBox="1"/>
          <p:nvPr/>
        </p:nvSpPr>
        <p:spPr>
          <a:xfrm>
            <a:off x="8229600" y="5440680"/>
            <a:ext cx="3383280" cy="365760"/>
          </a:xfrm>
          <a:prstGeom prst="rect">
            <a:avLst/>
          </a:prstGeom>
          <a:noFill/>
          <a:ln/>
        </p:spPr>
        <p:txBody>
          <a:bodyPr wrap="square" lIns="0" tIns="0" rIns="0" bIns="0" rtlCol="0" anchor="ctr"/>
          <a:lstStyle/>
          <a:p>
            <a:pPr marL="0" indent="0">
              <a:buNone/>
            </a:pPr>
            <a:r>
              <a:rPr lang="en-US" sz="1600" dirty="0">
                <a:solidFill>
                  <a:srgbClr val="6B5E45"/>
                </a:solidFill>
                <a:latin typeface="Consolas" pitchFamily="34" charset="0"/>
                <a:ea typeface="Consolas" pitchFamily="34" charset="-122"/>
                <a:cs typeface="Consolas" pitchFamily="34" charset="-120"/>
              </a:rPr>
              <a:t>왼쪽 위에 my-classroom</a:t>
            </a:r>
            <a:endParaRPr lang="en-US" sz="1600" dirty="0"/>
          </a:p>
        </p:txBody>
      </p:sp>
      <p:sp>
        <p:nvSpPr>
          <p:cNvPr id="18" name="Text 15"/>
          <p:cNvSpPr txBox="1"/>
          <p:nvPr/>
        </p:nvSpPr>
        <p:spPr>
          <a:xfrm>
            <a:off x="548640" y="5943600"/>
            <a:ext cx="11064240" cy="457200"/>
          </a:xfrm>
          <a:prstGeom prst="rect">
            <a:avLst/>
          </a:prstGeom>
          <a:noFill/>
          <a:ln/>
        </p:spPr>
        <p:txBody>
          <a:bodyPr wrap="square" lIns="0" tIns="0" rIns="0" bIns="0" rtlCol="0" anchor="ctr"/>
          <a:lstStyle/>
          <a:p>
            <a:pPr marL="0" indent="0">
              <a:buNone/>
            </a:pPr>
            <a:r>
              <a:rPr lang="en-US" sz="1600" b="1" dirty="0">
                <a:solidFill>
                  <a:srgbClr val="B0402C"/>
                </a:solidFill>
                <a:latin typeface="Malgun Gothic" pitchFamily="34" charset="0"/>
                <a:ea typeface="Malgun Gothic" pitchFamily="34" charset="-122"/>
                <a:cs typeface="Malgun Gothic" pitchFamily="34" charset="-120"/>
              </a:rPr>
              <a:t>막힐 때  </a:t>
            </a:r>
            <a:r>
              <a:rPr lang="en-US" sz="1600" dirty="0">
                <a:solidFill>
                  <a:srgbClr val="2A2314"/>
                </a:solidFill>
                <a:latin typeface="Malgun Gothic" pitchFamily="34" charset="0"/>
                <a:ea typeface="Malgun Gothic" pitchFamily="34" charset="-122"/>
                <a:cs typeface="Malgun Gothic" pitchFamily="34" charset="-120"/>
              </a:rPr>
              <a:t>만들기 버튼이 안 보이면 개인 구글 계정으로 다시 로그인. 이미 쓰인 이름이면 뒤에 숫자 붙이기</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2 · Firebase 설정 + 구글 로그인</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웹 앱 등록과 firebaseConfig 복사</a:t>
            </a:r>
            <a:endParaRPr lang="en-US" sz="3600" dirty="0"/>
          </a:p>
        </p:txBody>
      </p:sp>
      <p:sp>
        <p:nvSpPr>
          <p:cNvPr id="6" name="Text 3"/>
          <p:cNvSpPr txBox="1"/>
          <p:nvPr/>
        </p:nvSpPr>
        <p:spPr>
          <a:xfrm>
            <a:off x="548640" y="1554480"/>
            <a:ext cx="11064240" cy="192024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프로젝트 안에 "웹 앱" 등록 = 우리 웹 페이지용 출입문 달기</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등록이 끝나면 firebaseConfig(설정값 묶음)가 나온다 → 통째로 복사</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복사한 값은 메모장에 붙여 둔다 (슬라이드 14에서 사용)</a:t>
            </a:r>
            <a:endParaRPr lang="en-US" sz="2400" dirty="0"/>
          </a:p>
        </p:txBody>
      </p:sp>
      <p:sp>
        <p:nvSpPr>
          <p:cNvPr id="7" name="Text 4"/>
          <p:cNvSpPr/>
          <p:nvPr/>
        </p:nvSpPr>
        <p:spPr>
          <a:xfrm>
            <a:off x="548640" y="3657600"/>
            <a:ext cx="2560320" cy="1280160"/>
          </a:xfrm>
          <a:prstGeom prst="rect">
            <a:avLst/>
          </a:prstGeom>
          <a:solidFill>
            <a:srgbClr val="FFF1CC"/>
          </a:solidFill>
          <a:ln w="25400">
            <a:solidFill>
              <a:srgbClr val="B0402C"/>
            </a:solidFill>
            <a:prstDash val="dash"/>
          </a:ln>
        </p:spPr>
        <p:txBody>
          <a:bodyPr wrap="square" lIns="76200" tIns="76200" rIns="76200" bIns="76200" rtlCol="0" anchor="ctr"/>
          <a:lstStyle/>
          <a:p>
            <a:pPr marL="0" indent="0" algn="ctr">
              <a:buNone/>
            </a:pPr>
            <a:r>
              <a:rPr lang="en-US" sz="1400" b="1" dirty="0">
                <a:solidFill>
                  <a:srgbClr val="B0402C"/>
                </a:solidFill>
                <a:latin typeface="Malgun Gothic" pitchFamily="34" charset="0"/>
                <a:ea typeface="Malgun Gothic" pitchFamily="34" charset="-122"/>
                <a:cs typeface="Malgun Gothic" pitchFamily="34" charset="-120"/>
              </a:rPr>
              <a:t>[콘솔 캡처 자리]</a:t>
            </a:r>
            <a:endParaRPr lang="en-US" sz="1400" dirty="0"/>
          </a:p>
        </p:txBody>
      </p:sp>
      <p:sp>
        <p:nvSpPr>
          <p:cNvPr id="8" name="Text 5"/>
          <p:cNvSpPr/>
          <p:nvPr/>
        </p:nvSpPr>
        <p:spPr>
          <a:xfrm>
            <a:off x="548640" y="5029200"/>
            <a:ext cx="411480" cy="411480"/>
          </a:xfrm>
          <a:prstGeom prst="ellipse">
            <a:avLst/>
          </a:prstGeom>
          <a:solidFill>
            <a:srgbClr val="B0402C"/>
          </a:solidFill>
          <a:ln/>
        </p:spPr>
        <p:txBody>
          <a:bodyPr wrap="square" lIns="0" tIns="0" rIns="0" bIns="0" rtlCol="0" anchor="ctr"/>
          <a:lstStyle/>
          <a:p>
            <a:pPr marL="0" indent="0" algn="ctr">
              <a:buNone/>
            </a:pPr>
            <a:r>
              <a:rPr lang="en-US" sz="1800" b="1" dirty="0">
                <a:solidFill>
                  <a:srgbClr val="FFFFFF"/>
                </a:solidFill>
                <a:latin typeface="Malgun Gothic" pitchFamily="34" charset="0"/>
                <a:ea typeface="Malgun Gothic" pitchFamily="34" charset="-122"/>
                <a:cs typeface="Malgun Gothic" pitchFamily="34" charset="-120"/>
              </a:rPr>
              <a:t>1</a:t>
            </a:r>
            <a:endParaRPr lang="en-US" sz="1800" dirty="0"/>
          </a:p>
        </p:txBody>
      </p:sp>
      <p:sp>
        <p:nvSpPr>
          <p:cNvPr id="9" name="Text 6"/>
          <p:cNvSpPr txBox="1"/>
          <p:nvPr/>
        </p:nvSpPr>
        <p:spPr>
          <a:xfrm>
            <a:off x="1051560" y="4983480"/>
            <a:ext cx="2057400" cy="868680"/>
          </a:xfrm>
          <a:prstGeom prst="rect">
            <a:avLst/>
          </a:prstGeom>
          <a:noFill/>
          <a:ln/>
        </p:spPr>
        <p:txBody>
          <a:bodyPr wrap="square" lIns="0" tIns="0" rIns="0" bIns="0" rtlCol="0" anchor="t"/>
          <a:lstStyle/>
          <a:p>
            <a:pPr marL="0" indent="0">
              <a:buNone/>
            </a:pPr>
            <a:r>
              <a:rPr lang="en-US" sz="1600" dirty="0">
                <a:solidFill>
                  <a:srgbClr val="2A2314"/>
                </a:solidFill>
                <a:latin typeface="Malgun Gothic" pitchFamily="34" charset="0"/>
                <a:ea typeface="Malgun Gothic" pitchFamily="34" charset="-122"/>
                <a:cs typeface="Malgun Gothic" pitchFamily="34" charset="-120"/>
              </a:rPr>
              <a:t>웹 앱 추가  &lt;/&gt;  아이콘</a:t>
            </a:r>
            <a:endParaRPr lang="en-US" sz="1600" dirty="0"/>
          </a:p>
        </p:txBody>
      </p:sp>
      <p:sp>
        <p:nvSpPr>
          <p:cNvPr id="10" name="Text 7"/>
          <p:cNvSpPr/>
          <p:nvPr/>
        </p:nvSpPr>
        <p:spPr>
          <a:xfrm>
            <a:off x="3383280" y="3657600"/>
            <a:ext cx="2560320" cy="1280160"/>
          </a:xfrm>
          <a:prstGeom prst="rect">
            <a:avLst/>
          </a:prstGeom>
          <a:solidFill>
            <a:srgbClr val="FFF1CC"/>
          </a:solidFill>
          <a:ln w="25400">
            <a:solidFill>
              <a:srgbClr val="B0402C"/>
            </a:solidFill>
            <a:prstDash val="dash"/>
          </a:ln>
        </p:spPr>
        <p:txBody>
          <a:bodyPr wrap="square" lIns="76200" tIns="76200" rIns="76200" bIns="76200" rtlCol="0" anchor="ctr"/>
          <a:lstStyle/>
          <a:p>
            <a:pPr marL="0" indent="0" algn="ctr">
              <a:buNone/>
            </a:pPr>
            <a:r>
              <a:rPr lang="en-US" sz="1400" b="1" dirty="0">
                <a:solidFill>
                  <a:srgbClr val="B0402C"/>
                </a:solidFill>
                <a:latin typeface="Malgun Gothic" pitchFamily="34" charset="0"/>
                <a:ea typeface="Malgun Gothic" pitchFamily="34" charset="-122"/>
                <a:cs typeface="Malgun Gothic" pitchFamily="34" charset="-120"/>
              </a:rPr>
              <a:t>[콘솔 캡처 자리]</a:t>
            </a:r>
            <a:endParaRPr lang="en-US" sz="1400" dirty="0"/>
          </a:p>
        </p:txBody>
      </p:sp>
      <p:sp>
        <p:nvSpPr>
          <p:cNvPr id="11" name="Text 8"/>
          <p:cNvSpPr/>
          <p:nvPr/>
        </p:nvSpPr>
        <p:spPr>
          <a:xfrm>
            <a:off x="3383280" y="5029200"/>
            <a:ext cx="411480" cy="411480"/>
          </a:xfrm>
          <a:prstGeom prst="ellipse">
            <a:avLst/>
          </a:prstGeom>
          <a:solidFill>
            <a:srgbClr val="B0402C"/>
          </a:solidFill>
          <a:ln/>
        </p:spPr>
        <p:txBody>
          <a:bodyPr wrap="square" lIns="0" tIns="0" rIns="0" bIns="0" rtlCol="0" anchor="ctr"/>
          <a:lstStyle/>
          <a:p>
            <a:pPr marL="0" indent="0" algn="ctr">
              <a:buNone/>
            </a:pPr>
            <a:r>
              <a:rPr lang="en-US" sz="1800" b="1" dirty="0">
                <a:solidFill>
                  <a:srgbClr val="FFFFFF"/>
                </a:solidFill>
                <a:latin typeface="Malgun Gothic" pitchFamily="34" charset="0"/>
                <a:ea typeface="Malgun Gothic" pitchFamily="34" charset="-122"/>
                <a:cs typeface="Malgun Gothic" pitchFamily="34" charset="-120"/>
              </a:rPr>
              <a:t>2</a:t>
            </a:r>
            <a:endParaRPr lang="en-US" sz="1800" dirty="0"/>
          </a:p>
        </p:txBody>
      </p:sp>
      <p:sp>
        <p:nvSpPr>
          <p:cNvPr id="12" name="Text 9"/>
          <p:cNvSpPr txBox="1"/>
          <p:nvPr/>
        </p:nvSpPr>
        <p:spPr>
          <a:xfrm>
            <a:off x="3886200" y="4983480"/>
            <a:ext cx="2057400" cy="868680"/>
          </a:xfrm>
          <a:prstGeom prst="rect">
            <a:avLst/>
          </a:prstGeom>
          <a:noFill/>
          <a:ln/>
        </p:spPr>
        <p:txBody>
          <a:bodyPr wrap="square" lIns="0" tIns="0" rIns="0" bIns="0" rtlCol="0" anchor="t"/>
          <a:lstStyle/>
          <a:p>
            <a:pPr marL="0" indent="0">
              <a:buNone/>
            </a:pPr>
            <a:r>
              <a:rPr lang="en-US" sz="1600" dirty="0">
                <a:solidFill>
                  <a:srgbClr val="2A2314"/>
                </a:solidFill>
                <a:latin typeface="Malgun Gothic" pitchFamily="34" charset="0"/>
                <a:ea typeface="Malgun Gothic" pitchFamily="34" charset="-122"/>
                <a:cs typeface="Malgun Gothic" pitchFamily="34" charset="-120"/>
              </a:rPr>
              <a:t>앱 닉네임 입력 (Hosting 체크는 하지 않기)</a:t>
            </a:r>
            <a:endParaRPr lang="en-US" sz="1600" dirty="0"/>
          </a:p>
        </p:txBody>
      </p:sp>
      <p:sp>
        <p:nvSpPr>
          <p:cNvPr id="13" name="Text 10"/>
          <p:cNvSpPr/>
          <p:nvPr/>
        </p:nvSpPr>
        <p:spPr>
          <a:xfrm>
            <a:off x="6217920" y="3657600"/>
            <a:ext cx="2560320" cy="1280160"/>
          </a:xfrm>
          <a:prstGeom prst="rect">
            <a:avLst/>
          </a:prstGeom>
          <a:solidFill>
            <a:srgbClr val="FFF1CC"/>
          </a:solidFill>
          <a:ln w="25400">
            <a:solidFill>
              <a:srgbClr val="B0402C"/>
            </a:solidFill>
            <a:prstDash val="dash"/>
          </a:ln>
        </p:spPr>
        <p:txBody>
          <a:bodyPr wrap="square" lIns="76200" tIns="76200" rIns="76200" bIns="76200" rtlCol="0" anchor="ctr"/>
          <a:lstStyle/>
          <a:p>
            <a:pPr marL="0" indent="0" algn="ctr">
              <a:buNone/>
            </a:pPr>
            <a:r>
              <a:rPr lang="en-US" sz="1400" b="1" dirty="0">
                <a:solidFill>
                  <a:srgbClr val="B0402C"/>
                </a:solidFill>
                <a:latin typeface="Malgun Gothic" pitchFamily="34" charset="0"/>
                <a:ea typeface="Malgun Gothic" pitchFamily="34" charset="-122"/>
                <a:cs typeface="Malgun Gothic" pitchFamily="34" charset="-120"/>
              </a:rPr>
              <a:t>[콘솔 캡처 자리]</a:t>
            </a:r>
            <a:endParaRPr lang="en-US" sz="1400" dirty="0"/>
          </a:p>
        </p:txBody>
      </p:sp>
      <p:sp>
        <p:nvSpPr>
          <p:cNvPr id="14" name="Text 11"/>
          <p:cNvSpPr/>
          <p:nvPr/>
        </p:nvSpPr>
        <p:spPr>
          <a:xfrm>
            <a:off x="6217920" y="5029200"/>
            <a:ext cx="411480" cy="411480"/>
          </a:xfrm>
          <a:prstGeom prst="ellipse">
            <a:avLst/>
          </a:prstGeom>
          <a:solidFill>
            <a:srgbClr val="B0402C"/>
          </a:solidFill>
          <a:ln/>
        </p:spPr>
        <p:txBody>
          <a:bodyPr wrap="square" lIns="0" tIns="0" rIns="0" bIns="0" rtlCol="0" anchor="ctr"/>
          <a:lstStyle/>
          <a:p>
            <a:pPr marL="0" indent="0" algn="ctr">
              <a:buNone/>
            </a:pPr>
            <a:r>
              <a:rPr lang="en-US" sz="1800" b="1" dirty="0">
                <a:solidFill>
                  <a:srgbClr val="FFFFFF"/>
                </a:solidFill>
                <a:latin typeface="Malgun Gothic" pitchFamily="34" charset="0"/>
                <a:ea typeface="Malgun Gothic" pitchFamily="34" charset="-122"/>
                <a:cs typeface="Malgun Gothic" pitchFamily="34" charset="-120"/>
              </a:rPr>
              <a:t>3</a:t>
            </a:r>
            <a:endParaRPr lang="en-US" sz="1800" dirty="0"/>
          </a:p>
        </p:txBody>
      </p:sp>
      <p:sp>
        <p:nvSpPr>
          <p:cNvPr id="15" name="Text 12"/>
          <p:cNvSpPr txBox="1"/>
          <p:nvPr/>
        </p:nvSpPr>
        <p:spPr>
          <a:xfrm>
            <a:off x="6720840" y="4983480"/>
            <a:ext cx="2057400" cy="868680"/>
          </a:xfrm>
          <a:prstGeom prst="rect">
            <a:avLst/>
          </a:prstGeom>
          <a:noFill/>
          <a:ln/>
        </p:spPr>
        <p:txBody>
          <a:bodyPr wrap="square" lIns="0" tIns="0" rIns="0" bIns="0" rtlCol="0" anchor="t"/>
          <a:lstStyle/>
          <a:p>
            <a:pPr marL="0" indent="0">
              <a:buNone/>
            </a:pPr>
            <a:r>
              <a:rPr lang="en-US" sz="1600" dirty="0">
                <a:solidFill>
                  <a:srgbClr val="2A2314"/>
                </a:solidFill>
                <a:latin typeface="Malgun Gothic" pitchFamily="34" charset="0"/>
                <a:ea typeface="Malgun Gothic" pitchFamily="34" charset="-122"/>
                <a:cs typeface="Malgun Gothic" pitchFamily="34" charset="-120"/>
              </a:rPr>
              <a:t>firebaseConfig 블록 보임</a:t>
            </a:r>
            <a:endParaRPr lang="en-US" sz="1600" dirty="0"/>
          </a:p>
        </p:txBody>
      </p:sp>
      <p:sp>
        <p:nvSpPr>
          <p:cNvPr id="16" name="Text 13"/>
          <p:cNvSpPr/>
          <p:nvPr/>
        </p:nvSpPr>
        <p:spPr>
          <a:xfrm>
            <a:off x="9052560" y="3657600"/>
            <a:ext cx="2560320" cy="1280160"/>
          </a:xfrm>
          <a:prstGeom prst="rect">
            <a:avLst/>
          </a:prstGeom>
          <a:solidFill>
            <a:srgbClr val="FFF1CC"/>
          </a:solidFill>
          <a:ln w="25400">
            <a:solidFill>
              <a:srgbClr val="B0402C"/>
            </a:solidFill>
            <a:prstDash val="dash"/>
          </a:ln>
        </p:spPr>
        <p:txBody>
          <a:bodyPr wrap="square" lIns="76200" tIns="76200" rIns="76200" bIns="76200" rtlCol="0" anchor="ctr"/>
          <a:lstStyle/>
          <a:p>
            <a:pPr marL="0" indent="0" algn="ctr">
              <a:buNone/>
            </a:pPr>
            <a:r>
              <a:rPr lang="en-US" sz="1400" b="1" dirty="0">
                <a:solidFill>
                  <a:srgbClr val="B0402C"/>
                </a:solidFill>
                <a:latin typeface="Malgun Gothic" pitchFamily="34" charset="0"/>
                <a:ea typeface="Malgun Gothic" pitchFamily="34" charset="-122"/>
                <a:cs typeface="Malgun Gothic" pitchFamily="34" charset="-120"/>
              </a:rPr>
              <a:t>[콘솔 캡처 자리]</a:t>
            </a:r>
            <a:endParaRPr lang="en-US" sz="1400" dirty="0"/>
          </a:p>
        </p:txBody>
      </p:sp>
      <p:sp>
        <p:nvSpPr>
          <p:cNvPr id="17" name="Text 14"/>
          <p:cNvSpPr/>
          <p:nvPr/>
        </p:nvSpPr>
        <p:spPr>
          <a:xfrm>
            <a:off x="9052560" y="5029200"/>
            <a:ext cx="411480" cy="411480"/>
          </a:xfrm>
          <a:prstGeom prst="ellipse">
            <a:avLst/>
          </a:prstGeom>
          <a:solidFill>
            <a:srgbClr val="B0402C"/>
          </a:solidFill>
          <a:ln/>
        </p:spPr>
        <p:txBody>
          <a:bodyPr wrap="square" lIns="0" tIns="0" rIns="0" bIns="0" rtlCol="0" anchor="ctr"/>
          <a:lstStyle/>
          <a:p>
            <a:pPr marL="0" indent="0" algn="ctr">
              <a:buNone/>
            </a:pPr>
            <a:r>
              <a:rPr lang="en-US" sz="1800" b="1" dirty="0">
                <a:solidFill>
                  <a:srgbClr val="FFFFFF"/>
                </a:solidFill>
                <a:latin typeface="Malgun Gothic" pitchFamily="34" charset="0"/>
                <a:ea typeface="Malgun Gothic" pitchFamily="34" charset="-122"/>
                <a:cs typeface="Malgun Gothic" pitchFamily="34" charset="-120"/>
              </a:rPr>
              <a:t>4</a:t>
            </a:r>
            <a:endParaRPr lang="en-US" sz="1800" dirty="0"/>
          </a:p>
        </p:txBody>
      </p:sp>
      <p:sp>
        <p:nvSpPr>
          <p:cNvPr id="18" name="Text 15"/>
          <p:cNvSpPr txBox="1"/>
          <p:nvPr/>
        </p:nvSpPr>
        <p:spPr>
          <a:xfrm>
            <a:off x="9555480" y="4983480"/>
            <a:ext cx="2057400" cy="868680"/>
          </a:xfrm>
          <a:prstGeom prst="rect">
            <a:avLst/>
          </a:prstGeom>
          <a:noFill/>
          <a:ln/>
        </p:spPr>
        <p:txBody>
          <a:bodyPr wrap="square" lIns="0" tIns="0" rIns="0" bIns="0" rtlCol="0" anchor="t"/>
          <a:lstStyle/>
          <a:p>
            <a:pPr marL="0" indent="0">
              <a:buNone/>
            </a:pPr>
            <a:r>
              <a:rPr lang="en-US" sz="1600" dirty="0">
                <a:solidFill>
                  <a:srgbClr val="2A2314"/>
                </a:solidFill>
                <a:latin typeface="Malgun Gothic" pitchFamily="34" charset="0"/>
                <a:ea typeface="Malgun Gothic" pitchFamily="34" charset="-122"/>
                <a:cs typeface="Malgun Gothic" pitchFamily="34" charset="-120"/>
              </a:rPr>
              <a:t>메모장에 복사</a:t>
            </a:r>
            <a:endParaRPr lang="en-US" sz="1600" dirty="0"/>
          </a:p>
        </p:txBody>
      </p:sp>
      <p:sp>
        <p:nvSpPr>
          <p:cNvPr id="19" name="Text 16"/>
          <p:cNvSpPr txBox="1"/>
          <p:nvPr/>
        </p:nvSpPr>
        <p:spPr>
          <a:xfrm>
            <a:off x="548640" y="5943600"/>
            <a:ext cx="11064240" cy="457200"/>
          </a:xfrm>
          <a:prstGeom prst="rect">
            <a:avLst/>
          </a:prstGeom>
          <a:noFill/>
          <a:ln/>
        </p:spPr>
        <p:txBody>
          <a:bodyPr wrap="square" lIns="0" tIns="0" rIns="0" bIns="0" rtlCol="0" anchor="ctr"/>
          <a:lstStyle/>
          <a:p>
            <a:pPr marL="0" indent="0">
              <a:buNone/>
            </a:pPr>
            <a:r>
              <a:rPr lang="en-US" sz="1600" b="1" dirty="0">
                <a:solidFill>
                  <a:srgbClr val="B0402C"/>
                </a:solidFill>
                <a:latin typeface="Malgun Gothic" pitchFamily="34" charset="0"/>
                <a:ea typeface="Malgun Gothic" pitchFamily="34" charset="-122"/>
                <a:cs typeface="Malgun Gothic" pitchFamily="34" charset="-120"/>
              </a:rPr>
              <a:t>막힐 때  </a:t>
            </a:r>
            <a:r>
              <a:rPr lang="en-US" sz="1600" dirty="0">
                <a:solidFill>
                  <a:srgbClr val="2A2314"/>
                </a:solidFill>
                <a:latin typeface="Malgun Gothic" pitchFamily="34" charset="0"/>
                <a:ea typeface="Malgun Gothic" pitchFamily="34" charset="-122"/>
                <a:cs typeface="Malgun Gothic" pitchFamily="34" charset="-120"/>
              </a:rPr>
              <a:t>설정값 화면을 닫았다면 프로젝트 설정(톱니바퀴) → 내 앱에서 다시 볼 수 있다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2 · Firebase 설정 + 구글 로그인</a:t>
            </a:r>
            <a:endParaRPr lang="en-US" sz="1600" dirty="0"/>
          </a:p>
        </p:txBody>
      </p:sp>
      <p:sp>
        <p:nvSpPr>
          <p:cNvPr id="3" name="Text 1"/>
          <p:cNvSpPr/>
          <p:nvPr/>
        </p:nvSpPr>
        <p:spPr>
          <a:xfrm>
            <a:off x="5394960" y="274320"/>
            <a:ext cx="822960" cy="329184"/>
          </a:xfrm>
          <a:prstGeom prst="roundRect">
            <a:avLst>
              <a:gd name="adj" fmla="val 50000"/>
            </a:avLst>
          </a:prstGeom>
          <a:solidFill>
            <a:srgbClr val="356E67"/>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개념</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웹 설정값은 공개돼도 괜찮다</a:t>
            </a:r>
            <a:endParaRPr lang="en-US" sz="3600" dirty="0"/>
          </a:p>
        </p:txBody>
      </p:sp>
      <p:sp>
        <p:nvSpPr>
          <p:cNvPr id="6" name="Text 3"/>
          <p:cNvSpPr txBox="1"/>
          <p:nvPr/>
        </p:nvSpPr>
        <p:spPr>
          <a:xfrm>
            <a:off x="548640" y="1554480"/>
            <a:ext cx="11064240" cy="192024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firebaseConfig는 "학교 주소" 같은 것. 알려져도 문은 열리지 않는다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문을 지키는 것은 보안 규칙(교무실 출입 규칙) → 모듈 7에서 완성</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단, AI API 키는 다르다 → 비밀. 모듈 6에서 이유를 본다</a:t>
            </a:r>
            <a:endParaRPr lang="en-US" sz="2400" dirty="0"/>
          </a:p>
        </p:txBody>
      </p:sp>
      <p:sp>
        <p:nvSpPr>
          <p:cNvPr id="7" name="Text 4"/>
          <p:cNvSpPr/>
          <p:nvPr/>
        </p:nvSpPr>
        <p:spPr>
          <a:xfrm>
            <a:off x="548640" y="3703320"/>
            <a:ext cx="4754880" cy="2286000"/>
          </a:xfrm>
          <a:prstGeom prst="roundRect">
            <a:avLst>
              <a:gd name="adj" fmla="val 4800"/>
            </a:avLst>
          </a:prstGeom>
          <a:solidFill>
            <a:srgbClr val="DCE9E5"/>
          </a:solidFill>
          <a:ln w="38100">
            <a:solidFill>
              <a:srgbClr val="356E67"/>
            </a:solidFill>
          </a:ln>
        </p:spPr>
        <p:txBody>
          <a:bodyPr wrap="square" lIns="76200" tIns="76200" rIns="76200" bIns="76200" rtlCol="0" anchor="ctr"/>
          <a:lstStyle/>
          <a:p>
            <a:pPr marL="0" indent="0" algn="ctr">
              <a:buNone/>
            </a:pPr>
            <a:endParaRPr lang="en-US" sz="1800" dirty="0"/>
          </a:p>
        </p:txBody>
      </p:sp>
      <p:sp>
        <p:nvSpPr>
          <p:cNvPr id="8" name="Text 5"/>
          <p:cNvSpPr txBox="1"/>
          <p:nvPr/>
        </p:nvSpPr>
        <p:spPr>
          <a:xfrm>
            <a:off x="731520" y="3931920"/>
            <a:ext cx="4389120" cy="1737360"/>
          </a:xfrm>
          <a:prstGeom prst="rect">
            <a:avLst/>
          </a:prstGeom>
          <a:noFill/>
          <a:ln/>
        </p:spPr>
        <p:txBody>
          <a:bodyPr wrap="square" lIns="0" tIns="0" rIns="0" bIns="0" rtlCol="0" anchor="t"/>
          <a:lstStyle/>
          <a:p>
            <a:pPr marL="0" indent="0">
              <a:buNone/>
            </a:pPr>
            <a:r>
              <a:rPr lang="en-US" sz="2400" b="1" dirty="0">
                <a:solidFill>
                  <a:srgbClr val="356E67"/>
                </a:solidFill>
                <a:latin typeface="Malgun Gothic" pitchFamily="34" charset="0"/>
                <a:ea typeface="Malgun Gothic" pitchFamily="34" charset="-122"/>
                <a:cs typeface="Malgun Gothic" pitchFamily="34" charset="-120"/>
              </a:rPr>
              <a:t>공개해도 됨</a:t>
            </a:r>
            <a:endParaRPr lang="en-US" sz="2400" dirty="0"/>
          </a:p>
          <a:p>
            <a:pPr marL="0" indent="0">
              <a:buNone/>
            </a:pPr>
            <a:r>
              <a:rPr lang="en-US" sz="2000" dirty="0">
                <a:solidFill>
                  <a:srgbClr val="2A2314"/>
                </a:solidFill>
                <a:latin typeface="Malgun Gothic" pitchFamily="34" charset="0"/>
                <a:ea typeface="Malgun Gothic" pitchFamily="34" charset="-122"/>
                <a:cs typeface="Malgun Gothic" pitchFamily="34" charset="-120"/>
              </a:rPr>
              <a:t>firebaseConfig = 학교 주소</a:t>
            </a:r>
            <a:endParaRPr lang="en-US" sz="2400" dirty="0"/>
          </a:p>
        </p:txBody>
      </p:sp>
      <p:sp>
        <p:nvSpPr>
          <p:cNvPr id="9" name="Text 6"/>
          <p:cNvSpPr/>
          <p:nvPr/>
        </p:nvSpPr>
        <p:spPr>
          <a:xfrm>
            <a:off x="6858000" y="3703320"/>
            <a:ext cx="4754880" cy="2286000"/>
          </a:xfrm>
          <a:prstGeom prst="roundRect">
            <a:avLst>
              <a:gd name="adj" fmla="val 4800"/>
            </a:avLst>
          </a:prstGeom>
          <a:solidFill>
            <a:srgbClr val="F3DDD6"/>
          </a:solidFill>
          <a:ln w="38100">
            <a:solidFill>
              <a:srgbClr val="B0402C"/>
            </a:solidFill>
          </a:ln>
        </p:spPr>
        <p:txBody>
          <a:bodyPr wrap="square" lIns="76200" tIns="76200" rIns="76200" bIns="76200" rtlCol="0" anchor="ctr"/>
          <a:lstStyle/>
          <a:p>
            <a:pPr marL="0" indent="0" algn="ctr">
              <a:buNone/>
            </a:pPr>
            <a:endParaRPr lang="en-US" sz="1800" dirty="0"/>
          </a:p>
        </p:txBody>
      </p:sp>
      <p:sp>
        <p:nvSpPr>
          <p:cNvPr id="10" name="Text 7"/>
          <p:cNvSpPr txBox="1"/>
          <p:nvPr/>
        </p:nvSpPr>
        <p:spPr>
          <a:xfrm>
            <a:off x="7040880" y="3931920"/>
            <a:ext cx="4389120" cy="1737360"/>
          </a:xfrm>
          <a:prstGeom prst="rect">
            <a:avLst/>
          </a:prstGeom>
          <a:noFill/>
          <a:ln/>
        </p:spPr>
        <p:txBody>
          <a:bodyPr wrap="square" lIns="0" tIns="0" rIns="0" bIns="0" rtlCol="0" anchor="t"/>
          <a:lstStyle/>
          <a:p>
            <a:pPr marL="0" indent="0">
              <a:buNone/>
            </a:pPr>
            <a:r>
              <a:rPr lang="en-US" sz="2400" b="1" dirty="0">
                <a:solidFill>
                  <a:srgbClr val="B0402C"/>
                </a:solidFill>
                <a:latin typeface="Malgun Gothic" pitchFamily="34" charset="0"/>
                <a:ea typeface="Malgun Gothic" pitchFamily="34" charset="-122"/>
                <a:cs typeface="Malgun Gothic" pitchFamily="34" charset="-120"/>
              </a:rPr>
              <a:t>절대 공개 금지</a:t>
            </a:r>
            <a:endParaRPr lang="en-US" sz="2400" dirty="0"/>
          </a:p>
          <a:p>
            <a:pPr marL="0" indent="0">
              <a:buNone/>
            </a:pPr>
            <a:r>
              <a:rPr lang="en-US" sz="2000" dirty="0">
                <a:solidFill>
                  <a:srgbClr val="2A2314"/>
                </a:solidFill>
                <a:latin typeface="Malgun Gothic" pitchFamily="34" charset="0"/>
                <a:ea typeface="Malgun Gothic" pitchFamily="34" charset="-122"/>
                <a:cs typeface="Malgun Gothic" pitchFamily="34" charset="-120"/>
              </a:rPr>
              <a:t>AI API 키 = 교무실 금고 열쇠</a:t>
            </a:r>
            <a:endParaRPr lang="en-US" sz="2400" dirty="0"/>
          </a:p>
        </p:txBody>
      </p:sp>
      <p:sp>
        <p:nvSpPr>
          <p:cNvPr id="11" name="Text 8"/>
          <p:cNvSpPr/>
          <p:nvPr/>
        </p:nvSpPr>
        <p:spPr>
          <a:xfrm>
            <a:off x="5394960" y="4114800"/>
            <a:ext cx="1371600" cy="1463040"/>
          </a:xfrm>
          <a:prstGeom prst="hexagon">
            <a:avLst/>
          </a:prstGeom>
          <a:solidFill>
            <a:srgbClr val="2A2314"/>
          </a:solidFill>
          <a:ln/>
        </p:spPr>
        <p:txBody>
          <a:bodyPr wrap="square" lIns="25400" tIns="25400" rIns="25400" bIns="2540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보안 규칙</a:t>
            </a:r>
            <a:endParaRPr lang="en-US" sz="1400" dirty="0"/>
          </a:p>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(교무실 출입 규칙)</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2 · Firebase 설정 + 구글 로그인</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구글 로그인 제공업체 켜기</a:t>
            </a:r>
            <a:endParaRPr lang="en-US" sz="3600" dirty="0"/>
          </a:p>
        </p:txBody>
      </p:sp>
      <p:sp>
        <p:nvSpPr>
          <p:cNvPr id="6" name="Text 3"/>
          <p:cNvSpPr txBox="1"/>
          <p:nvPr/>
        </p:nvSpPr>
        <p:spPr>
          <a:xfrm>
            <a:off x="548640" y="1554480"/>
            <a:ext cx="11064240" cy="192024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Authentication(출석부 확인)에서 Google 로그인 방법을 켠다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프로젝트 지원 이메일은 내 교사용 계정으로 선택</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순서: 화면에서 찾을 것 → 누를 것 → 확인할 것</a:t>
            </a:r>
            <a:endParaRPr lang="en-US" sz="2400" dirty="0"/>
          </a:p>
        </p:txBody>
      </p:sp>
      <p:sp>
        <p:nvSpPr>
          <p:cNvPr id="7" name="Text 4"/>
          <p:cNvSpPr/>
          <p:nvPr/>
        </p:nvSpPr>
        <p:spPr>
          <a:xfrm>
            <a:off x="548640" y="3749040"/>
            <a:ext cx="1615440" cy="1005840"/>
          </a:xfrm>
          <a:prstGeom prst="roundRect">
            <a:avLst>
              <a:gd name="adj" fmla="val 10909"/>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보안 &gt; Authentication</a:t>
            </a:r>
            <a:endParaRPr lang="en-US" sz="1600" dirty="0"/>
          </a:p>
        </p:txBody>
      </p:sp>
      <p:sp>
        <p:nvSpPr>
          <p:cNvPr id="8" name="Shape 5"/>
          <p:cNvSpPr/>
          <p:nvPr/>
        </p:nvSpPr>
        <p:spPr>
          <a:xfrm>
            <a:off x="2164080" y="410565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9" name="Text 6"/>
          <p:cNvSpPr/>
          <p:nvPr/>
        </p:nvSpPr>
        <p:spPr>
          <a:xfrm>
            <a:off x="2438400" y="3749040"/>
            <a:ext cx="1615440" cy="1005840"/>
          </a:xfrm>
          <a:prstGeom prst="roundRect">
            <a:avLst>
              <a:gd name="adj" fmla="val 10909"/>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시작하기</a:t>
            </a:r>
            <a:endParaRPr lang="en-US" sz="1600" dirty="0"/>
          </a:p>
        </p:txBody>
      </p:sp>
      <p:sp>
        <p:nvSpPr>
          <p:cNvPr id="10" name="Shape 7"/>
          <p:cNvSpPr/>
          <p:nvPr/>
        </p:nvSpPr>
        <p:spPr>
          <a:xfrm>
            <a:off x="4053840" y="410565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1" name="Text 8"/>
          <p:cNvSpPr/>
          <p:nvPr/>
        </p:nvSpPr>
        <p:spPr>
          <a:xfrm>
            <a:off x="4328160" y="3749040"/>
            <a:ext cx="1615440" cy="1005840"/>
          </a:xfrm>
          <a:prstGeom prst="roundRect">
            <a:avLst>
              <a:gd name="adj" fmla="val 10909"/>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로그인 방법 탭</a:t>
            </a:r>
            <a:endParaRPr lang="en-US" sz="1600" dirty="0"/>
          </a:p>
        </p:txBody>
      </p:sp>
      <p:sp>
        <p:nvSpPr>
          <p:cNvPr id="12" name="Shape 9"/>
          <p:cNvSpPr/>
          <p:nvPr/>
        </p:nvSpPr>
        <p:spPr>
          <a:xfrm>
            <a:off x="5943600" y="410565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3" name="Text 10"/>
          <p:cNvSpPr/>
          <p:nvPr/>
        </p:nvSpPr>
        <p:spPr>
          <a:xfrm>
            <a:off x="6217920" y="3749040"/>
            <a:ext cx="1615440" cy="1005840"/>
          </a:xfrm>
          <a:prstGeom prst="roundRect">
            <a:avLst>
              <a:gd name="adj" fmla="val 10909"/>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Google 선택</a:t>
            </a:r>
            <a:endParaRPr lang="en-US" sz="1600" dirty="0"/>
          </a:p>
        </p:txBody>
      </p:sp>
      <p:sp>
        <p:nvSpPr>
          <p:cNvPr id="14" name="Shape 11"/>
          <p:cNvSpPr/>
          <p:nvPr/>
        </p:nvSpPr>
        <p:spPr>
          <a:xfrm>
            <a:off x="7833360" y="410565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5" name="Text 12"/>
          <p:cNvSpPr/>
          <p:nvPr/>
        </p:nvSpPr>
        <p:spPr>
          <a:xfrm>
            <a:off x="8107680" y="3749040"/>
            <a:ext cx="1615440" cy="1005840"/>
          </a:xfrm>
          <a:prstGeom prst="roundRect">
            <a:avLst>
              <a:gd name="adj" fmla="val 10909"/>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사용 설정 + 지원 이메일</a:t>
            </a:r>
            <a:endParaRPr lang="en-US" sz="1600" dirty="0"/>
          </a:p>
        </p:txBody>
      </p:sp>
      <p:sp>
        <p:nvSpPr>
          <p:cNvPr id="16" name="Shape 13"/>
          <p:cNvSpPr/>
          <p:nvPr/>
        </p:nvSpPr>
        <p:spPr>
          <a:xfrm>
            <a:off x="9723120" y="410565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7" name="Text 14"/>
          <p:cNvSpPr/>
          <p:nvPr/>
        </p:nvSpPr>
        <p:spPr>
          <a:xfrm>
            <a:off x="9997440" y="3749040"/>
            <a:ext cx="1615440" cy="1005840"/>
          </a:xfrm>
          <a:prstGeom prst="roundRect">
            <a:avLst>
              <a:gd name="adj" fmla="val 10909"/>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저장</a:t>
            </a:r>
            <a:endParaRPr lang="en-US" sz="1600" dirty="0"/>
          </a:p>
        </p:txBody>
      </p:sp>
      <p:sp>
        <p:nvSpPr>
          <p:cNvPr id="18" name="Text 15"/>
          <p:cNvSpPr txBox="1"/>
          <p:nvPr/>
        </p:nvSpPr>
        <p:spPr>
          <a:xfrm>
            <a:off x="548640" y="5029200"/>
            <a:ext cx="11064240" cy="457200"/>
          </a:xfrm>
          <a:prstGeom prst="rect">
            <a:avLst/>
          </a:prstGeom>
          <a:noFill/>
          <a:ln/>
        </p:spPr>
        <p:txBody>
          <a:bodyPr wrap="square" lIns="0" tIns="0" rIns="0" bIns="0" rtlCol="0" anchor="ctr"/>
          <a:lstStyle/>
          <a:p>
            <a:pPr marL="0" indent="0">
              <a:buNone/>
            </a:pPr>
            <a:r>
              <a:rPr lang="en-US" sz="2000" b="1" dirty="0">
                <a:solidFill>
                  <a:srgbClr val="356E67"/>
                </a:solidFill>
                <a:latin typeface="Malgun Gothic" pitchFamily="34" charset="0"/>
                <a:ea typeface="Malgun Gothic" pitchFamily="34" charset="-122"/>
                <a:cs typeface="Malgun Gothic" pitchFamily="34" charset="-120"/>
              </a:rPr>
              <a:t>예상 결과: Google 줄이 "사용 설정됨"으로 보인다</a:t>
            </a:r>
            <a:endParaRPr lang="en-US" sz="2000" dirty="0"/>
          </a:p>
        </p:txBody>
      </p:sp>
      <p:sp>
        <p:nvSpPr>
          <p:cNvPr id="19" name="Text 16"/>
          <p:cNvSpPr txBox="1"/>
          <p:nvPr/>
        </p:nvSpPr>
        <p:spPr>
          <a:xfrm>
            <a:off x="548640" y="5852160"/>
            <a:ext cx="11064240" cy="457200"/>
          </a:xfrm>
          <a:prstGeom prst="rect">
            <a:avLst/>
          </a:prstGeom>
          <a:noFill/>
          <a:ln/>
        </p:spPr>
        <p:txBody>
          <a:bodyPr wrap="square" lIns="0" tIns="0" rIns="0" bIns="0" rtlCol="0" anchor="ctr"/>
          <a:lstStyle/>
          <a:p>
            <a:pPr marL="0" indent="0">
              <a:buNone/>
            </a:pPr>
            <a:r>
              <a:rPr lang="en-US" sz="1600" b="1" dirty="0">
                <a:solidFill>
                  <a:srgbClr val="B0402C"/>
                </a:solidFill>
                <a:latin typeface="Malgun Gothic" pitchFamily="34" charset="0"/>
                <a:ea typeface="Malgun Gothic" pitchFamily="34" charset="-122"/>
                <a:cs typeface="Malgun Gothic" pitchFamily="34" charset="-120"/>
              </a:rPr>
              <a:t>막힐 때  </a:t>
            </a:r>
            <a:r>
              <a:rPr lang="en-US" sz="1600" dirty="0">
                <a:solidFill>
                  <a:srgbClr val="2A2314"/>
                </a:solidFill>
                <a:latin typeface="Malgun Gothic" pitchFamily="34" charset="0"/>
                <a:ea typeface="Malgun Gothic" pitchFamily="34" charset="-122"/>
                <a:cs typeface="Malgun Gothic" pitchFamily="34" charset="-120"/>
              </a:rPr>
              <a:t>Google이 안 보이면 "새 제공업체 추가"에서 찾기. 지원 이메일 칸이 비면 계정 확인 후 새로고침</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2 · Firebase 설정 + 구글 로그인</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승인된 도메인에 localhost 추가</a:t>
            </a:r>
            <a:endParaRPr lang="en-US" sz="3600" dirty="0"/>
          </a:p>
        </p:txBody>
      </p:sp>
      <p:sp>
        <p:nvSpPr>
          <p:cNvPr id="6" name="Text 3"/>
          <p:cNvSpPr txBox="1"/>
          <p:nvPr/>
        </p:nvSpPr>
        <p:spPr>
          <a:xfrm>
            <a:off x="548640" y="1554480"/>
            <a:ext cx="11064240" cy="192024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승인된 도메인 = 로그인 창구를 쓸 수 있는 "허가받은 주소 목록"</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새 프로젝트에는 localhost가 기본으로 없다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"도메인 추가"로 localhost를 직접 넣는다</a:t>
            </a:r>
            <a:endParaRPr lang="en-US" sz="2400" dirty="0"/>
          </a:p>
        </p:txBody>
      </p:sp>
      <p:sp>
        <p:nvSpPr>
          <p:cNvPr id="7" name="Text 4"/>
          <p:cNvSpPr/>
          <p:nvPr/>
        </p:nvSpPr>
        <p:spPr>
          <a:xfrm>
            <a:off x="548640" y="3749040"/>
            <a:ext cx="1956816" cy="914400"/>
          </a:xfrm>
          <a:prstGeom prst="roundRect">
            <a:avLst>
              <a:gd name="adj" fmla="val 12000"/>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Authentication</a:t>
            </a:r>
            <a:endParaRPr lang="en-US" sz="1600" dirty="0"/>
          </a:p>
        </p:txBody>
      </p:sp>
      <p:sp>
        <p:nvSpPr>
          <p:cNvPr id="8" name="Shape 5"/>
          <p:cNvSpPr/>
          <p:nvPr/>
        </p:nvSpPr>
        <p:spPr>
          <a:xfrm>
            <a:off x="2528316" y="405993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9" name="Text 6"/>
          <p:cNvSpPr/>
          <p:nvPr/>
        </p:nvSpPr>
        <p:spPr>
          <a:xfrm>
            <a:off x="2825496" y="3749040"/>
            <a:ext cx="1956816" cy="914400"/>
          </a:xfrm>
          <a:prstGeom prst="roundRect">
            <a:avLst>
              <a:gd name="adj" fmla="val 12000"/>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설정 탭</a:t>
            </a:r>
            <a:endParaRPr lang="en-US" sz="1600" dirty="0"/>
          </a:p>
        </p:txBody>
      </p:sp>
      <p:sp>
        <p:nvSpPr>
          <p:cNvPr id="10" name="Shape 7"/>
          <p:cNvSpPr/>
          <p:nvPr/>
        </p:nvSpPr>
        <p:spPr>
          <a:xfrm>
            <a:off x="4805172" y="405993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1" name="Text 8"/>
          <p:cNvSpPr/>
          <p:nvPr/>
        </p:nvSpPr>
        <p:spPr>
          <a:xfrm>
            <a:off x="5102352" y="3749040"/>
            <a:ext cx="1956816" cy="914400"/>
          </a:xfrm>
          <a:prstGeom prst="roundRect">
            <a:avLst>
              <a:gd name="adj" fmla="val 12000"/>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승인된 도메인</a:t>
            </a:r>
            <a:endParaRPr lang="en-US" sz="1600" dirty="0"/>
          </a:p>
        </p:txBody>
      </p:sp>
      <p:sp>
        <p:nvSpPr>
          <p:cNvPr id="12" name="Shape 9"/>
          <p:cNvSpPr/>
          <p:nvPr/>
        </p:nvSpPr>
        <p:spPr>
          <a:xfrm>
            <a:off x="7082028" y="405993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3" name="Text 10"/>
          <p:cNvSpPr/>
          <p:nvPr/>
        </p:nvSpPr>
        <p:spPr>
          <a:xfrm>
            <a:off x="7379208" y="3749040"/>
            <a:ext cx="1956816" cy="914400"/>
          </a:xfrm>
          <a:prstGeom prst="roundRect">
            <a:avLst>
              <a:gd name="adj" fmla="val 12000"/>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도메인 추가</a:t>
            </a:r>
            <a:endParaRPr lang="en-US" sz="1600" dirty="0"/>
          </a:p>
        </p:txBody>
      </p:sp>
      <p:sp>
        <p:nvSpPr>
          <p:cNvPr id="14" name="Shape 11"/>
          <p:cNvSpPr/>
          <p:nvPr/>
        </p:nvSpPr>
        <p:spPr>
          <a:xfrm>
            <a:off x="9358884" y="405993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5" name="Text 12"/>
          <p:cNvSpPr/>
          <p:nvPr/>
        </p:nvSpPr>
        <p:spPr>
          <a:xfrm>
            <a:off x="9656064" y="3749040"/>
            <a:ext cx="1956816" cy="914400"/>
          </a:xfrm>
          <a:prstGeom prst="roundRect">
            <a:avLst>
              <a:gd name="adj" fmla="val 12000"/>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localhost 입력 후 추가</a:t>
            </a:r>
            <a:endParaRPr lang="en-US" sz="1600" dirty="0"/>
          </a:p>
        </p:txBody>
      </p:sp>
      <p:sp>
        <p:nvSpPr>
          <p:cNvPr id="16" name="Text 13"/>
          <p:cNvSpPr/>
          <p:nvPr/>
        </p:nvSpPr>
        <p:spPr>
          <a:xfrm>
            <a:off x="548640" y="4892040"/>
            <a:ext cx="11064240" cy="457200"/>
          </a:xfrm>
          <a:prstGeom prst="roundRect">
            <a:avLst>
              <a:gd name="adj" fmla="val 20000"/>
            </a:avLst>
          </a:prstGeom>
          <a:solidFill>
            <a:srgbClr val="FFFBF0"/>
          </a:solidFill>
          <a:ln w="25400">
            <a:solidFill>
              <a:srgbClr val="B0402C"/>
            </a:solidFill>
          </a:ln>
        </p:spPr>
        <p:txBody>
          <a:bodyPr wrap="square" lIns="76200" tIns="76200" rIns="76200" bIns="76200" rtlCol="0" anchor="ctr"/>
          <a:lstStyle/>
          <a:p>
            <a:pPr marL="0" indent="0" algn="ctr">
              <a:buNone/>
            </a:pPr>
            <a:r>
              <a:rPr lang="en-US" sz="1800" dirty="0">
                <a:solidFill>
                  <a:srgbClr val="2A2314"/>
                </a:solidFill>
                <a:latin typeface="Consolas" pitchFamily="34" charset="0"/>
                <a:ea typeface="Consolas" pitchFamily="34" charset="-122"/>
                <a:cs typeface="Consolas" pitchFamily="34" charset="-120"/>
              </a:rPr>
              <a:t>추가 후 목록: localhost, (프로젝트 주소).firebaseapp.com …</a:t>
            </a:r>
            <a:endParaRPr lang="en-US" sz="1800" dirty="0"/>
          </a:p>
        </p:txBody>
      </p:sp>
      <p:sp>
        <p:nvSpPr>
          <p:cNvPr id="17" name="Text 14"/>
          <p:cNvSpPr txBox="1"/>
          <p:nvPr/>
        </p:nvSpPr>
        <p:spPr>
          <a:xfrm>
            <a:off x="548640" y="5760720"/>
            <a:ext cx="11064240" cy="457200"/>
          </a:xfrm>
          <a:prstGeom prst="rect">
            <a:avLst/>
          </a:prstGeom>
          <a:noFill/>
          <a:ln/>
        </p:spPr>
        <p:txBody>
          <a:bodyPr wrap="square" lIns="0" tIns="0" rIns="0" bIns="0" rtlCol="0" anchor="ctr"/>
          <a:lstStyle/>
          <a:p>
            <a:pPr marL="0" indent="0">
              <a:buNone/>
            </a:pPr>
            <a:r>
              <a:rPr lang="en-US" sz="1600" b="1" dirty="0">
                <a:solidFill>
                  <a:srgbClr val="B0402C"/>
                </a:solidFill>
                <a:latin typeface="Malgun Gothic" pitchFamily="34" charset="0"/>
                <a:ea typeface="Malgun Gothic" pitchFamily="34" charset="-122"/>
                <a:cs typeface="Malgun Gothic" pitchFamily="34" charset="-120"/>
              </a:rPr>
              <a:t>막힐 때  </a:t>
            </a:r>
            <a:r>
              <a:rPr lang="en-US" sz="1600" dirty="0">
                <a:solidFill>
                  <a:srgbClr val="2A2314"/>
                </a:solidFill>
                <a:latin typeface="Malgun Gothic" pitchFamily="34" charset="0"/>
                <a:ea typeface="Malgun Gothic" pitchFamily="34" charset="-122"/>
                <a:cs typeface="Malgun Gothic" pitchFamily="34" charset="-120"/>
              </a:rPr>
              <a:t>나중에 auth/unauthorized-domain 오류가 나면 이 슬라이드로 돌아와 주소 목록을 본다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2 · Firebase 설정 + 구글 로그인</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Firestore 만들기와 임시 규칙</a:t>
            </a:r>
            <a:endParaRPr lang="en-US" sz="3600" dirty="0"/>
          </a:p>
        </p:txBody>
      </p:sp>
      <p:sp>
        <p:nvSpPr>
          <p:cNvPr id="6" name="Text 3"/>
          <p:cNvSpPr txBox="1"/>
          <p:nvPr/>
        </p:nvSpPr>
        <p:spPr>
          <a:xfrm>
            <a:off x="548640" y="1554480"/>
            <a:ext cx="11064240" cy="192024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Firestore(학급 서류함) 설치. 위치(리전)는 만든 뒤 못 바꾼다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모드는 테스트 모드가 아닌 잠금(프로덕션) 모드</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임시 규칙 = 강사가 준 firestore.temp.rules 통째로 복사</a:t>
            </a:r>
            <a:endParaRPr lang="en-US" sz="2400" dirty="0"/>
          </a:p>
        </p:txBody>
      </p:sp>
      <p:sp>
        <p:nvSpPr>
          <p:cNvPr id="7" name="Text 4"/>
          <p:cNvSpPr/>
          <p:nvPr/>
        </p:nvSpPr>
        <p:spPr>
          <a:xfrm>
            <a:off x="548640" y="3611880"/>
            <a:ext cx="2526030" cy="1005840"/>
          </a:xfrm>
          <a:prstGeom prst="roundRect">
            <a:avLst>
              <a:gd name="adj" fmla="val 10909"/>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데이터베이스 및 스토리지 &gt; Firestore</a:t>
            </a:r>
            <a:endParaRPr lang="en-US" sz="1600" dirty="0"/>
          </a:p>
        </p:txBody>
      </p:sp>
      <p:sp>
        <p:nvSpPr>
          <p:cNvPr id="8" name="Shape 5"/>
          <p:cNvSpPr/>
          <p:nvPr/>
        </p:nvSpPr>
        <p:spPr>
          <a:xfrm>
            <a:off x="3097530" y="396849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9" name="Text 6"/>
          <p:cNvSpPr/>
          <p:nvPr/>
        </p:nvSpPr>
        <p:spPr>
          <a:xfrm>
            <a:off x="3394710" y="3611880"/>
            <a:ext cx="2526030" cy="1005840"/>
          </a:xfrm>
          <a:prstGeom prst="roundRect">
            <a:avLst>
              <a:gd name="adj" fmla="val 10909"/>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데이터베이스 만들기</a:t>
            </a:r>
            <a:endParaRPr lang="en-US" sz="1600" dirty="0"/>
          </a:p>
        </p:txBody>
      </p:sp>
      <p:sp>
        <p:nvSpPr>
          <p:cNvPr id="10" name="Shape 7"/>
          <p:cNvSpPr/>
          <p:nvPr/>
        </p:nvSpPr>
        <p:spPr>
          <a:xfrm>
            <a:off x="5943600" y="396849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1" name="Text 8"/>
          <p:cNvSpPr/>
          <p:nvPr/>
        </p:nvSpPr>
        <p:spPr>
          <a:xfrm>
            <a:off x="6240780" y="3611880"/>
            <a:ext cx="2526030" cy="1005840"/>
          </a:xfrm>
          <a:prstGeom prst="roundRect">
            <a:avLst>
              <a:gd name="adj" fmla="val 10909"/>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위치 선택</a:t>
            </a:r>
            <a:endParaRPr lang="en-US" sz="1600" dirty="0"/>
          </a:p>
        </p:txBody>
      </p:sp>
      <p:sp>
        <p:nvSpPr>
          <p:cNvPr id="12" name="Shape 9"/>
          <p:cNvSpPr/>
          <p:nvPr/>
        </p:nvSpPr>
        <p:spPr>
          <a:xfrm>
            <a:off x="8789670" y="396849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3" name="Text 10"/>
          <p:cNvSpPr/>
          <p:nvPr/>
        </p:nvSpPr>
        <p:spPr>
          <a:xfrm>
            <a:off x="9086850" y="3611880"/>
            <a:ext cx="2526030" cy="1005840"/>
          </a:xfrm>
          <a:prstGeom prst="roundRect">
            <a:avLst>
              <a:gd name="adj" fmla="val 10909"/>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잠금(프로덕션) 모드 → 만들기</a:t>
            </a:r>
            <a:endParaRPr lang="en-US" sz="1600" dirty="0"/>
          </a:p>
        </p:txBody>
      </p:sp>
      <p:sp>
        <p:nvSpPr>
          <p:cNvPr id="14" name="Text 11"/>
          <p:cNvSpPr/>
          <p:nvPr/>
        </p:nvSpPr>
        <p:spPr>
          <a:xfrm>
            <a:off x="548640" y="4846320"/>
            <a:ext cx="3444240" cy="868680"/>
          </a:xfrm>
          <a:prstGeom prst="roundRect">
            <a:avLst>
              <a:gd name="adj" fmla="val 12632"/>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규칙 탭 열기</a:t>
            </a:r>
            <a:endParaRPr lang="en-US" sz="1600" dirty="0"/>
          </a:p>
        </p:txBody>
      </p:sp>
      <p:sp>
        <p:nvSpPr>
          <p:cNvPr id="15" name="Shape 12"/>
          <p:cNvSpPr/>
          <p:nvPr/>
        </p:nvSpPr>
        <p:spPr>
          <a:xfrm>
            <a:off x="4038600" y="513435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6" name="Text 13"/>
          <p:cNvSpPr/>
          <p:nvPr/>
        </p:nvSpPr>
        <p:spPr>
          <a:xfrm>
            <a:off x="4358640" y="4846320"/>
            <a:ext cx="3444240" cy="868680"/>
          </a:xfrm>
          <a:prstGeom prst="roundRect">
            <a:avLst>
              <a:gd name="adj" fmla="val 12632"/>
            </a:avLst>
          </a:prstGeom>
          <a:solidFill>
            <a:srgbClr val="FFF1CC"/>
          </a:solidFill>
          <a:ln w="25400">
            <a:solidFill>
              <a:srgbClr val="C9A24A"/>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강사 파일 firestore.temp.rules 내용 붙여넣기</a:t>
            </a:r>
            <a:endParaRPr lang="en-US" sz="1600" dirty="0"/>
          </a:p>
        </p:txBody>
      </p:sp>
      <p:sp>
        <p:nvSpPr>
          <p:cNvPr id="17" name="Shape 14"/>
          <p:cNvSpPr/>
          <p:nvPr/>
        </p:nvSpPr>
        <p:spPr>
          <a:xfrm>
            <a:off x="7848600" y="513435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8" name="Text 15"/>
          <p:cNvSpPr/>
          <p:nvPr/>
        </p:nvSpPr>
        <p:spPr>
          <a:xfrm>
            <a:off x="8168640" y="4846320"/>
            <a:ext cx="3444240" cy="868680"/>
          </a:xfrm>
          <a:prstGeom prst="roundRect">
            <a:avLst>
              <a:gd name="adj" fmla="val 12632"/>
            </a:avLst>
          </a:prstGeom>
          <a:solidFill>
            <a:srgbClr val="DCE9E5"/>
          </a:solidFill>
          <a:ln w="25400">
            <a:solidFill>
              <a:srgbClr val="356E67"/>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게시(Publish)</a:t>
            </a:r>
            <a:endParaRPr lang="en-US" sz="1600" dirty="0"/>
          </a:p>
        </p:txBody>
      </p:sp>
      <p:sp>
        <p:nvSpPr>
          <p:cNvPr id="19" name="Text 16"/>
          <p:cNvSpPr txBox="1"/>
          <p:nvPr/>
        </p:nvSpPr>
        <p:spPr>
          <a:xfrm>
            <a:off x="548640" y="5852160"/>
            <a:ext cx="11064240" cy="457200"/>
          </a:xfrm>
          <a:prstGeom prst="rect">
            <a:avLst/>
          </a:prstGeom>
          <a:noFill/>
          <a:ln/>
        </p:spPr>
        <p:txBody>
          <a:bodyPr wrap="square" lIns="0" tIns="0" rIns="0" bIns="0" rtlCol="0" anchor="ctr"/>
          <a:lstStyle/>
          <a:p>
            <a:pPr marL="0" indent="0">
              <a:buNone/>
            </a:pPr>
            <a:r>
              <a:rPr lang="en-US" sz="1800" b="1" dirty="0">
                <a:solidFill>
                  <a:srgbClr val="B0402C"/>
                </a:solidFill>
                <a:latin typeface="Malgun Gothic" pitchFamily="34" charset="0"/>
                <a:ea typeface="Malgun Gothic" pitchFamily="34" charset="-122"/>
                <a:cs typeface="Malgun Gothic" pitchFamily="34" charset="-120"/>
              </a:rPr>
              <a:t>테스트 모드는 선택하지 않는다 · 규칙 전문은 발표자 노트(부록 A)와 배포 파일</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2 · Firebase 설정 + 구글 로그인</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설정값을 프로젝트에 저장</a:t>
            </a:r>
            <a:endParaRPr lang="en-US" sz="3600" dirty="0"/>
          </a:p>
        </p:txBody>
      </p:sp>
      <p:sp>
        <p:nvSpPr>
          <p:cNvPr id="6" name="Text 3"/>
          <p:cNvSpPr txBox="1"/>
          <p:nvPr/>
        </p:nvSpPr>
        <p:spPr>
          <a:xfrm>
            <a:off x="548640" y="1554480"/>
            <a:ext cx="11064240" cy="182880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메모장의 firebaseConfig를 Claude Code에게 전달해 저장</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한 파일(firebase-config.js)에 모아 두고 재사용</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코드는 읽지 않고 붙여넣기 → 확인만</a:t>
            </a:r>
            <a:endParaRPr lang="en-US" sz="2400" dirty="0"/>
          </a:p>
        </p:txBody>
      </p:sp>
      <p:sp>
        <p:nvSpPr>
          <p:cNvPr id="7" name="Text 4"/>
          <p:cNvSpPr/>
          <p:nvPr/>
        </p:nvSpPr>
        <p:spPr>
          <a:xfrm>
            <a:off x="548640" y="3474720"/>
            <a:ext cx="3322320" cy="777240"/>
          </a:xfrm>
          <a:prstGeom prst="roundRect">
            <a:avLst>
              <a:gd name="adj" fmla="val 14118"/>
            </a:avLst>
          </a:prstGeom>
          <a:solidFill>
            <a:srgbClr val="FFFBF0"/>
          </a:solidFill>
          <a:ln w="15875">
            <a:solidFill>
              <a:srgbClr val="D9CDB0"/>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메모장의 firebaseConfig</a:t>
            </a:r>
            <a:endParaRPr lang="en-US" sz="1800" dirty="0"/>
          </a:p>
        </p:txBody>
      </p:sp>
      <p:sp>
        <p:nvSpPr>
          <p:cNvPr id="8" name="Shape 5"/>
          <p:cNvSpPr/>
          <p:nvPr/>
        </p:nvSpPr>
        <p:spPr>
          <a:xfrm>
            <a:off x="4008120" y="371703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9" name="Text 6"/>
          <p:cNvSpPr/>
          <p:nvPr/>
        </p:nvSpPr>
        <p:spPr>
          <a:xfrm>
            <a:off x="4419600" y="3474720"/>
            <a:ext cx="3322320" cy="777240"/>
          </a:xfrm>
          <a:prstGeom prst="roundRect">
            <a:avLst>
              <a:gd name="adj" fmla="val 14118"/>
            </a:avLst>
          </a:prstGeom>
          <a:solidFill>
            <a:srgbClr val="FFFBF0"/>
          </a:solidFill>
          <a:ln w="15875">
            <a:solidFill>
              <a:srgbClr val="D9CDB0"/>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Claude Code에 붙여넣기</a:t>
            </a:r>
            <a:endParaRPr lang="en-US" sz="1800" dirty="0"/>
          </a:p>
        </p:txBody>
      </p:sp>
      <p:sp>
        <p:nvSpPr>
          <p:cNvPr id="10" name="Shape 7"/>
          <p:cNvSpPr/>
          <p:nvPr/>
        </p:nvSpPr>
        <p:spPr>
          <a:xfrm>
            <a:off x="7879080" y="371703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1" name="Text 8"/>
          <p:cNvSpPr/>
          <p:nvPr/>
        </p:nvSpPr>
        <p:spPr>
          <a:xfrm>
            <a:off x="8290560" y="3474720"/>
            <a:ext cx="3322320" cy="777240"/>
          </a:xfrm>
          <a:prstGeom prst="roundRect">
            <a:avLst>
              <a:gd name="adj" fmla="val 14118"/>
            </a:avLst>
          </a:prstGeom>
          <a:solidFill>
            <a:srgbClr val="FFFBF0"/>
          </a:solidFill>
          <a:ln w="15875">
            <a:solidFill>
              <a:srgbClr val="D9CDB0"/>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폴더에 firebase-config.js 생성</a:t>
            </a:r>
            <a:endParaRPr lang="en-US" sz="1800" dirty="0"/>
          </a:p>
        </p:txBody>
      </p:sp>
      <p:sp>
        <p:nvSpPr>
          <p:cNvPr id="12" name="Text 9"/>
          <p:cNvSpPr txBox="1"/>
          <p:nvPr/>
        </p:nvSpPr>
        <p:spPr>
          <a:xfrm>
            <a:off x="548640" y="4279392"/>
            <a:ext cx="11064240" cy="274320"/>
          </a:xfrm>
          <a:prstGeom prst="rect">
            <a:avLst/>
          </a:prstGeom>
          <a:noFill/>
          <a:ln/>
        </p:spPr>
        <p:txBody>
          <a:bodyPr wrap="square" lIns="0" tIns="0" rIns="0" bIns="0" rtlCol="0" anchor="ctr"/>
          <a:lstStyle/>
          <a:p>
            <a:pPr marL="0" indent="0">
              <a:buNone/>
            </a:pPr>
            <a:r>
              <a:rPr lang="en-US" sz="1400" dirty="0">
                <a:solidFill>
                  <a:srgbClr val="6B5E45"/>
                </a:solidFill>
                <a:latin typeface="Malgun Gothic" pitchFamily="34" charset="0"/>
                <a:ea typeface="Malgun Gothic" pitchFamily="34" charset="-122"/>
                <a:cs typeface="Malgun Gothic" pitchFamily="34" charset="-120"/>
              </a:rPr>
              <a:t>프롬프트 핵심 (전문은 발표자 노트)</a:t>
            </a:r>
            <a:endParaRPr lang="en-US" sz="1400" dirty="0"/>
          </a:p>
        </p:txBody>
      </p:sp>
      <p:sp>
        <p:nvSpPr>
          <p:cNvPr id="13" name="Shape 10"/>
          <p:cNvSpPr/>
          <p:nvPr/>
        </p:nvSpPr>
        <p:spPr>
          <a:xfrm>
            <a:off x="548640" y="4572000"/>
            <a:ext cx="11064240" cy="1417320"/>
          </a:xfrm>
          <a:prstGeom prst="roundRect">
            <a:avLst>
              <a:gd name="adj" fmla="val 6452"/>
            </a:avLst>
          </a:prstGeom>
          <a:solidFill>
            <a:srgbClr val="2A2314"/>
          </a:solidFill>
          <a:ln w="12700">
            <a:solidFill>
              <a:srgbClr val="2A2314"/>
            </a:solidFill>
            <a:prstDash val="solid"/>
          </a:ln>
        </p:spPr>
        <p:txBody>
          <a:bodyPr/>
          <a:lstStyle/>
          <a:p>
            <a:endParaRPr lang="ko-KR" altLang="en-US"/>
          </a:p>
        </p:txBody>
      </p:sp>
      <p:sp>
        <p:nvSpPr>
          <p:cNvPr id="14" name="Text 11"/>
          <p:cNvSpPr txBox="1"/>
          <p:nvPr/>
        </p:nvSpPr>
        <p:spPr>
          <a:xfrm>
            <a:off x="731520" y="4663440"/>
            <a:ext cx="10698480" cy="1234440"/>
          </a:xfrm>
          <a:prstGeom prst="rect">
            <a:avLst/>
          </a:prstGeom>
          <a:noFill/>
          <a:ln/>
        </p:spPr>
        <p:txBody>
          <a:bodyPr wrap="square" lIns="0" tIns="0" rIns="0" bIns="0" rtlCol="0" anchor="t"/>
          <a:lstStyle/>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firebase-config.js 파일을 만들어 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아래 firebaseConfig를 export const firebaseConfig = { ... } 형태로 저장</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값은 글자 하나도 바꾸지 말고 그대로. 다른 파일은 만들거나 바꾸지 마</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코드를 설명하지 말고, 파일 이름과 위치만 알려 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(여기에 슬라이드 9에서 복사한 firebaseConfig 블록 붙여넣기)</a:t>
            </a:r>
            <a:endParaRPr lang="en-US" sz="1500" dirty="0"/>
          </a:p>
        </p:txBody>
      </p:sp>
      <p:sp>
        <p:nvSpPr>
          <p:cNvPr id="15" name="Text 12"/>
          <p:cNvSpPr txBox="1"/>
          <p:nvPr/>
        </p:nvSpPr>
        <p:spPr>
          <a:xfrm>
            <a:off x="548640" y="6035040"/>
            <a:ext cx="11064240" cy="457200"/>
          </a:xfrm>
          <a:prstGeom prst="rect">
            <a:avLst/>
          </a:prstGeom>
          <a:noFill/>
          <a:ln/>
        </p:spPr>
        <p:txBody>
          <a:bodyPr wrap="square" lIns="0" tIns="0" rIns="0" bIns="0" rtlCol="0" anchor="ctr"/>
          <a:lstStyle/>
          <a:p>
            <a:pPr marL="0" indent="0">
              <a:buNone/>
            </a:pPr>
            <a:r>
              <a:rPr lang="en-US" sz="1600" b="1" dirty="0">
                <a:solidFill>
                  <a:srgbClr val="B0402C"/>
                </a:solidFill>
                <a:latin typeface="Malgun Gothic" pitchFamily="34" charset="0"/>
                <a:ea typeface="Malgun Gothic" pitchFamily="34" charset="-122"/>
                <a:cs typeface="Malgun Gothic" pitchFamily="34" charset="-120"/>
              </a:rPr>
              <a:t>막힐 때  </a:t>
            </a:r>
            <a:r>
              <a:rPr lang="en-US" sz="1600" dirty="0">
                <a:solidFill>
                  <a:srgbClr val="2A2314"/>
                </a:solidFill>
                <a:latin typeface="Malgun Gothic" pitchFamily="34" charset="0"/>
                <a:ea typeface="Malgun Gothic" pitchFamily="34" charset="-122"/>
                <a:cs typeface="Malgun Gothic" pitchFamily="34" charset="-120"/>
              </a:rPr>
              <a:t>다른 파일까지 바뀌었다면 "방금 바꾼 다른 파일은 원래대로 되돌려 줘"</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2 · Firebase 설정 + 구글 로그인</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프롬프트 1: 로그인/로그아웃 버튼</a:t>
            </a:r>
            <a:endParaRPr lang="en-US" sz="3600" dirty="0"/>
          </a:p>
        </p:txBody>
      </p:sp>
      <p:sp>
        <p:nvSpPr>
          <p:cNvPr id="6" name="Text 3"/>
          <p:cNvSpPr txBox="1"/>
          <p:nvPr/>
        </p:nvSpPr>
        <p:spPr>
          <a:xfrm>
            <a:off x="548640" y="1508760"/>
            <a:ext cx="11064240" cy="118872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firebase-config.js를 app.js가 불러와 Firebase를 시작한다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구글 로그인 버튼, 로그아웃 버튼, 이름 표시</a:t>
            </a:r>
            <a:endParaRPr lang="en-US" sz="2400" dirty="0"/>
          </a:p>
        </p:txBody>
      </p:sp>
      <p:sp>
        <p:nvSpPr>
          <p:cNvPr id="7" name="Text 4"/>
          <p:cNvSpPr/>
          <p:nvPr/>
        </p:nvSpPr>
        <p:spPr>
          <a:xfrm>
            <a:off x="548640" y="2606040"/>
            <a:ext cx="2377440" cy="731520"/>
          </a:xfrm>
          <a:prstGeom prst="roundRect">
            <a:avLst>
              <a:gd name="adj" fmla="val 15000"/>
            </a:avLst>
          </a:prstGeom>
          <a:solidFill>
            <a:srgbClr val="FFFBF0"/>
          </a:solidFill>
          <a:ln w="25400">
            <a:solidFill>
              <a:srgbClr val="2A2314"/>
            </a:solidFill>
          </a:ln>
        </p:spPr>
        <p:txBody>
          <a:bodyPr wrap="square" lIns="76200" tIns="76200" rIns="76200" bIns="76200" rtlCol="0" anchor="ctr"/>
          <a:lstStyle/>
          <a:p>
            <a:pPr marL="0" indent="0" algn="ctr">
              <a:buNone/>
            </a:pPr>
            <a:r>
              <a:rPr lang="en-US" sz="1800" b="1" dirty="0">
                <a:solidFill>
                  <a:srgbClr val="2A2314"/>
                </a:solidFill>
                <a:latin typeface="Malgun Gothic" pitchFamily="34" charset="0"/>
                <a:ea typeface="Malgun Gothic" pitchFamily="34" charset="-122"/>
                <a:cs typeface="Malgun Gothic" pitchFamily="34" charset="-120"/>
              </a:rPr>
              <a:t>[ 구글로 로그인 ]</a:t>
            </a:r>
            <a:endParaRPr lang="en-US" sz="1800" dirty="0"/>
          </a:p>
        </p:txBody>
      </p:sp>
      <p:sp>
        <p:nvSpPr>
          <p:cNvPr id="8" name="Shape 5"/>
          <p:cNvSpPr/>
          <p:nvPr/>
        </p:nvSpPr>
        <p:spPr>
          <a:xfrm>
            <a:off x="3063240" y="2825496"/>
            <a:ext cx="274320" cy="292608"/>
          </a:xfrm>
          <a:prstGeom prst="rightArrow">
            <a:avLst/>
          </a:prstGeom>
          <a:solidFill>
            <a:srgbClr val="B0402C"/>
          </a:solidFill>
          <a:ln w="12700">
            <a:solidFill>
              <a:srgbClr val="B0402C"/>
            </a:solidFill>
            <a:prstDash val="solid"/>
          </a:ln>
        </p:spPr>
        <p:txBody>
          <a:bodyPr/>
          <a:lstStyle/>
          <a:p>
            <a:endParaRPr lang="ko-KR" altLang="en-US"/>
          </a:p>
        </p:txBody>
      </p:sp>
      <p:sp>
        <p:nvSpPr>
          <p:cNvPr id="9" name="Text 6"/>
          <p:cNvSpPr/>
          <p:nvPr/>
        </p:nvSpPr>
        <p:spPr>
          <a:xfrm>
            <a:off x="3474720" y="2560320"/>
            <a:ext cx="2926080" cy="822960"/>
          </a:xfrm>
          <a:prstGeom prst="roundRect">
            <a:avLst>
              <a:gd name="adj" fmla="val 13333"/>
            </a:avLst>
          </a:prstGeom>
          <a:solidFill>
            <a:srgbClr val="FFFBF0"/>
          </a:solidFill>
          <a:ln w="25400">
            <a:solidFill>
              <a:srgbClr val="2A2314"/>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OOO 선생님 환영합니다</a:t>
            </a:r>
            <a:endParaRPr lang="en-US" sz="1600" dirty="0"/>
          </a:p>
          <a:p>
            <a:pPr marL="0" indent="0" algn="ctr">
              <a:buNone/>
            </a:pPr>
            <a:r>
              <a:rPr lang="en-US" sz="1600" dirty="0">
                <a:solidFill>
                  <a:srgbClr val="2A2314"/>
                </a:solidFill>
                <a:latin typeface="Malgun Gothic" pitchFamily="34" charset="0"/>
                <a:ea typeface="Malgun Gothic" pitchFamily="34" charset="-122"/>
                <a:cs typeface="Malgun Gothic" pitchFamily="34" charset="-120"/>
              </a:rPr>
              <a:t>[ 로그아웃 ]</a:t>
            </a:r>
            <a:endParaRPr lang="en-US" sz="1600" dirty="0"/>
          </a:p>
        </p:txBody>
      </p:sp>
      <p:sp>
        <p:nvSpPr>
          <p:cNvPr id="10" name="Text 7"/>
          <p:cNvSpPr txBox="1"/>
          <p:nvPr/>
        </p:nvSpPr>
        <p:spPr>
          <a:xfrm>
            <a:off x="548640" y="3547872"/>
            <a:ext cx="11064240" cy="274320"/>
          </a:xfrm>
          <a:prstGeom prst="rect">
            <a:avLst/>
          </a:prstGeom>
          <a:noFill/>
          <a:ln/>
        </p:spPr>
        <p:txBody>
          <a:bodyPr wrap="square" lIns="0" tIns="0" rIns="0" bIns="0" rtlCol="0" anchor="ctr"/>
          <a:lstStyle/>
          <a:p>
            <a:pPr marL="0" indent="0">
              <a:buNone/>
            </a:pPr>
            <a:r>
              <a:rPr lang="en-US" sz="1400" dirty="0">
                <a:solidFill>
                  <a:srgbClr val="6B5E45"/>
                </a:solidFill>
                <a:latin typeface="Malgun Gothic" pitchFamily="34" charset="0"/>
                <a:ea typeface="Malgun Gothic" pitchFamily="34" charset="-122"/>
                <a:cs typeface="Malgun Gothic" pitchFamily="34" charset="-120"/>
              </a:rPr>
              <a:t>프롬프트 핵심 (전문은 발표자 노트)</a:t>
            </a:r>
            <a:endParaRPr lang="en-US" sz="1400" dirty="0"/>
          </a:p>
        </p:txBody>
      </p:sp>
      <p:sp>
        <p:nvSpPr>
          <p:cNvPr id="11" name="Shape 8"/>
          <p:cNvSpPr/>
          <p:nvPr/>
        </p:nvSpPr>
        <p:spPr>
          <a:xfrm>
            <a:off x="548640" y="3840480"/>
            <a:ext cx="11064240" cy="1965960"/>
          </a:xfrm>
          <a:prstGeom prst="roundRect">
            <a:avLst>
              <a:gd name="adj" fmla="val 4651"/>
            </a:avLst>
          </a:prstGeom>
          <a:solidFill>
            <a:srgbClr val="2A2314"/>
          </a:solidFill>
          <a:ln w="12700">
            <a:solidFill>
              <a:srgbClr val="2A2314"/>
            </a:solidFill>
            <a:prstDash val="solid"/>
          </a:ln>
        </p:spPr>
        <p:txBody>
          <a:bodyPr/>
          <a:lstStyle/>
          <a:p>
            <a:endParaRPr lang="ko-KR" altLang="en-US"/>
          </a:p>
        </p:txBody>
      </p:sp>
      <p:sp>
        <p:nvSpPr>
          <p:cNvPr id="12" name="Text 9"/>
          <p:cNvSpPr txBox="1"/>
          <p:nvPr/>
        </p:nvSpPr>
        <p:spPr>
          <a:xfrm>
            <a:off x="731520" y="3931920"/>
            <a:ext cx="10698480" cy="1783080"/>
          </a:xfrm>
          <a:prstGeom prst="rect">
            <a:avLst/>
          </a:prstGeom>
          <a:noFill/>
          <a:ln/>
        </p:spPr>
        <p:txBody>
          <a:bodyPr wrap="square" lIns="0" tIns="0" rIns="0" bIns="0" rtlCol="0" anchor="t"/>
          <a:lstStyle/>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index.html을 Firebase 구글 로그인 페이지로 바꿔 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파일 4개: index.html, style.css, app.js, firebase-config.js(그대로 사용)</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SDK는 CDN 모듈 방식: gstatic.com/firebasejs/12.19.0/ 아래 app·auth·firestore</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"구글로 로그인" → 구글 팝업 로그인, 로그인하면 이름+로그아웃 표시</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새로고침해도 로그인 유지, 글씨는 크게, 배경은 크림색(#f8f2e4)</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끝나면 localhost로 여는 명령 한 줄과 접속 주소만 알려 줘</a:t>
            </a:r>
            <a:endParaRPr lang="en-US" sz="1500" dirty="0"/>
          </a:p>
        </p:txBody>
      </p:sp>
      <p:sp>
        <p:nvSpPr>
          <p:cNvPr id="13" name="Text 10"/>
          <p:cNvSpPr txBox="1"/>
          <p:nvPr/>
        </p:nvSpPr>
        <p:spPr>
          <a:xfrm>
            <a:off x="6766560" y="2606040"/>
            <a:ext cx="4846320" cy="640080"/>
          </a:xfrm>
          <a:prstGeom prst="rect">
            <a:avLst/>
          </a:prstGeom>
          <a:noFill/>
          <a:ln/>
        </p:spPr>
        <p:txBody>
          <a:bodyPr wrap="square" lIns="0" tIns="0" rIns="0" bIns="0" rtlCol="0" anchor="ctr"/>
          <a:lstStyle/>
          <a:p>
            <a:pPr marL="0" indent="0">
              <a:buNone/>
            </a:pPr>
            <a:r>
              <a:rPr lang="en-US" sz="1800" b="1" dirty="0">
                <a:solidFill>
                  <a:srgbClr val="B0402C"/>
                </a:solidFill>
                <a:latin typeface="Malgun Gothic" pitchFamily="34" charset="0"/>
                <a:ea typeface="Malgun Gothic" pitchFamily="34" charset="-122"/>
                <a:cs typeface="Malgun Gothic" pitchFamily="34" charset="-120"/>
              </a:rPr>
              <a:t>file:// 로 열지 말고 localhost 주소로 열기</a:t>
            </a:r>
            <a:endParaRPr lang="en-US" sz="1800" dirty="0"/>
          </a:p>
        </p:txBody>
      </p:sp>
      <p:sp>
        <p:nvSpPr>
          <p:cNvPr id="14" name="Text 11"/>
          <p:cNvSpPr txBox="1"/>
          <p:nvPr/>
        </p:nvSpPr>
        <p:spPr>
          <a:xfrm>
            <a:off x="548640" y="5943600"/>
            <a:ext cx="11064240" cy="457200"/>
          </a:xfrm>
          <a:prstGeom prst="rect">
            <a:avLst/>
          </a:prstGeom>
          <a:noFill/>
          <a:ln/>
        </p:spPr>
        <p:txBody>
          <a:bodyPr wrap="square" lIns="0" tIns="0" rIns="0" bIns="0" rtlCol="0" anchor="ctr"/>
          <a:lstStyle/>
          <a:p>
            <a:pPr marL="0" indent="0">
              <a:buNone/>
            </a:pPr>
            <a:r>
              <a:rPr lang="en-US" sz="1600" b="1" dirty="0">
                <a:solidFill>
                  <a:srgbClr val="B0402C"/>
                </a:solidFill>
                <a:latin typeface="Malgun Gothic" pitchFamily="34" charset="0"/>
                <a:ea typeface="Malgun Gothic" pitchFamily="34" charset="-122"/>
                <a:cs typeface="Malgun Gothic" pitchFamily="34" charset="-120"/>
              </a:rPr>
              <a:t>막힐 때  </a:t>
            </a:r>
            <a:r>
              <a:rPr lang="en-US" sz="1600" dirty="0">
                <a:solidFill>
                  <a:srgbClr val="2A2314"/>
                </a:solidFill>
                <a:latin typeface="Malgun Gothic" pitchFamily="34" charset="0"/>
                <a:ea typeface="Malgun Gothic" pitchFamily="34" charset="-122"/>
                <a:cs typeface="Malgun Gothic" pitchFamily="34" charset="-120"/>
              </a:rPr>
              <a:t>팝업이 안 뜨면 주소창 오른쪽 "팝업 차단됨"을 눌러 허용. 빨간 오류는 그대로 붙여넣기</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2 · Firebase 설정 + 구글 로그인</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프롬프트 2: users 문서와 역할 선택</a:t>
            </a:r>
            <a:endParaRPr lang="en-US" sz="3600" dirty="0"/>
          </a:p>
        </p:txBody>
      </p:sp>
      <p:sp>
        <p:nvSpPr>
          <p:cNvPr id="6" name="Text 3"/>
          <p:cNvSpPr txBox="1"/>
          <p:nvPr/>
        </p:nvSpPr>
        <p:spPr>
          <a:xfrm>
            <a:off x="548640" y="1508760"/>
            <a:ext cx="11064240" cy="118872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처음 로그인하면 users/{uid} 문서를 만든다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역할(교사/학생)은 처음 한 번만 고른다 → 화면을 나누는 용도</a:t>
            </a:r>
            <a:endParaRPr lang="en-US" sz="2400" dirty="0"/>
          </a:p>
        </p:txBody>
      </p:sp>
      <p:sp>
        <p:nvSpPr>
          <p:cNvPr id="7" name="Text 4"/>
          <p:cNvSpPr/>
          <p:nvPr/>
        </p:nvSpPr>
        <p:spPr>
          <a:xfrm>
            <a:off x="548640" y="2743200"/>
            <a:ext cx="2834640" cy="1417320"/>
          </a:xfrm>
          <a:prstGeom prst="roundRect">
            <a:avLst>
              <a:gd name="adj" fmla="val 7742"/>
            </a:avLst>
          </a:prstGeom>
          <a:solidFill>
            <a:srgbClr val="FFFBF0"/>
          </a:solidFill>
          <a:ln w="25400">
            <a:solidFill>
              <a:srgbClr val="356E67"/>
            </a:solidFill>
          </a:ln>
        </p:spPr>
        <p:txBody>
          <a:bodyPr wrap="square" lIns="76200" tIns="76200" rIns="76200" bIns="76200" rtlCol="0" anchor="ctr"/>
          <a:lstStyle/>
          <a:p>
            <a:pPr marL="0" indent="0" algn="l">
              <a:buNone/>
            </a:pPr>
            <a:endParaRPr lang="en-US" sz="1800" dirty="0"/>
          </a:p>
        </p:txBody>
      </p:sp>
      <p:sp>
        <p:nvSpPr>
          <p:cNvPr id="8" name="Text 5"/>
          <p:cNvSpPr txBox="1"/>
          <p:nvPr/>
        </p:nvSpPr>
        <p:spPr>
          <a:xfrm>
            <a:off x="731520" y="2807208"/>
            <a:ext cx="2560320" cy="1280160"/>
          </a:xfrm>
          <a:prstGeom prst="rect">
            <a:avLst/>
          </a:prstGeom>
          <a:noFill/>
          <a:ln/>
        </p:spPr>
        <p:txBody>
          <a:bodyPr wrap="square" lIns="0" tIns="0" rIns="0" bIns="0" rtlCol="0" anchor="ctr"/>
          <a:lstStyle/>
          <a:p>
            <a:pPr marL="0" indent="0">
              <a:buNone/>
            </a:pPr>
            <a:r>
              <a:rPr lang="en-US" sz="1600" b="1" dirty="0">
                <a:solidFill>
                  <a:srgbClr val="356E67"/>
                </a:solidFill>
                <a:latin typeface="Consolas" pitchFamily="34" charset="0"/>
                <a:ea typeface="Consolas" pitchFamily="34" charset="-122"/>
                <a:cs typeface="Consolas" pitchFamily="34" charset="-120"/>
              </a:rPr>
              <a:t>users/{uid}</a:t>
            </a:r>
            <a:endParaRPr lang="en-US" sz="1600" dirty="0"/>
          </a:p>
          <a:p>
            <a:pPr marL="0" indent="0">
              <a:buNone/>
            </a:pPr>
            <a:r>
              <a:rPr lang="en-US" sz="1600" dirty="0">
                <a:solidFill>
                  <a:srgbClr val="2A2314"/>
                </a:solidFill>
                <a:latin typeface="Consolas" pitchFamily="34" charset="0"/>
                <a:ea typeface="Consolas" pitchFamily="34" charset="-122"/>
                <a:cs typeface="Consolas" pitchFamily="34" charset="-120"/>
              </a:rPr>
              <a:t>name</a:t>
            </a:r>
            <a:endParaRPr lang="en-US" sz="1600" dirty="0"/>
          </a:p>
          <a:p>
            <a:pPr marL="0" indent="0">
              <a:buNone/>
            </a:pPr>
            <a:r>
              <a:rPr lang="en-US" sz="1600" dirty="0">
                <a:solidFill>
                  <a:srgbClr val="2A2314"/>
                </a:solidFill>
                <a:latin typeface="Consolas" pitchFamily="34" charset="0"/>
                <a:ea typeface="Consolas" pitchFamily="34" charset="-122"/>
                <a:cs typeface="Consolas" pitchFamily="34" charset="-120"/>
              </a:rPr>
              <a:t>email</a:t>
            </a:r>
            <a:endParaRPr lang="en-US" sz="1600" dirty="0"/>
          </a:p>
          <a:p>
            <a:pPr marL="0" indent="0">
              <a:buNone/>
            </a:pPr>
            <a:r>
              <a:rPr lang="en-US" sz="1600" dirty="0">
                <a:solidFill>
                  <a:srgbClr val="2A2314"/>
                </a:solidFill>
                <a:latin typeface="Consolas" pitchFamily="34" charset="0"/>
                <a:ea typeface="Consolas" pitchFamily="34" charset="-122"/>
                <a:cs typeface="Consolas" pitchFamily="34" charset="-120"/>
              </a:rPr>
              <a:t>role</a:t>
            </a:r>
            <a:endParaRPr lang="en-US" sz="1600" dirty="0"/>
          </a:p>
        </p:txBody>
      </p:sp>
      <p:sp>
        <p:nvSpPr>
          <p:cNvPr id="9" name="Text 6"/>
          <p:cNvSpPr/>
          <p:nvPr/>
        </p:nvSpPr>
        <p:spPr>
          <a:xfrm>
            <a:off x="3657600" y="2880360"/>
            <a:ext cx="1748790" cy="1005840"/>
          </a:xfrm>
          <a:prstGeom prst="roundRect">
            <a:avLst>
              <a:gd name="adj" fmla="val 10909"/>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처음 로그인</a:t>
            </a:r>
            <a:endParaRPr lang="en-US" sz="1600" dirty="0"/>
          </a:p>
        </p:txBody>
      </p:sp>
      <p:sp>
        <p:nvSpPr>
          <p:cNvPr id="10" name="Shape 7"/>
          <p:cNvSpPr/>
          <p:nvPr/>
        </p:nvSpPr>
        <p:spPr>
          <a:xfrm>
            <a:off x="5429250" y="323697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1" name="Text 8"/>
          <p:cNvSpPr/>
          <p:nvPr/>
        </p:nvSpPr>
        <p:spPr>
          <a:xfrm>
            <a:off x="5726430" y="2880360"/>
            <a:ext cx="1748790" cy="1005840"/>
          </a:xfrm>
          <a:prstGeom prst="roundRect">
            <a:avLst>
              <a:gd name="adj" fmla="val 10909"/>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역할 선택</a:t>
            </a:r>
            <a:endParaRPr lang="en-US" sz="1600" dirty="0"/>
          </a:p>
          <a:p>
            <a:pPr marL="0" indent="0" algn="ctr">
              <a:buNone/>
            </a:pPr>
            <a:r>
              <a:rPr lang="en-US" sz="1600" dirty="0">
                <a:solidFill>
                  <a:srgbClr val="2A2314"/>
                </a:solidFill>
                <a:latin typeface="Malgun Gothic" pitchFamily="34" charset="0"/>
                <a:ea typeface="Malgun Gothic" pitchFamily="34" charset="-122"/>
                <a:cs typeface="Malgun Gothic" pitchFamily="34" charset="-120"/>
              </a:rPr>
              <a:t>교사 / 학생</a:t>
            </a:r>
            <a:endParaRPr lang="en-US" sz="1600" dirty="0"/>
          </a:p>
        </p:txBody>
      </p:sp>
      <p:sp>
        <p:nvSpPr>
          <p:cNvPr id="12" name="Shape 9"/>
          <p:cNvSpPr/>
          <p:nvPr/>
        </p:nvSpPr>
        <p:spPr>
          <a:xfrm>
            <a:off x="7498080" y="323697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3" name="Text 10"/>
          <p:cNvSpPr/>
          <p:nvPr/>
        </p:nvSpPr>
        <p:spPr>
          <a:xfrm>
            <a:off x="7795260" y="2880360"/>
            <a:ext cx="1748790" cy="1005840"/>
          </a:xfrm>
          <a:prstGeom prst="roundRect">
            <a:avLst>
              <a:gd name="adj" fmla="val 10909"/>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users 문서 저장</a:t>
            </a:r>
            <a:endParaRPr lang="en-US" sz="1600" dirty="0"/>
          </a:p>
        </p:txBody>
      </p:sp>
      <p:sp>
        <p:nvSpPr>
          <p:cNvPr id="14" name="Shape 11"/>
          <p:cNvSpPr/>
          <p:nvPr/>
        </p:nvSpPr>
        <p:spPr>
          <a:xfrm>
            <a:off x="9566910" y="323697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5" name="Text 12"/>
          <p:cNvSpPr/>
          <p:nvPr/>
        </p:nvSpPr>
        <p:spPr>
          <a:xfrm>
            <a:off x="9864090" y="2880360"/>
            <a:ext cx="1748790" cy="1005840"/>
          </a:xfrm>
          <a:prstGeom prst="roundRect">
            <a:avLst>
              <a:gd name="adj" fmla="val 10909"/>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환영 화면</a:t>
            </a:r>
            <a:endParaRPr lang="en-US" sz="1600" dirty="0"/>
          </a:p>
        </p:txBody>
      </p:sp>
      <p:sp>
        <p:nvSpPr>
          <p:cNvPr id="16" name="Text 13"/>
          <p:cNvSpPr txBox="1"/>
          <p:nvPr/>
        </p:nvSpPr>
        <p:spPr>
          <a:xfrm>
            <a:off x="3657600" y="3931920"/>
            <a:ext cx="7955280" cy="320040"/>
          </a:xfrm>
          <a:prstGeom prst="rect">
            <a:avLst/>
          </a:prstGeom>
          <a:noFill/>
          <a:ln/>
        </p:spPr>
        <p:txBody>
          <a:bodyPr wrap="square" lIns="0" tIns="0" rIns="0" bIns="0" rtlCol="0" anchor="ctr"/>
          <a:lstStyle/>
          <a:p>
            <a:pPr marL="0" indent="0">
              <a:buNone/>
            </a:pPr>
            <a:r>
              <a:rPr lang="en-US" sz="1400" dirty="0">
                <a:solidFill>
                  <a:srgbClr val="6B5E45"/>
                </a:solidFill>
                <a:latin typeface="Malgun Gothic" pitchFamily="34" charset="0"/>
                <a:ea typeface="Malgun Gothic" pitchFamily="34" charset="-122"/>
                <a:cs typeface="Malgun Gothic" pitchFamily="34" charset="-120"/>
              </a:rPr>
              <a:t>두 번째 로그인부터는 역할 선택 건너뛰기 (점선)</a:t>
            </a:r>
            <a:endParaRPr lang="en-US" sz="1400" dirty="0"/>
          </a:p>
        </p:txBody>
      </p:sp>
      <p:sp>
        <p:nvSpPr>
          <p:cNvPr id="17" name="Text 14"/>
          <p:cNvSpPr txBox="1"/>
          <p:nvPr/>
        </p:nvSpPr>
        <p:spPr>
          <a:xfrm>
            <a:off x="548640" y="4279392"/>
            <a:ext cx="11064240" cy="274320"/>
          </a:xfrm>
          <a:prstGeom prst="rect">
            <a:avLst/>
          </a:prstGeom>
          <a:noFill/>
          <a:ln/>
        </p:spPr>
        <p:txBody>
          <a:bodyPr wrap="square" lIns="0" tIns="0" rIns="0" bIns="0" rtlCol="0" anchor="ctr"/>
          <a:lstStyle/>
          <a:p>
            <a:pPr marL="0" indent="0">
              <a:buNone/>
            </a:pPr>
            <a:r>
              <a:rPr lang="en-US" sz="1400" dirty="0">
                <a:solidFill>
                  <a:srgbClr val="6B5E45"/>
                </a:solidFill>
                <a:latin typeface="Malgun Gothic" pitchFamily="34" charset="0"/>
                <a:ea typeface="Malgun Gothic" pitchFamily="34" charset="-122"/>
                <a:cs typeface="Malgun Gothic" pitchFamily="34" charset="-120"/>
              </a:rPr>
              <a:t>프롬프트 핵심 (전문은 발표자 노트)</a:t>
            </a:r>
            <a:endParaRPr lang="en-US" sz="1400" dirty="0"/>
          </a:p>
        </p:txBody>
      </p:sp>
      <p:sp>
        <p:nvSpPr>
          <p:cNvPr id="18" name="Shape 15"/>
          <p:cNvSpPr/>
          <p:nvPr/>
        </p:nvSpPr>
        <p:spPr>
          <a:xfrm>
            <a:off x="548640" y="4572000"/>
            <a:ext cx="11064240" cy="1463040"/>
          </a:xfrm>
          <a:prstGeom prst="roundRect">
            <a:avLst>
              <a:gd name="adj" fmla="val 6250"/>
            </a:avLst>
          </a:prstGeom>
          <a:solidFill>
            <a:srgbClr val="2A2314"/>
          </a:solidFill>
          <a:ln w="12700">
            <a:solidFill>
              <a:srgbClr val="2A2314"/>
            </a:solidFill>
            <a:prstDash val="solid"/>
          </a:ln>
        </p:spPr>
        <p:txBody>
          <a:bodyPr/>
          <a:lstStyle/>
          <a:p>
            <a:endParaRPr lang="ko-KR" altLang="en-US"/>
          </a:p>
        </p:txBody>
      </p:sp>
      <p:sp>
        <p:nvSpPr>
          <p:cNvPr id="19" name="Text 16"/>
          <p:cNvSpPr txBox="1"/>
          <p:nvPr/>
        </p:nvSpPr>
        <p:spPr>
          <a:xfrm>
            <a:off x="731520" y="4663440"/>
            <a:ext cx="10698480" cy="1280160"/>
          </a:xfrm>
          <a:prstGeom prst="rect">
            <a:avLst/>
          </a:prstGeom>
          <a:noFill/>
          <a:ln/>
        </p:spPr>
        <p:txBody>
          <a:bodyPr wrap="square" lIns="0" tIns="0" rIns="0" bIns="0" rtlCol="0" anchor="t"/>
          <a:lstStyle/>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로그인에 성공하면 users/{uid} 문서를 확인해 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없으면 "교사"/"학생" 역할 선택 화면을 보여 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저장 필드는 name, email, role("teacher"/"student") 3개만</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있으면 선택을 건너뛰고 "OOO 선생님 환영합니다"로 보여 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역할은 처음 한 번만 고르고 화면에서 바꿀 수 없게 해 줘</a:t>
            </a:r>
            <a:endParaRPr lang="en-US" sz="1500" dirty="0"/>
          </a:p>
        </p:txBody>
      </p:sp>
      <p:sp>
        <p:nvSpPr>
          <p:cNvPr id="20" name="Text 17"/>
          <p:cNvSpPr txBox="1"/>
          <p:nvPr/>
        </p:nvSpPr>
        <p:spPr>
          <a:xfrm>
            <a:off x="548640" y="6080760"/>
            <a:ext cx="11064240" cy="457200"/>
          </a:xfrm>
          <a:prstGeom prst="rect">
            <a:avLst/>
          </a:prstGeom>
          <a:noFill/>
          <a:ln/>
        </p:spPr>
        <p:txBody>
          <a:bodyPr wrap="square" lIns="0" tIns="0" rIns="0" bIns="0" rtlCol="0" anchor="ctr"/>
          <a:lstStyle/>
          <a:p>
            <a:pPr marL="0" indent="0">
              <a:buNone/>
            </a:pPr>
            <a:r>
              <a:rPr lang="en-US" sz="1600" b="1" dirty="0">
                <a:solidFill>
                  <a:srgbClr val="B0402C"/>
                </a:solidFill>
                <a:latin typeface="Malgun Gothic" pitchFamily="34" charset="0"/>
                <a:ea typeface="Malgun Gothic" pitchFamily="34" charset="-122"/>
                <a:cs typeface="Malgun Gothic" pitchFamily="34" charset="-120"/>
              </a:rPr>
              <a:t>막힐 때  </a:t>
            </a:r>
            <a:r>
              <a:rPr lang="en-US" sz="1600" dirty="0">
                <a:solidFill>
                  <a:srgbClr val="2A2314"/>
                </a:solidFill>
                <a:latin typeface="Malgun Gothic" pitchFamily="34" charset="0"/>
                <a:ea typeface="Malgun Gothic" pitchFamily="34" charset="-122"/>
                <a:cs typeface="Malgun Gothic" pitchFamily="34" charset="-120"/>
              </a:rPr>
              <a:t>permission-denied면 슬라이드 13의 임시 규칙이 게시됐는지 확인</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2 · Firebase 설정 + 구글 로그인</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확인: Firestore에서 내 문서 보기</a:t>
            </a:r>
            <a:endParaRPr lang="en-US" sz="3600" dirty="0"/>
          </a:p>
        </p:txBody>
      </p:sp>
      <p:sp>
        <p:nvSpPr>
          <p:cNvPr id="6" name="Text 3"/>
          <p:cNvSpPr txBox="1"/>
          <p:nvPr/>
        </p:nvSpPr>
        <p:spPr>
          <a:xfrm>
            <a:off x="548640" y="1554480"/>
            <a:ext cx="6949440" cy="219456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콘솔 Firestore 데이터 탭에서 users → 내 uid 문서 확인</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시크릿 창에서 테스트 학생 계정으로 로그인</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문서가 2개(교사 1, 학생 1) 보이면 성공</a:t>
            </a:r>
            <a:endParaRPr lang="en-US" sz="2400" dirty="0"/>
          </a:p>
        </p:txBody>
      </p:sp>
      <p:sp>
        <p:nvSpPr>
          <p:cNvPr id="7" name="Shape 4"/>
          <p:cNvSpPr/>
          <p:nvPr/>
        </p:nvSpPr>
        <p:spPr>
          <a:xfrm>
            <a:off x="548640" y="4096512"/>
            <a:ext cx="292608" cy="292608"/>
          </a:xfrm>
          <a:prstGeom prst="rect">
            <a:avLst/>
          </a:prstGeom>
          <a:solidFill>
            <a:srgbClr val="FFFBF0"/>
          </a:solidFill>
          <a:ln w="25400">
            <a:solidFill>
              <a:srgbClr val="B0402C"/>
            </a:solidFill>
            <a:prstDash val="solid"/>
          </a:ln>
        </p:spPr>
        <p:txBody>
          <a:bodyPr/>
          <a:lstStyle/>
          <a:p>
            <a:endParaRPr lang="ko-KR" altLang="en-US"/>
          </a:p>
        </p:txBody>
      </p:sp>
      <p:sp>
        <p:nvSpPr>
          <p:cNvPr id="8" name="Text 5"/>
          <p:cNvSpPr txBox="1"/>
          <p:nvPr/>
        </p:nvSpPr>
        <p:spPr>
          <a:xfrm>
            <a:off x="960120" y="4023360"/>
            <a:ext cx="6492240" cy="457200"/>
          </a:xfrm>
          <a:prstGeom prst="rect">
            <a:avLst/>
          </a:prstGeom>
          <a:noFill/>
          <a:ln/>
        </p:spPr>
        <p:txBody>
          <a:bodyPr wrap="square" lIns="0" tIns="0" rIns="0" bIns="0" rtlCol="0" anchor="ctr"/>
          <a:lstStyle/>
          <a:p>
            <a:pPr marL="0" indent="0">
              <a:buNone/>
            </a:pPr>
            <a:r>
              <a:rPr lang="en-US" sz="1800" dirty="0">
                <a:solidFill>
                  <a:srgbClr val="2A2314"/>
                </a:solidFill>
                <a:latin typeface="Malgun Gothic" pitchFamily="34" charset="0"/>
                <a:ea typeface="Malgun Gothic" pitchFamily="34" charset="-122"/>
                <a:cs typeface="Malgun Gothic" pitchFamily="34" charset="-120"/>
              </a:rPr>
              <a:t>users 컬렉션이 보인다</a:t>
            </a:r>
            <a:endParaRPr lang="en-US" sz="1800" dirty="0"/>
          </a:p>
        </p:txBody>
      </p:sp>
      <p:sp>
        <p:nvSpPr>
          <p:cNvPr id="9" name="Shape 6"/>
          <p:cNvSpPr/>
          <p:nvPr/>
        </p:nvSpPr>
        <p:spPr>
          <a:xfrm>
            <a:off x="548640" y="4736592"/>
            <a:ext cx="292608" cy="292608"/>
          </a:xfrm>
          <a:prstGeom prst="rect">
            <a:avLst/>
          </a:prstGeom>
          <a:solidFill>
            <a:srgbClr val="FFFBF0"/>
          </a:solidFill>
          <a:ln w="25400">
            <a:solidFill>
              <a:srgbClr val="B0402C"/>
            </a:solidFill>
            <a:prstDash val="solid"/>
          </a:ln>
        </p:spPr>
        <p:txBody>
          <a:bodyPr/>
          <a:lstStyle/>
          <a:p>
            <a:endParaRPr lang="ko-KR" altLang="en-US"/>
          </a:p>
        </p:txBody>
      </p:sp>
      <p:sp>
        <p:nvSpPr>
          <p:cNvPr id="10" name="Text 7"/>
          <p:cNvSpPr txBox="1"/>
          <p:nvPr/>
        </p:nvSpPr>
        <p:spPr>
          <a:xfrm>
            <a:off x="960120" y="4663440"/>
            <a:ext cx="6492240" cy="457200"/>
          </a:xfrm>
          <a:prstGeom prst="rect">
            <a:avLst/>
          </a:prstGeom>
          <a:noFill/>
          <a:ln/>
        </p:spPr>
        <p:txBody>
          <a:bodyPr wrap="square" lIns="0" tIns="0" rIns="0" bIns="0" rtlCol="0" anchor="ctr"/>
          <a:lstStyle/>
          <a:p>
            <a:pPr marL="0" indent="0">
              <a:buNone/>
            </a:pPr>
            <a:r>
              <a:rPr lang="en-US" sz="1800" dirty="0">
                <a:solidFill>
                  <a:srgbClr val="2A2314"/>
                </a:solidFill>
                <a:latin typeface="Malgun Gothic" pitchFamily="34" charset="0"/>
                <a:ea typeface="Malgun Gothic" pitchFamily="34" charset="-122"/>
                <a:cs typeface="Malgun Gothic" pitchFamily="34" charset="-120"/>
              </a:rPr>
              <a:t>교사 문서: name, email, role=teacher</a:t>
            </a:r>
            <a:endParaRPr lang="en-US" sz="1800" dirty="0"/>
          </a:p>
        </p:txBody>
      </p:sp>
      <p:sp>
        <p:nvSpPr>
          <p:cNvPr id="11" name="Shape 8"/>
          <p:cNvSpPr/>
          <p:nvPr/>
        </p:nvSpPr>
        <p:spPr>
          <a:xfrm>
            <a:off x="548640" y="5376672"/>
            <a:ext cx="292608" cy="292608"/>
          </a:xfrm>
          <a:prstGeom prst="rect">
            <a:avLst/>
          </a:prstGeom>
          <a:solidFill>
            <a:srgbClr val="FFFBF0"/>
          </a:solidFill>
          <a:ln w="25400">
            <a:solidFill>
              <a:srgbClr val="B0402C"/>
            </a:solidFill>
            <a:prstDash val="solid"/>
          </a:ln>
        </p:spPr>
        <p:txBody>
          <a:bodyPr/>
          <a:lstStyle/>
          <a:p>
            <a:endParaRPr lang="ko-KR" altLang="en-US"/>
          </a:p>
        </p:txBody>
      </p:sp>
      <p:sp>
        <p:nvSpPr>
          <p:cNvPr id="12" name="Text 9"/>
          <p:cNvSpPr txBox="1"/>
          <p:nvPr/>
        </p:nvSpPr>
        <p:spPr>
          <a:xfrm>
            <a:off x="960120" y="5303520"/>
            <a:ext cx="6492240" cy="457200"/>
          </a:xfrm>
          <a:prstGeom prst="rect">
            <a:avLst/>
          </a:prstGeom>
          <a:noFill/>
          <a:ln/>
        </p:spPr>
        <p:txBody>
          <a:bodyPr wrap="square" lIns="0" tIns="0" rIns="0" bIns="0" rtlCol="0" anchor="ctr"/>
          <a:lstStyle/>
          <a:p>
            <a:pPr marL="0" indent="0">
              <a:buNone/>
            </a:pPr>
            <a:r>
              <a:rPr lang="en-US" sz="1800" dirty="0">
                <a:solidFill>
                  <a:srgbClr val="2A2314"/>
                </a:solidFill>
                <a:latin typeface="Malgun Gothic" pitchFamily="34" charset="0"/>
                <a:ea typeface="Malgun Gothic" pitchFamily="34" charset="-122"/>
                <a:cs typeface="Malgun Gothic" pitchFamily="34" charset="-120"/>
              </a:rPr>
              <a:t>학생 문서: name, email, role=student</a:t>
            </a:r>
            <a:endParaRPr lang="en-US" sz="1800" dirty="0"/>
          </a:p>
        </p:txBody>
      </p:sp>
      <p:sp>
        <p:nvSpPr>
          <p:cNvPr id="13" name="Text 10"/>
          <p:cNvSpPr/>
          <p:nvPr/>
        </p:nvSpPr>
        <p:spPr>
          <a:xfrm>
            <a:off x="7863840" y="1645920"/>
            <a:ext cx="3749040" cy="3291840"/>
          </a:xfrm>
          <a:prstGeom prst="rect">
            <a:avLst/>
          </a:prstGeom>
          <a:solidFill>
            <a:srgbClr val="FFF1CC"/>
          </a:solidFill>
          <a:ln w="25400">
            <a:solidFill>
              <a:srgbClr val="B0402C"/>
            </a:solidFill>
            <a:prstDash val="dash"/>
          </a:ln>
        </p:spPr>
        <p:txBody>
          <a:bodyPr wrap="square" lIns="76200" tIns="76200" rIns="76200" bIns="76200" rtlCol="0" anchor="ctr"/>
          <a:lstStyle/>
          <a:p>
            <a:pPr marL="0" indent="0" algn="ctr">
              <a:buNone/>
            </a:pPr>
            <a:r>
              <a:rPr lang="en-US" sz="1600" b="1" dirty="0">
                <a:solidFill>
                  <a:srgbClr val="B0402C"/>
                </a:solidFill>
                <a:latin typeface="Malgun Gothic" pitchFamily="34" charset="0"/>
                <a:ea typeface="Malgun Gothic" pitchFamily="34" charset="-122"/>
                <a:cs typeface="Malgun Gothic" pitchFamily="34" charset="-120"/>
              </a:rPr>
              <a:t>[Firestore 문서 화면</a:t>
            </a:r>
            <a:endParaRPr lang="en-US" sz="1600" dirty="0"/>
          </a:p>
          <a:p>
            <a:pPr marL="0" indent="0" algn="ctr">
              <a:buNone/>
            </a:pPr>
            <a:r>
              <a:rPr lang="en-US" sz="1600" b="1" dirty="0">
                <a:solidFill>
                  <a:srgbClr val="B0402C"/>
                </a:solidFill>
                <a:latin typeface="Malgun Gothic" pitchFamily="34" charset="0"/>
                <a:ea typeface="Malgun Gothic" pitchFamily="34" charset="-122"/>
                <a:cs typeface="Malgun Gothic" pitchFamily="34" charset="-120"/>
              </a:rPr>
              <a:t>캡처 자리]</a:t>
            </a:r>
            <a:endParaRPr lang="en-US" sz="1600" dirty="0"/>
          </a:p>
        </p:txBody>
      </p:sp>
      <p:sp>
        <p:nvSpPr>
          <p:cNvPr id="14" name="Text 11"/>
          <p:cNvSpPr txBox="1"/>
          <p:nvPr/>
        </p:nvSpPr>
        <p:spPr>
          <a:xfrm>
            <a:off x="7863840" y="5029200"/>
            <a:ext cx="3749040" cy="731520"/>
          </a:xfrm>
          <a:prstGeom prst="rect">
            <a:avLst/>
          </a:prstGeom>
          <a:noFill/>
          <a:ln/>
        </p:spPr>
        <p:txBody>
          <a:bodyPr wrap="square" lIns="0" tIns="0" rIns="0" bIns="0" rtlCol="0" anchor="ctr"/>
          <a:lstStyle/>
          <a:p>
            <a:pPr marL="0" indent="0">
              <a:buNone/>
            </a:pPr>
            <a:r>
              <a:rPr lang="en-US" sz="1600" dirty="0">
                <a:solidFill>
                  <a:srgbClr val="6B5E45"/>
                </a:solidFill>
                <a:latin typeface="Malgun Gothic" pitchFamily="34" charset="0"/>
                <a:ea typeface="Malgun Gothic" pitchFamily="34" charset="-122"/>
                <a:cs typeface="Malgun Gothic" pitchFamily="34" charset="-120"/>
              </a:rPr>
              <a:t>콘솔: 데이터베이스 및 스토리지 &gt; Firestore &gt; 데이터 탭</a:t>
            </a:r>
            <a:endParaRPr lang="en-US" sz="1600" dirty="0"/>
          </a:p>
        </p:txBody>
      </p:sp>
      <p:sp>
        <p:nvSpPr>
          <p:cNvPr id="15" name="Text 12"/>
          <p:cNvSpPr txBox="1"/>
          <p:nvPr/>
        </p:nvSpPr>
        <p:spPr>
          <a:xfrm>
            <a:off x="548640" y="5943600"/>
            <a:ext cx="11064240" cy="457200"/>
          </a:xfrm>
          <a:prstGeom prst="rect">
            <a:avLst/>
          </a:prstGeom>
          <a:noFill/>
          <a:ln/>
        </p:spPr>
        <p:txBody>
          <a:bodyPr wrap="square" lIns="0" tIns="0" rIns="0" bIns="0" rtlCol="0" anchor="ctr"/>
          <a:lstStyle/>
          <a:p>
            <a:pPr marL="0" indent="0">
              <a:buNone/>
            </a:pPr>
            <a:r>
              <a:rPr lang="en-US" sz="1600" b="1" dirty="0">
                <a:solidFill>
                  <a:srgbClr val="B0402C"/>
                </a:solidFill>
                <a:latin typeface="Malgun Gothic" pitchFamily="34" charset="0"/>
                <a:ea typeface="Malgun Gothic" pitchFamily="34" charset="-122"/>
                <a:cs typeface="Malgun Gothic" pitchFamily="34" charset="-120"/>
              </a:rPr>
              <a:t>막힐 때  </a:t>
            </a:r>
            <a:r>
              <a:rPr lang="en-US" sz="1600" dirty="0">
                <a:solidFill>
                  <a:srgbClr val="2A2314"/>
                </a:solidFill>
                <a:latin typeface="Malgun Gothic" pitchFamily="34" charset="0"/>
                <a:ea typeface="Malgun Gothic" pitchFamily="34" charset="-122"/>
                <a:cs typeface="Malgun Gothic" pitchFamily="34" charset="-120"/>
              </a:rPr>
              <a:t>시크릿 창 로그인이 안 되면 주소창 오른쪽에서 팝업 허용 확인</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2 · Firebase 설정 + 구글 로그인</a:t>
            </a:r>
            <a:endParaRPr lang="en-US" sz="1600" dirty="0"/>
          </a:p>
        </p:txBody>
      </p:sp>
      <p:sp>
        <p:nvSpPr>
          <p:cNvPr id="3" name="Text 1"/>
          <p:cNvSpPr/>
          <p:nvPr/>
        </p:nvSpPr>
        <p:spPr>
          <a:xfrm>
            <a:off x="5394960" y="274320"/>
            <a:ext cx="822960" cy="329184"/>
          </a:xfrm>
          <a:prstGeom prst="roundRect">
            <a:avLst>
              <a:gd name="adj" fmla="val 50000"/>
            </a:avLst>
          </a:prstGeom>
          <a:solidFill>
            <a:srgbClr val="6B5E45"/>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정리</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막힘 모음과 복구 지점</a:t>
            </a:r>
            <a:endParaRPr lang="en-US" sz="3600" dirty="0"/>
          </a:p>
        </p:txBody>
      </p:sp>
      <p:sp>
        <p:nvSpPr>
          <p:cNvPr id="6" name="Text 3"/>
          <p:cNvSpPr txBox="1"/>
          <p:nvPr/>
        </p:nvSpPr>
        <p:spPr>
          <a:xfrm>
            <a:off x="548640" y="1508760"/>
            <a:ext cx="11064240" cy="73152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이 세 가지가 가장 흔하다. 오류는 메시지 그대로 Claude Code에 붙여넣기</a:t>
            </a:r>
            <a:endParaRPr lang="en-US" sz="2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64240" cy="2267712"/>
        </p:xfrm>
        <a:graphic>
          <a:graphicData uri="http://schemas.openxmlformats.org/drawingml/2006/table">
            <a:tbl>
              <a:tblPr/>
              <a:tblGrid>
                <a:gridCol w="310896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66928">
                <a:tc>
                  <a:txBody>
                    <a:bodyPr/>
                    <a:lstStyle/>
                    <a:p>
                      <a:pPr marL="0" indent="0" algn="l">
                        <a:buNone/>
                      </a:pPr>
                      <a:r>
                        <a:rPr lang="en-US" sz="1600" b="1" dirty="0">
                          <a:solidFill>
                            <a:srgbClr val="FFFFFF"/>
                          </a:solidFill>
                          <a:latin typeface="Malgun Gothic" pitchFamily="34" charset="0"/>
                          <a:ea typeface="Malgun Gothic" pitchFamily="34" charset="-122"/>
                          <a:cs typeface="Malgun Gothic" pitchFamily="34" charset="-120"/>
                        </a:rPr>
                        <a:t>증상</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356E67"/>
                    </a:solidFill>
                  </a:tcPr>
                </a:tc>
                <a:tc>
                  <a:txBody>
                    <a:bodyPr/>
                    <a:lstStyle/>
                    <a:p>
                      <a:pPr marL="0" indent="0" algn="l">
                        <a:buNone/>
                      </a:pPr>
                      <a:r>
                        <a:rPr lang="en-US" sz="1600" b="1" dirty="0">
                          <a:solidFill>
                            <a:srgbClr val="FFFFFF"/>
                          </a:solidFill>
                          <a:latin typeface="Malgun Gothic" pitchFamily="34" charset="0"/>
                          <a:ea typeface="Malgun Gothic" pitchFamily="34" charset="-122"/>
                          <a:cs typeface="Malgun Gothic" pitchFamily="34" charset="-120"/>
                        </a:rPr>
                        <a:t>원인</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356E67"/>
                    </a:solidFill>
                  </a:tcPr>
                </a:tc>
                <a:tc>
                  <a:txBody>
                    <a:bodyPr/>
                    <a:lstStyle/>
                    <a:p>
                      <a:pPr marL="0" indent="0" algn="l">
                        <a:buNone/>
                      </a:pPr>
                      <a:r>
                        <a:rPr lang="en-US" sz="1600" b="1" dirty="0">
                          <a:solidFill>
                            <a:srgbClr val="FFFFFF"/>
                          </a:solidFill>
                          <a:latin typeface="Malgun Gothic" pitchFamily="34" charset="0"/>
                          <a:ea typeface="Malgun Gothic" pitchFamily="34" charset="-122"/>
                          <a:cs typeface="Malgun Gothic" pitchFamily="34" charset="-120"/>
                        </a:rPr>
                        <a:t>해결</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356E67"/>
                    </a:solidFill>
                  </a:tcPr>
                </a:tc>
                <a:extLst>
                  <a:ext uri="{0D108BD9-81ED-4DB2-BD59-A6C34878D82A}">
                    <a16:rowId xmlns:a16="http://schemas.microsoft.com/office/drawing/2014/main" val="10000"/>
                  </a:ext>
                </a:extLst>
              </a:tr>
              <a:tr h="566928">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auth/unauthorized-domain</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승인된 도메인에 현재 주소가 없음</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Authentication 설정의 승인된 도메인에 localhost 추가 (슬라이드 12)</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extLst>
                  <a:ext uri="{0D108BD9-81ED-4DB2-BD59-A6C34878D82A}">
                    <a16:rowId xmlns:a16="http://schemas.microsoft.com/office/drawing/2014/main" val="10001"/>
                  </a:ext>
                </a:extLst>
              </a:tr>
              <a:tr h="566928">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팝업이 안 뜸 / popup-blocked</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브라우저가 팝업 차단</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주소창 오른쪽 차단 표시에서 허용 후 다시</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extLst>
                  <a:ext uri="{0D108BD9-81ED-4DB2-BD59-A6C34878D82A}">
                    <a16:rowId xmlns:a16="http://schemas.microsoft.com/office/drawing/2014/main" val="10002"/>
                  </a:ext>
                </a:extLst>
              </a:tr>
              <a:tr h="566928">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버튼 반응 없음, file:// 로 열었음</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파일로 직접 열면 로그인이 안 됨</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Claude Code가 알려 준 localhost 주소로 접속</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extLst>
                  <a:ext uri="{0D108BD9-81ED-4DB2-BD59-A6C34878D82A}">
                    <a16:rowId xmlns:a16="http://schemas.microsoft.com/office/drawing/2014/main" val="10003"/>
                  </a:ext>
                </a:extLst>
              </a:tr>
            </a:tbl>
          </a:graphicData>
        </a:graphic>
      </p:graphicFrame>
      <p:sp>
        <p:nvSpPr>
          <p:cNvPr id="8" name="Text 4"/>
          <p:cNvSpPr txBox="1"/>
          <p:nvPr/>
        </p:nvSpPr>
        <p:spPr>
          <a:xfrm>
            <a:off x="548640" y="4828032"/>
            <a:ext cx="7315200" cy="274320"/>
          </a:xfrm>
          <a:prstGeom prst="rect">
            <a:avLst/>
          </a:prstGeom>
          <a:noFill/>
          <a:ln/>
        </p:spPr>
        <p:txBody>
          <a:bodyPr wrap="square" lIns="0" tIns="0" rIns="0" bIns="0" rtlCol="0" anchor="ctr"/>
          <a:lstStyle/>
          <a:p>
            <a:pPr marL="0" indent="0">
              <a:buNone/>
            </a:pPr>
            <a:r>
              <a:rPr lang="en-US" sz="1400" dirty="0">
                <a:solidFill>
                  <a:srgbClr val="6B5E45"/>
                </a:solidFill>
                <a:latin typeface="Malgun Gothic" pitchFamily="34" charset="0"/>
                <a:ea typeface="Malgun Gothic" pitchFamily="34" charset="-122"/>
                <a:cs typeface="Malgun Gothic" pitchFamily="34" charset="-120"/>
              </a:rPr>
              <a:t>공통 문장</a:t>
            </a:r>
            <a:endParaRPr lang="en-US" sz="1400" dirty="0"/>
          </a:p>
        </p:txBody>
      </p:sp>
      <p:sp>
        <p:nvSpPr>
          <p:cNvPr id="9" name="Shape 5"/>
          <p:cNvSpPr/>
          <p:nvPr/>
        </p:nvSpPr>
        <p:spPr>
          <a:xfrm>
            <a:off x="548640" y="5120640"/>
            <a:ext cx="7315200" cy="868680"/>
          </a:xfrm>
          <a:prstGeom prst="roundRect">
            <a:avLst>
              <a:gd name="adj" fmla="val 10526"/>
            </a:avLst>
          </a:prstGeom>
          <a:solidFill>
            <a:srgbClr val="2A2314"/>
          </a:solidFill>
          <a:ln w="12700">
            <a:solidFill>
              <a:srgbClr val="2A2314"/>
            </a:solidFill>
            <a:prstDash val="solid"/>
          </a:ln>
        </p:spPr>
        <p:txBody>
          <a:bodyPr/>
          <a:lstStyle/>
          <a:p>
            <a:endParaRPr lang="ko-KR" altLang="en-US"/>
          </a:p>
        </p:txBody>
      </p:sp>
      <p:sp>
        <p:nvSpPr>
          <p:cNvPr id="10" name="Text 6"/>
          <p:cNvSpPr txBox="1"/>
          <p:nvPr/>
        </p:nvSpPr>
        <p:spPr>
          <a:xfrm>
            <a:off x="731520" y="5212080"/>
            <a:ext cx="6949440" cy="685800"/>
          </a:xfrm>
          <a:prstGeom prst="rect">
            <a:avLst/>
          </a:prstGeom>
          <a:noFill/>
          <a:ln/>
        </p:spPr>
        <p:txBody>
          <a:bodyPr wrap="square" lIns="0" tIns="0" rIns="0" bIns="0" rtlCol="0" anchor="t"/>
          <a:lstStyle/>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아래 오류가 났어. 원인을 쉬운 말로 한 줄로 알려 주고, 고쳐 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(여기에 오류 메시지를 그대로 붙여넣기)</a:t>
            </a:r>
            <a:endParaRPr lang="en-US" sz="1500" dirty="0"/>
          </a:p>
        </p:txBody>
      </p:sp>
      <p:sp>
        <p:nvSpPr>
          <p:cNvPr id="11" name="Text 7"/>
          <p:cNvSpPr txBox="1"/>
          <p:nvPr/>
        </p:nvSpPr>
        <p:spPr>
          <a:xfrm>
            <a:off x="8229600" y="4800600"/>
            <a:ext cx="3383280" cy="320040"/>
          </a:xfrm>
          <a:prstGeom prst="rect">
            <a:avLst/>
          </a:prstGeom>
          <a:noFill/>
          <a:ln/>
        </p:spPr>
        <p:txBody>
          <a:bodyPr wrap="square" lIns="0" tIns="0" rIns="0" bIns="0" rtlCol="0" anchor="ctr"/>
          <a:lstStyle/>
          <a:p>
            <a:pPr marL="0" indent="0">
              <a:buNone/>
            </a:pPr>
            <a:r>
              <a:rPr lang="en-US" sz="1600" dirty="0">
                <a:solidFill>
                  <a:srgbClr val="6B5E45"/>
                </a:solidFill>
                <a:latin typeface="Malgun Gothic" pitchFamily="34" charset="0"/>
                <a:ea typeface="Malgun Gothic" pitchFamily="34" charset="-122"/>
                <a:cs typeface="Malgun Gothic" pitchFamily="34" charset="-120"/>
              </a:rPr>
              <a:t>그래도 안 되면</a:t>
            </a:r>
            <a:endParaRPr lang="en-US" sz="1600" dirty="0"/>
          </a:p>
        </p:txBody>
      </p:sp>
      <p:sp>
        <p:nvSpPr>
          <p:cNvPr id="12" name="Text 8"/>
          <p:cNvSpPr/>
          <p:nvPr/>
        </p:nvSpPr>
        <p:spPr>
          <a:xfrm>
            <a:off x="8229600" y="5166360"/>
            <a:ext cx="3383280" cy="548640"/>
          </a:xfrm>
          <a:prstGeom prst="roundRect">
            <a:avLst>
              <a:gd name="adj" fmla="val 13333"/>
            </a:avLst>
          </a:prstGeom>
          <a:solidFill>
            <a:srgbClr val="FFF1CC"/>
          </a:solidFill>
          <a:ln w="19050">
            <a:solidFill>
              <a:srgbClr val="C9A24A"/>
            </a:solidFill>
          </a:ln>
        </p:spPr>
        <p:txBody>
          <a:bodyPr wrap="square" lIns="25400" tIns="25400" rIns="25400" bIns="25400" rtlCol="0" anchor="ctr"/>
          <a:lstStyle/>
          <a:p>
            <a:pPr marL="0" indent="0" algn="ctr">
              <a:buNone/>
            </a:pPr>
            <a:r>
              <a:rPr lang="en-US" sz="1600" b="1" dirty="0">
                <a:solidFill>
                  <a:srgbClr val="2A2314"/>
                </a:solidFill>
                <a:latin typeface="Consolas" pitchFamily="34" charset="0"/>
                <a:ea typeface="Consolas" pitchFamily="34" charset="-122"/>
                <a:cs typeface="Consolas" pitchFamily="34" charset="-120"/>
              </a:rPr>
              <a:t>checkpoint-m2</a:t>
            </a:r>
            <a:endParaRPr lang="en-US" sz="1600" dirty="0"/>
          </a:p>
        </p:txBody>
      </p:sp>
      <p:sp>
        <p:nvSpPr>
          <p:cNvPr id="13" name="Text 9"/>
          <p:cNvSpPr txBox="1"/>
          <p:nvPr/>
        </p:nvSpPr>
        <p:spPr>
          <a:xfrm>
            <a:off x="548640" y="6035040"/>
            <a:ext cx="11064240" cy="320040"/>
          </a:xfrm>
          <a:prstGeom prst="rect">
            <a:avLst/>
          </a:prstGeom>
          <a:noFill/>
          <a:ln/>
        </p:spPr>
        <p:txBody>
          <a:bodyPr wrap="square" lIns="0" tIns="0" rIns="0" bIns="0" rtlCol="0" anchor="ctr"/>
          <a:lstStyle/>
          <a:p>
            <a:pPr marL="0" indent="0">
              <a:buNone/>
            </a:pPr>
            <a:r>
              <a:rPr lang="en-US" sz="1600" dirty="0">
                <a:solidFill>
                  <a:srgbClr val="2A2314"/>
                </a:solidFill>
                <a:latin typeface="Malgun Gothic" pitchFamily="34" charset="0"/>
                <a:ea typeface="Malgun Gothic" pitchFamily="34" charset="-122"/>
                <a:cs typeface="Malgun Gothic" pitchFamily="34" charset="-120"/>
              </a:rPr>
              <a:t>복사한 폴더의 firebase-config.js만 내 설정값으로 바꾼다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3 · 수업코드 수강신청</a:t>
            </a:r>
            <a:endParaRPr lang="en-US" sz="1600" dirty="0"/>
          </a:p>
        </p:txBody>
      </p:sp>
      <p:sp>
        <p:nvSpPr>
          <p:cNvPr id="3" name="Text 1"/>
          <p:cNvSpPr/>
          <p:nvPr/>
        </p:nvSpPr>
        <p:spPr>
          <a:xfrm>
            <a:off x="5394960" y="274320"/>
            <a:ext cx="822960" cy="329184"/>
          </a:xfrm>
          <a:prstGeom prst="roundRect">
            <a:avLst>
              <a:gd name="adj" fmla="val 50000"/>
            </a:avLst>
          </a:prstGeom>
          <a:solidFill>
            <a:srgbClr val="356E67"/>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개념</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수업코드 = 교실 열쇠</a:t>
            </a:r>
            <a:endParaRPr lang="en-US" sz="3600" dirty="0"/>
          </a:p>
        </p:txBody>
      </p:sp>
      <p:sp>
        <p:nvSpPr>
          <p:cNvPr id="6" name="Text 3"/>
          <p:cNvSpPr txBox="1"/>
          <p:nvPr/>
        </p:nvSpPr>
        <p:spPr>
          <a:xfrm>
            <a:off x="548640" y="1554480"/>
            <a:ext cx="4937760" cy="219456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수업을 만들면 6자리 수업코드가 생긴다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그 코드가 수업 문서의 이름이다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학생은 코드(교실 열쇠)로 들어온다</a:t>
            </a:r>
            <a:endParaRPr lang="en-US" sz="2400" dirty="0"/>
          </a:p>
        </p:txBody>
      </p:sp>
      <p:sp>
        <p:nvSpPr>
          <p:cNvPr id="7" name="Text 4"/>
          <p:cNvSpPr/>
          <p:nvPr/>
        </p:nvSpPr>
        <p:spPr>
          <a:xfrm>
            <a:off x="5852160" y="1600200"/>
            <a:ext cx="5760720" cy="3200400"/>
          </a:xfrm>
          <a:prstGeom prst="roundRect">
            <a:avLst>
              <a:gd name="adj" fmla="val 3429"/>
            </a:avLst>
          </a:prstGeom>
          <a:solidFill>
            <a:srgbClr val="FFFBF0"/>
          </a:solidFill>
          <a:ln w="38100">
            <a:solidFill>
              <a:srgbClr val="356E67"/>
            </a:solidFill>
          </a:ln>
        </p:spPr>
        <p:txBody>
          <a:bodyPr wrap="square" lIns="76200" tIns="76200" rIns="76200" bIns="76200" rtlCol="0" anchor="ctr"/>
          <a:lstStyle/>
          <a:p>
            <a:pPr marL="0" indent="0" algn="ctr">
              <a:buNone/>
            </a:pPr>
            <a:endParaRPr lang="en-US" sz="1800" dirty="0"/>
          </a:p>
        </p:txBody>
      </p:sp>
      <p:sp>
        <p:nvSpPr>
          <p:cNvPr id="8" name="Text 5"/>
          <p:cNvSpPr txBox="1"/>
          <p:nvPr/>
        </p:nvSpPr>
        <p:spPr>
          <a:xfrm>
            <a:off x="6035040" y="1691640"/>
            <a:ext cx="5394960" cy="1097280"/>
          </a:xfrm>
          <a:prstGeom prst="rect">
            <a:avLst/>
          </a:prstGeom>
          <a:noFill/>
          <a:ln/>
        </p:spPr>
        <p:txBody>
          <a:bodyPr wrap="square" lIns="0" tIns="0" rIns="0" bIns="0" rtlCol="0" anchor="t"/>
          <a:lstStyle/>
          <a:p>
            <a:pPr marL="0" indent="0">
              <a:buNone/>
            </a:pPr>
            <a:r>
              <a:rPr lang="en-US" sz="1800" b="1" dirty="0">
                <a:solidFill>
                  <a:srgbClr val="356E67"/>
                </a:solidFill>
                <a:latin typeface="Consolas" pitchFamily="34" charset="0"/>
                <a:ea typeface="Consolas" pitchFamily="34" charset="-122"/>
                <a:cs typeface="Consolas" pitchFamily="34" charset="-120"/>
              </a:rPr>
              <a:t>classes/{수업코드}</a:t>
            </a:r>
            <a:endParaRPr lang="en-US" sz="1800" dirty="0"/>
          </a:p>
          <a:p>
            <a:pPr marL="0" indent="0">
              <a:buNone/>
            </a:pPr>
            <a:r>
              <a:rPr lang="en-US" sz="1800" b="1" dirty="0">
                <a:solidFill>
                  <a:srgbClr val="B0402C"/>
                </a:solidFill>
                <a:latin typeface="Consolas" pitchFamily="34" charset="0"/>
                <a:ea typeface="Consolas" pitchFamily="34" charset="-122"/>
                <a:cs typeface="Consolas" pitchFamily="34" charset="-120"/>
              </a:rPr>
              <a:t>폴더 이름표 "K7M4QX"</a:t>
            </a:r>
            <a:endParaRPr lang="en-US" sz="1800" dirty="0"/>
          </a:p>
          <a:p>
            <a:pPr marL="0" indent="0">
              <a:buNone/>
            </a:pPr>
            <a:r>
              <a:rPr lang="en-US" sz="1800" dirty="0">
                <a:solidFill>
                  <a:srgbClr val="2A2314"/>
                </a:solidFill>
                <a:latin typeface="Consolas" pitchFamily="34" charset="0"/>
                <a:ea typeface="Consolas" pitchFamily="34" charset="-122"/>
                <a:cs typeface="Consolas" pitchFamily="34" charset="-120"/>
              </a:rPr>
              <a:t>title · teacherUid · joinCode</a:t>
            </a:r>
            <a:endParaRPr lang="en-US" sz="1800" dirty="0"/>
          </a:p>
        </p:txBody>
      </p:sp>
      <p:sp>
        <p:nvSpPr>
          <p:cNvPr id="9" name="Text 6"/>
          <p:cNvSpPr/>
          <p:nvPr/>
        </p:nvSpPr>
        <p:spPr>
          <a:xfrm>
            <a:off x="6217920" y="3017520"/>
            <a:ext cx="5029200" cy="1554480"/>
          </a:xfrm>
          <a:prstGeom prst="roundRect">
            <a:avLst>
              <a:gd name="adj" fmla="val 7059"/>
            </a:avLst>
          </a:prstGeom>
          <a:solidFill>
            <a:srgbClr val="DCE9E5"/>
          </a:solidFill>
          <a:ln w="25400">
            <a:solidFill>
              <a:srgbClr val="356E67"/>
            </a:solidFill>
          </a:ln>
        </p:spPr>
        <p:txBody>
          <a:bodyPr wrap="square" lIns="76200" tIns="76200" rIns="76200" bIns="76200" rtlCol="0" anchor="ctr"/>
          <a:lstStyle/>
          <a:p>
            <a:pPr marL="0" indent="0" algn="l">
              <a:buNone/>
            </a:pPr>
            <a:endParaRPr lang="en-US" sz="1800" dirty="0"/>
          </a:p>
        </p:txBody>
      </p:sp>
      <p:sp>
        <p:nvSpPr>
          <p:cNvPr id="10" name="Text 7"/>
          <p:cNvSpPr txBox="1"/>
          <p:nvPr/>
        </p:nvSpPr>
        <p:spPr>
          <a:xfrm>
            <a:off x="6400800" y="3154680"/>
            <a:ext cx="4663440" cy="1188720"/>
          </a:xfrm>
          <a:prstGeom prst="rect">
            <a:avLst/>
          </a:prstGeom>
          <a:noFill/>
          <a:ln/>
        </p:spPr>
        <p:txBody>
          <a:bodyPr wrap="square" lIns="0" tIns="0" rIns="0" bIns="0" rtlCol="0" anchor="ctr"/>
          <a:lstStyle/>
          <a:p>
            <a:pPr marL="0" indent="0">
              <a:buNone/>
            </a:pPr>
            <a:r>
              <a:rPr lang="en-US" sz="1800" b="1" dirty="0">
                <a:solidFill>
                  <a:srgbClr val="356E67"/>
                </a:solidFill>
                <a:latin typeface="Consolas" pitchFamily="34" charset="0"/>
                <a:ea typeface="Consolas" pitchFamily="34" charset="-122"/>
                <a:cs typeface="Consolas" pitchFamily="34" charset="-120"/>
              </a:rPr>
              <a:t>members/{uid}</a:t>
            </a:r>
            <a:endParaRPr lang="en-US" sz="1800" dirty="0"/>
          </a:p>
          <a:p>
            <a:pPr marL="0" indent="0">
              <a:buNone/>
            </a:pPr>
            <a:r>
              <a:rPr lang="en-US" sz="1800" dirty="0">
                <a:solidFill>
                  <a:srgbClr val="2A2314"/>
                </a:solidFill>
                <a:latin typeface="Consolas" pitchFamily="34" charset="0"/>
                <a:ea typeface="Consolas" pitchFamily="34" charset="-122"/>
                <a:cs typeface="Consolas" pitchFamily="34" charset="-120"/>
              </a:rPr>
              <a:t>joinedAt · uid</a:t>
            </a:r>
            <a:endParaRPr lang="en-US" sz="1800" dirty="0"/>
          </a:p>
        </p:txBody>
      </p:sp>
      <p:sp>
        <p:nvSpPr>
          <p:cNvPr id="11" name="Text 8"/>
          <p:cNvSpPr/>
          <p:nvPr/>
        </p:nvSpPr>
        <p:spPr>
          <a:xfrm>
            <a:off x="548640" y="4114800"/>
            <a:ext cx="4937760" cy="457200"/>
          </a:xfrm>
          <a:prstGeom prst="roundRect">
            <a:avLst>
              <a:gd name="adj" fmla="val 20000"/>
            </a:avLst>
          </a:prstGeom>
          <a:solidFill>
            <a:srgbClr val="FFF1CC"/>
          </a:solidFill>
          <a:ln w="19050">
            <a:solidFill>
              <a:srgbClr val="C9A24A"/>
            </a:solidFill>
          </a:ln>
        </p:spPr>
        <p:txBody>
          <a:bodyPr wrap="square" lIns="50800" tIns="50800" rIns="50800" bIns="50800" rtlCol="0" anchor="ctr"/>
          <a:lstStyle/>
          <a:p>
            <a:pPr marL="0" indent="0" algn="ctr">
              <a:buNone/>
            </a:pPr>
            <a:r>
              <a:rPr lang="en-US" sz="1800" b="1" dirty="0">
                <a:solidFill>
                  <a:srgbClr val="2A2314"/>
                </a:solidFill>
                <a:latin typeface="Malgun Gothic" pitchFamily="34" charset="0"/>
                <a:ea typeface="Malgun Gothic" pitchFamily="34" charset="-122"/>
                <a:cs typeface="Malgun Gothic" pitchFamily="34" charset="-120"/>
              </a:rPr>
              <a:t>열쇠: 수업코드 K7M4QX = 폴더 이름</a:t>
            </a:r>
            <a:endParaRPr lang="en-US" sz="1800" dirty="0"/>
          </a:p>
        </p:txBody>
      </p:sp>
      <p:sp>
        <p:nvSpPr>
          <p:cNvPr id="12" name="Text 9"/>
          <p:cNvSpPr/>
          <p:nvPr/>
        </p:nvSpPr>
        <p:spPr>
          <a:xfrm>
            <a:off x="548640" y="5074920"/>
            <a:ext cx="5257800" cy="914400"/>
          </a:xfrm>
          <a:prstGeom prst="roundRect">
            <a:avLst>
              <a:gd name="adj" fmla="val 12000"/>
            </a:avLst>
          </a:prstGeom>
          <a:solidFill>
            <a:srgbClr val="DCE9E5"/>
          </a:solidFill>
          <a:ln w="25400">
            <a:solidFill>
              <a:srgbClr val="356E67"/>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교사 → classes/{코드} 생성</a:t>
            </a:r>
            <a:endParaRPr lang="en-US" sz="1800" dirty="0"/>
          </a:p>
        </p:txBody>
      </p:sp>
      <p:sp>
        <p:nvSpPr>
          <p:cNvPr id="13" name="Shape 10"/>
          <p:cNvSpPr/>
          <p:nvPr/>
        </p:nvSpPr>
        <p:spPr>
          <a:xfrm>
            <a:off x="5943600" y="538581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4" name="Text 11"/>
          <p:cNvSpPr/>
          <p:nvPr/>
        </p:nvSpPr>
        <p:spPr>
          <a:xfrm>
            <a:off x="6355080" y="5074920"/>
            <a:ext cx="5257800" cy="914400"/>
          </a:xfrm>
          <a:prstGeom prst="roundRect">
            <a:avLst>
              <a:gd name="adj" fmla="val 12000"/>
            </a:avLst>
          </a:prstGeom>
          <a:solidFill>
            <a:srgbClr val="F3DDD6"/>
          </a:solidFill>
          <a:ln w="25400">
            <a:solidFill>
              <a:srgbClr val="B0402C"/>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학생 → 코드 입력 → 한 장 꺼내기 → members 추가</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3 · 수업코드 수강신청</a:t>
            </a:r>
            <a:endParaRPr lang="en-US" sz="1600" dirty="0"/>
          </a:p>
        </p:txBody>
      </p:sp>
      <p:sp>
        <p:nvSpPr>
          <p:cNvPr id="3" name="Text 1"/>
          <p:cNvSpPr/>
          <p:nvPr/>
        </p:nvSpPr>
        <p:spPr>
          <a:xfrm>
            <a:off x="5394960" y="274320"/>
            <a:ext cx="822960" cy="329184"/>
          </a:xfrm>
          <a:prstGeom prst="roundRect">
            <a:avLst>
              <a:gd name="adj" fmla="val 50000"/>
            </a:avLst>
          </a:prstGeom>
          <a:solidFill>
            <a:srgbClr val="356E67"/>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개념</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보안 원칙 3·4 미리보기</a:t>
            </a:r>
            <a:endParaRPr lang="en-US" sz="3600" dirty="0"/>
          </a:p>
        </p:txBody>
      </p:sp>
      <p:sp>
        <p:nvSpPr>
          <p:cNvPr id="6" name="Text 3"/>
          <p:cNvSpPr txBox="1"/>
          <p:nvPr/>
        </p:nvSpPr>
        <p:spPr>
          <a:xfrm>
            <a:off x="548640" y="1554480"/>
            <a:ext cx="11064240" cy="128016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원칙 3: 수업은 교사만 만든다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원칙 4: 수업코드를 알아야 들어간다. 전체 수업 목록은 볼 수 없다</a:t>
            </a:r>
            <a:endParaRPr lang="en-US" sz="2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3200400"/>
          <a:ext cx="11064240" cy="2057400"/>
        </p:xfrm>
        <a:graphic>
          <a:graphicData uri="http://schemas.openxmlformats.org/drawingml/2006/table">
            <a:tbl>
              <a:tblPr/>
              <a:tblGrid>
                <a:gridCol w="25603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685800">
                <a:tc>
                  <a:txBody>
                    <a:bodyPr/>
                    <a:lstStyle/>
                    <a:p>
                      <a:pPr marL="0" indent="0" algn="l">
                        <a:buNone/>
                      </a:pPr>
                      <a:r>
                        <a:rPr lang="en-US" sz="2000" b="1" dirty="0">
                          <a:solidFill>
                            <a:srgbClr val="FFFFFF"/>
                          </a:solidFill>
                          <a:latin typeface="Malgun Gothic" pitchFamily="34" charset="0"/>
                          <a:ea typeface="Malgun Gothic" pitchFamily="34" charset="-122"/>
                          <a:cs typeface="Malgun Gothic" pitchFamily="34" charset="-120"/>
                        </a:rPr>
                        <a:t>원칙</a:t>
                      </a:r>
                      <a:endParaRPr lang="en-US" sz="20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356E67"/>
                    </a:solidFill>
                  </a:tcPr>
                </a:tc>
                <a:tc>
                  <a:txBody>
                    <a:bodyPr/>
                    <a:lstStyle/>
                    <a:p>
                      <a:pPr marL="0" indent="0" algn="l">
                        <a:buNone/>
                      </a:pPr>
                      <a:r>
                        <a:rPr lang="en-US" sz="2000" b="1" dirty="0">
                          <a:solidFill>
                            <a:srgbClr val="FFFFFF"/>
                          </a:solidFill>
                          <a:latin typeface="Malgun Gothic" pitchFamily="34" charset="0"/>
                          <a:ea typeface="Malgun Gothic" pitchFamily="34" charset="-122"/>
                          <a:cs typeface="Malgun Gothic" pitchFamily="34" charset="-120"/>
                        </a:rPr>
                        <a:t>허용 O</a:t>
                      </a:r>
                      <a:endParaRPr lang="en-US" sz="20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356E67"/>
                    </a:solidFill>
                  </a:tcPr>
                </a:tc>
                <a:tc>
                  <a:txBody>
                    <a:bodyPr/>
                    <a:lstStyle/>
                    <a:p>
                      <a:pPr marL="0" indent="0" algn="l">
                        <a:buNone/>
                      </a:pPr>
                      <a:r>
                        <a:rPr lang="en-US" sz="2000" b="1" dirty="0">
                          <a:solidFill>
                            <a:srgbClr val="FFFFFF"/>
                          </a:solidFill>
                          <a:latin typeface="Malgun Gothic" pitchFamily="34" charset="0"/>
                          <a:ea typeface="Malgun Gothic" pitchFamily="34" charset="-122"/>
                          <a:cs typeface="Malgun Gothic" pitchFamily="34" charset="-120"/>
                        </a:rPr>
                        <a:t>막힘 X</a:t>
                      </a:r>
                      <a:endParaRPr lang="en-US" sz="20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356E67"/>
                    </a:solidFill>
                  </a:tcPr>
                </a:tc>
                <a:extLst>
                  <a:ext uri="{0D108BD9-81ED-4DB2-BD59-A6C34878D82A}">
                    <a16:rowId xmlns:a16="http://schemas.microsoft.com/office/drawing/2014/main" val="10000"/>
                  </a:ext>
                </a:extLst>
              </a:tr>
              <a:tr h="685800">
                <a:tc>
                  <a:txBody>
                    <a:bodyPr/>
                    <a:lstStyle/>
                    <a:p>
                      <a:pPr marL="0" indent="0" algn="l">
                        <a:buNone/>
                      </a:pPr>
                      <a:r>
                        <a:rPr lang="en-US" sz="2000" dirty="0">
                          <a:solidFill>
                            <a:srgbClr val="2A2314"/>
                          </a:solidFill>
                          <a:latin typeface="Malgun Gothic" pitchFamily="34" charset="0"/>
                          <a:ea typeface="Malgun Gothic" pitchFamily="34" charset="-122"/>
                          <a:cs typeface="Malgun Gothic" pitchFamily="34" charset="-120"/>
                        </a:rPr>
                        <a:t>수업 만들기</a:t>
                      </a:r>
                      <a:endParaRPr lang="en-US" sz="20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2000" dirty="0">
                          <a:solidFill>
                            <a:srgbClr val="2A2314"/>
                          </a:solidFill>
                          <a:latin typeface="Malgun Gothic" pitchFamily="34" charset="0"/>
                          <a:ea typeface="Malgun Gothic" pitchFamily="34" charset="-122"/>
                          <a:cs typeface="Malgun Gothic" pitchFamily="34" charset="-120"/>
                        </a:rPr>
                        <a:t>교사</a:t>
                      </a:r>
                      <a:endParaRPr lang="en-US" sz="20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2000" dirty="0">
                          <a:solidFill>
                            <a:srgbClr val="2A2314"/>
                          </a:solidFill>
                          <a:latin typeface="Malgun Gothic" pitchFamily="34" charset="0"/>
                          <a:ea typeface="Malgun Gothic" pitchFamily="34" charset="-122"/>
                          <a:cs typeface="Malgun Gothic" pitchFamily="34" charset="-120"/>
                        </a:rPr>
                        <a:t>학생</a:t>
                      </a:r>
                      <a:endParaRPr lang="en-US" sz="20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extLst>
                  <a:ext uri="{0D108BD9-81ED-4DB2-BD59-A6C34878D82A}">
                    <a16:rowId xmlns:a16="http://schemas.microsoft.com/office/drawing/2014/main" val="10001"/>
                  </a:ext>
                </a:extLst>
              </a:tr>
              <a:tr h="685800">
                <a:tc>
                  <a:txBody>
                    <a:bodyPr/>
                    <a:lstStyle/>
                    <a:p>
                      <a:pPr marL="0" indent="0" algn="l">
                        <a:buNone/>
                      </a:pPr>
                      <a:r>
                        <a:rPr lang="en-US" sz="2000" dirty="0">
                          <a:solidFill>
                            <a:srgbClr val="2A2314"/>
                          </a:solidFill>
                          <a:latin typeface="Malgun Gothic" pitchFamily="34" charset="0"/>
                          <a:ea typeface="Malgun Gothic" pitchFamily="34" charset="-122"/>
                          <a:cs typeface="Malgun Gothic" pitchFamily="34" charset="-120"/>
                        </a:rPr>
                        <a:t>수업 찾기</a:t>
                      </a:r>
                      <a:endParaRPr lang="en-US" sz="20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2000" dirty="0">
                          <a:solidFill>
                            <a:srgbClr val="2A2314"/>
                          </a:solidFill>
                          <a:latin typeface="Malgun Gothic" pitchFamily="34" charset="0"/>
                          <a:ea typeface="Malgun Gothic" pitchFamily="34" charset="-122"/>
                          <a:cs typeface="Malgun Gothic" pitchFamily="34" charset="-120"/>
                        </a:rPr>
                        <a:t>코드 한 개로 한 교실 찾기</a:t>
                      </a:r>
                      <a:endParaRPr lang="en-US" sz="20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2000" dirty="0">
                          <a:solidFill>
                            <a:srgbClr val="2A2314"/>
                          </a:solidFill>
                          <a:latin typeface="Malgun Gothic" pitchFamily="34" charset="0"/>
                          <a:ea typeface="Malgun Gothic" pitchFamily="34" charset="-122"/>
                          <a:cs typeface="Malgun Gothic" pitchFamily="34" charset="-120"/>
                        </a:rPr>
                        <a:t>모든 교실 목록 훑어보기</a:t>
                      </a:r>
                      <a:endParaRPr lang="en-US" sz="20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extLst>
                  <a:ext uri="{0D108BD9-81ED-4DB2-BD59-A6C34878D82A}">
                    <a16:rowId xmlns:a16="http://schemas.microsoft.com/office/drawing/2014/main" val="10002"/>
                  </a:ext>
                </a:extLst>
              </a:tr>
            </a:tbl>
          </a:graphicData>
        </a:graphic>
      </p:graphicFrame>
      <p:sp>
        <p:nvSpPr>
          <p:cNvPr id="8" name="Text 4"/>
          <p:cNvSpPr txBox="1"/>
          <p:nvPr/>
        </p:nvSpPr>
        <p:spPr>
          <a:xfrm>
            <a:off x="548640" y="5669280"/>
            <a:ext cx="11064240" cy="457200"/>
          </a:xfrm>
          <a:prstGeom prst="rect">
            <a:avLst/>
          </a:prstGeom>
          <a:noFill/>
          <a:ln/>
        </p:spPr>
        <p:txBody>
          <a:bodyPr wrap="square" lIns="0" tIns="0" rIns="0" bIns="0" rtlCol="0" anchor="ctr"/>
          <a:lstStyle/>
          <a:p>
            <a:pPr marL="0" indent="0">
              <a:buNone/>
            </a:pPr>
            <a:r>
              <a:rPr lang="en-US" sz="1800" dirty="0">
                <a:solidFill>
                  <a:srgbClr val="6B5E45"/>
                </a:solidFill>
                <a:latin typeface="Malgun Gothic" pitchFamily="34" charset="0"/>
                <a:ea typeface="Malgun Gothic" pitchFamily="34" charset="-122"/>
                <a:cs typeface="Malgun Gothic" pitchFamily="34" charset="-120"/>
              </a:rPr>
              <a:t>보안 규칙 = 교무실 출입 규칙 · 전체를 내려받아 비교하지 않는다</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3 · 수업코드 수강신청</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실습 1: 교사가 수업 만들기</a:t>
            </a:r>
            <a:endParaRPr lang="en-US" sz="3600" dirty="0"/>
          </a:p>
        </p:txBody>
      </p:sp>
      <p:sp>
        <p:nvSpPr>
          <p:cNvPr id="6" name="Text 3"/>
          <p:cNvSpPr txBox="1"/>
          <p:nvPr/>
        </p:nvSpPr>
        <p:spPr>
          <a:xfrm>
            <a:off x="548640" y="1508760"/>
            <a:ext cx="6400800" cy="118872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교사 화면에 "수업 만들기"를 추가한다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제목을 넣으면 6자리 수업코드가 자동 발급된다</a:t>
            </a:r>
            <a:endParaRPr lang="en-US" sz="2400" dirty="0"/>
          </a:p>
        </p:txBody>
      </p:sp>
      <p:sp>
        <p:nvSpPr>
          <p:cNvPr id="7" name="Text 4"/>
          <p:cNvSpPr/>
          <p:nvPr/>
        </p:nvSpPr>
        <p:spPr>
          <a:xfrm>
            <a:off x="7223760" y="1554480"/>
            <a:ext cx="4389120" cy="1417320"/>
          </a:xfrm>
          <a:prstGeom prst="roundRect">
            <a:avLst>
              <a:gd name="adj" fmla="val 7742"/>
            </a:avLst>
          </a:prstGeom>
          <a:solidFill>
            <a:srgbClr val="FFFBF0"/>
          </a:solidFill>
          <a:ln w="25400">
            <a:solidFill>
              <a:srgbClr val="2A2314"/>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제목 입력칸   [ 수업 만들기 ]</a:t>
            </a:r>
            <a:endParaRPr lang="en-US" sz="1800" dirty="0"/>
          </a:p>
          <a:p>
            <a:pPr marL="0" indent="0" algn="ctr">
              <a:buNone/>
            </a:pPr>
            <a:endParaRPr lang="en-US" sz="1800" dirty="0"/>
          </a:p>
          <a:p>
            <a:pPr marL="0" indent="0" algn="ctr">
              <a:buNone/>
            </a:pPr>
            <a:r>
              <a:rPr lang="en-US" sz="1800" dirty="0">
                <a:solidFill>
                  <a:srgbClr val="2A2314"/>
                </a:solidFill>
                <a:latin typeface="Malgun Gothic" pitchFamily="34" charset="0"/>
                <a:ea typeface="Malgun Gothic" pitchFamily="34" charset="-122"/>
                <a:cs typeface="Malgun Gothic" pitchFamily="34" charset="-120"/>
              </a:rPr>
              <a:t>수업코드: K7M4QX</a:t>
            </a:r>
            <a:endParaRPr lang="en-US" sz="1800" dirty="0"/>
          </a:p>
        </p:txBody>
      </p:sp>
      <p:sp>
        <p:nvSpPr>
          <p:cNvPr id="8" name="Text 5"/>
          <p:cNvSpPr txBox="1"/>
          <p:nvPr/>
        </p:nvSpPr>
        <p:spPr>
          <a:xfrm>
            <a:off x="548640" y="2999232"/>
            <a:ext cx="11064240" cy="274320"/>
          </a:xfrm>
          <a:prstGeom prst="rect">
            <a:avLst/>
          </a:prstGeom>
          <a:noFill/>
          <a:ln/>
        </p:spPr>
        <p:txBody>
          <a:bodyPr wrap="square" lIns="0" tIns="0" rIns="0" bIns="0" rtlCol="0" anchor="ctr"/>
          <a:lstStyle/>
          <a:p>
            <a:pPr marL="0" indent="0">
              <a:buNone/>
            </a:pPr>
            <a:r>
              <a:rPr lang="en-US" sz="1400" dirty="0">
                <a:solidFill>
                  <a:srgbClr val="6B5E45"/>
                </a:solidFill>
                <a:latin typeface="Malgun Gothic" pitchFamily="34" charset="0"/>
                <a:ea typeface="Malgun Gothic" pitchFamily="34" charset="-122"/>
                <a:cs typeface="Malgun Gothic" pitchFamily="34" charset="-120"/>
              </a:rPr>
              <a:t>프롬프트 핵심 (전문은 발표자 노트)</a:t>
            </a:r>
            <a:endParaRPr lang="en-US" sz="1400" dirty="0"/>
          </a:p>
        </p:txBody>
      </p:sp>
      <p:sp>
        <p:nvSpPr>
          <p:cNvPr id="9" name="Shape 6"/>
          <p:cNvSpPr/>
          <p:nvPr/>
        </p:nvSpPr>
        <p:spPr>
          <a:xfrm>
            <a:off x="548640" y="3291840"/>
            <a:ext cx="11064240" cy="2194560"/>
          </a:xfrm>
          <a:prstGeom prst="roundRect">
            <a:avLst>
              <a:gd name="adj" fmla="val 4167"/>
            </a:avLst>
          </a:prstGeom>
          <a:solidFill>
            <a:srgbClr val="2A2314"/>
          </a:solidFill>
          <a:ln w="12700">
            <a:solidFill>
              <a:srgbClr val="2A2314"/>
            </a:solidFill>
            <a:prstDash val="solid"/>
          </a:ln>
        </p:spPr>
        <p:txBody>
          <a:bodyPr/>
          <a:lstStyle/>
          <a:p>
            <a:endParaRPr lang="ko-KR" altLang="en-US"/>
          </a:p>
        </p:txBody>
      </p:sp>
      <p:sp>
        <p:nvSpPr>
          <p:cNvPr id="10" name="Text 7"/>
          <p:cNvSpPr txBox="1"/>
          <p:nvPr/>
        </p:nvSpPr>
        <p:spPr>
          <a:xfrm>
            <a:off x="731520" y="3383280"/>
            <a:ext cx="10698480" cy="2011680"/>
          </a:xfrm>
          <a:prstGeom prst="rect">
            <a:avLst/>
          </a:prstGeom>
          <a:noFill/>
          <a:ln/>
        </p:spPr>
        <p:txBody>
          <a:bodyPr wrap="square" lIns="0" tIns="0" rIns="0" bIns="0" rtlCol="0" anchor="t"/>
          <a:lstStyle/>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교사 화면에 "수업 만들기" 기능을 추가해 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교사(role이 teacher)에게만 보이게</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수업코드: 영문 대문자+숫자 6자리 무작위 (0, O, 1, I는 쓰지 마)</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classes/{수업코드}: 문서 이름을 수업코드와 똑같이</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필드는 title, teacherUid, joinCode 세 개만</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저장 전에 같은 코드가 있는지 한 건만 읽어 확인</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만든 뒤 제목과 수업코드를 크게 보여 줘</a:t>
            </a:r>
            <a:endParaRPr lang="en-US" sz="1500" dirty="0"/>
          </a:p>
        </p:txBody>
      </p:sp>
      <p:sp>
        <p:nvSpPr>
          <p:cNvPr id="11" name="Text 8"/>
          <p:cNvSpPr txBox="1"/>
          <p:nvPr/>
        </p:nvSpPr>
        <p:spPr>
          <a:xfrm>
            <a:off x="548640" y="5806440"/>
            <a:ext cx="11064240" cy="457200"/>
          </a:xfrm>
          <a:prstGeom prst="rect">
            <a:avLst/>
          </a:prstGeom>
          <a:noFill/>
          <a:ln/>
        </p:spPr>
        <p:txBody>
          <a:bodyPr wrap="square" lIns="0" tIns="0" rIns="0" bIns="0" rtlCol="0" anchor="ctr"/>
          <a:lstStyle/>
          <a:p>
            <a:pPr marL="0" indent="0">
              <a:buNone/>
            </a:pPr>
            <a:r>
              <a:rPr lang="en-US" sz="1600" b="1" dirty="0">
                <a:solidFill>
                  <a:srgbClr val="B0402C"/>
                </a:solidFill>
                <a:latin typeface="Malgun Gothic" pitchFamily="34" charset="0"/>
                <a:ea typeface="Malgun Gothic" pitchFamily="34" charset="-122"/>
                <a:cs typeface="Malgun Gothic" pitchFamily="34" charset="-120"/>
              </a:rPr>
              <a:t>막힐 때  </a:t>
            </a:r>
            <a:r>
              <a:rPr lang="en-US" sz="1600" dirty="0">
                <a:solidFill>
                  <a:srgbClr val="2A2314"/>
                </a:solidFill>
                <a:latin typeface="Malgun Gothic" pitchFamily="34" charset="0"/>
                <a:ea typeface="Malgun Gothic" pitchFamily="34" charset="-122"/>
                <a:cs typeface="Malgun Gothic" pitchFamily="34" charset="-120"/>
              </a:rPr>
              <a:t>권한 오류면 규칙 탭에 임시 규칙 게시 확인. 그래도 같으면 "규칙 파일은 바꾸지 말고 앱 코드에서 원인을 찾아 줘"</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3 · 수업코드 수강신청</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실습 2: 학생이 코드로 가입</a:t>
            </a:r>
            <a:endParaRPr lang="en-US" sz="3600" dirty="0"/>
          </a:p>
        </p:txBody>
      </p:sp>
      <p:sp>
        <p:nvSpPr>
          <p:cNvPr id="6" name="Text 3"/>
          <p:cNvSpPr txBox="1"/>
          <p:nvPr/>
        </p:nvSpPr>
        <p:spPr>
          <a:xfrm>
            <a:off x="548640" y="1508760"/>
            <a:ext cx="11064240" cy="118872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학생 화면에 수업코드 입력칸을 만든다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맞는 코드면 그 수업의 members에 내 문서가 생긴다</a:t>
            </a:r>
            <a:endParaRPr lang="en-US" sz="2400" dirty="0"/>
          </a:p>
        </p:txBody>
      </p:sp>
      <p:sp>
        <p:nvSpPr>
          <p:cNvPr id="7" name="Text 4"/>
          <p:cNvSpPr/>
          <p:nvPr/>
        </p:nvSpPr>
        <p:spPr>
          <a:xfrm>
            <a:off x="548640" y="2743200"/>
            <a:ext cx="3383280" cy="914400"/>
          </a:xfrm>
          <a:prstGeom prst="roundRect">
            <a:avLst>
              <a:gd name="adj" fmla="val 12000"/>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코드 입력</a:t>
            </a:r>
            <a:endParaRPr lang="en-US" sz="1600" dirty="0"/>
          </a:p>
          <a:p>
            <a:pPr marL="0" indent="0" algn="ctr">
              <a:buNone/>
            </a:pPr>
            <a:r>
              <a:rPr lang="en-US" sz="1600" dirty="0">
                <a:solidFill>
                  <a:srgbClr val="2A2314"/>
                </a:solidFill>
                <a:latin typeface="Malgun Gothic" pitchFamily="34" charset="0"/>
                <a:ea typeface="Malgun Gothic" pitchFamily="34" charset="-122"/>
                <a:cs typeface="Malgun Gothic" pitchFamily="34" charset="-120"/>
              </a:rPr>
              <a:t>[ 가입하기 ]</a:t>
            </a:r>
            <a:endParaRPr lang="en-US" sz="1600" dirty="0"/>
          </a:p>
        </p:txBody>
      </p:sp>
      <p:sp>
        <p:nvSpPr>
          <p:cNvPr id="8" name="Shape 5"/>
          <p:cNvSpPr/>
          <p:nvPr/>
        </p:nvSpPr>
        <p:spPr>
          <a:xfrm>
            <a:off x="4023360" y="305409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9" name="Text 6"/>
          <p:cNvSpPr/>
          <p:nvPr/>
        </p:nvSpPr>
        <p:spPr>
          <a:xfrm>
            <a:off x="4389120" y="2743200"/>
            <a:ext cx="3383280" cy="914400"/>
          </a:xfrm>
          <a:prstGeom prst="roundRect">
            <a:avLst>
              <a:gd name="adj" fmla="val 12000"/>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classes/{코드}</a:t>
            </a:r>
            <a:endParaRPr lang="en-US" sz="1600" dirty="0"/>
          </a:p>
          <a:p>
            <a:pPr marL="0" indent="0" algn="ctr">
              <a:buNone/>
            </a:pPr>
            <a:r>
              <a:rPr lang="en-US" sz="1600" dirty="0">
                <a:solidFill>
                  <a:srgbClr val="2A2314"/>
                </a:solidFill>
                <a:latin typeface="Malgun Gothic" pitchFamily="34" charset="0"/>
                <a:ea typeface="Malgun Gothic" pitchFamily="34" charset="-122"/>
                <a:cs typeface="Malgun Gothic" pitchFamily="34" charset="-120"/>
              </a:rPr>
              <a:t>1건 읽기</a:t>
            </a:r>
            <a:endParaRPr lang="en-US" sz="1600" dirty="0"/>
          </a:p>
        </p:txBody>
      </p:sp>
      <p:sp>
        <p:nvSpPr>
          <p:cNvPr id="10" name="Shape 7"/>
          <p:cNvSpPr/>
          <p:nvPr/>
        </p:nvSpPr>
        <p:spPr>
          <a:xfrm>
            <a:off x="7863840" y="305409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1" name="Text 8"/>
          <p:cNvSpPr/>
          <p:nvPr/>
        </p:nvSpPr>
        <p:spPr>
          <a:xfrm>
            <a:off x="8229600" y="2743200"/>
            <a:ext cx="3383280" cy="914400"/>
          </a:xfrm>
          <a:prstGeom prst="roundRect">
            <a:avLst>
              <a:gd name="adj" fmla="val 12000"/>
            </a:avLst>
          </a:prstGeom>
          <a:solidFill>
            <a:srgbClr val="FFFBF0"/>
          </a:solidFill>
          <a:ln w="15875">
            <a:solidFill>
              <a:srgbClr val="D9CDB0"/>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classes/{코드}/members/{내 uid}</a:t>
            </a:r>
            <a:endParaRPr lang="en-US" sz="1600" dirty="0"/>
          </a:p>
          <a:p>
            <a:pPr marL="0" indent="0" algn="ctr">
              <a:buNone/>
            </a:pPr>
            <a:r>
              <a:rPr lang="en-US" sz="1600" dirty="0">
                <a:solidFill>
                  <a:srgbClr val="2A2314"/>
                </a:solidFill>
                <a:latin typeface="Malgun Gothic" pitchFamily="34" charset="0"/>
                <a:ea typeface="Malgun Gothic" pitchFamily="34" charset="-122"/>
                <a:cs typeface="Malgun Gothic" pitchFamily="34" charset="-120"/>
              </a:rPr>
              <a:t>생성 (joinedAt, uid)</a:t>
            </a:r>
            <a:endParaRPr lang="en-US" sz="1600" dirty="0"/>
          </a:p>
        </p:txBody>
      </p:sp>
      <p:sp>
        <p:nvSpPr>
          <p:cNvPr id="12" name="Text 9"/>
          <p:cNvSpPr txBox="1"/>
          <p:nvPr/>
        </p:nvSpPr>
        <p:spPr>
          <a:xfrm>
            <a:off x="548640" y="3730752"/>
            <a:ext cx="11064240" cy="274320"/>
          </a:xfrm>
          <a:prstGeom prst="rect">
            <a:avLst/>
          </a:prstGeom>
          <a:noFill/>
          <a:ln/>
        </p:spPr>
        <p:txBody>
          <a:bodyPr wrap="square" lIns="0" tIns="0" rIns="0" bIns="0" rtlCol="0" anchor="ctr"/>
          <a:lstStyle/>
          <a:p>
            <a:pPr marL="0" indent="0">
              <a:buNone/>
            </a:pPr>
            <a:r>
              <a:rPr lang="en-US" sz="1400" dirty="0">
                <a:solidFill>
                  <a:srgbClr val="6B5E45"/>
                </a:solidFill>
                <a:latin typeface="Malgun Gothic" pitchFamily="34" charset="0"/>
                <a:ea typeface="Malgun Gothic" pitchFamily="34" charset="-122"/>
                <a:cs typeface="Malgun Gothic" pitchFamily="34" charset="-120"/>
              </a:rPr>
              <a:t>프롬프트 핵심 (전문은 발표자 노트)</a:t>
            </a:r>
            <a:endParaRPr lang="en-US" sz="1400" dirty="0"/>
          </a:p>
        </p:txBody>
      </p:sp>
      <p:sp>
        <p:nvSpPr>
          <p:cNvPr id="13" name="Shape 10"/>
          <p:cNvSpPr/>
          <p:nvPr/>
        </p:nvSpPr>
        <p:spPr>
          <a:xfrm>
            <a:off x="548640" y="4023360"/>
            <a:ext cx="11064240" cy="1783080"/>
          </a:xfrm>
          <a:prstGeom prst="roundRect">
            <a:avLst>
              <a:gd name="adj" fmla="val 5128"/>
            </a:avLst>
          </a:prstGeom>
          <a:solidFill>
            <a:srgbClr val="2A2314"/>
          </a:solidFill>
          <a:ln w="12700">
            <a:solidFill>
              <a:srgbClr val="2A2314"/>
            </a:solidFill>
            <a:prstDash val="solid"/>
          </a:ln>
        </p:spPr>
        <p:txBody>
          <a:bodyPr/>
          <a:lstStyle/>
          <a:p>
            <a:endParaRPr lang="ko-KR" altLang="en-US"/>
          </a:p>
        </p:txBody>
      </p:sp>
      <p:sp>
        <p:nvSpPr>
          <p:cNvPr id="14" name="Text 11"/>
          <p:cNvSpPr txBox="1"/>
          <p:nvPr/>
        </p:nvSpPr>
        <p:spPr>
          <a:xfrm>
            <a:off x="731520" y="4114800"/>
            <a:ext cx="10698480" cy="1600200"/>
          </a:xfrm>
          <a:prstGeom prst="rect">
            <a:avLst/>
          </a:prstGeom>
          <a:noFill/>
          <a:ln/>
        </p:spPr>
        <p:txBody>
          <a:bodyPr wrap="square" lIns="0" tIns="0" rIns="0" bIns="0" rtlCol="0" anchor="t"/>
          <a:lstStyle/>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학생 화면에 "수업코드로 가입하기"를 추가해 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코드는 앞뒤 공백 제거 후 대문자로</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classes/{코드} 문서 한 건만 읽기 (전체 다운로드·where 검색 금지)</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있으면 members/{내 uid} 생성: joinedAt, uid 두 개만</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이미 가입 → "이미 가입한 수업이에요"</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없는 코드 → "수업코드를 다시 확인해 주세요"</a:t>
            </a:r>
            <a:endParaRPr lang="en-US" sz="1500" dirty="0"/>
          </a:p>
        </p:txBody>
      </p:sp>
      <p:sp>
        <p:nvSpPr>
          <p:cNvPr id="15" name="Text 12"/>
          <p:cNvSpPr txBox="1"/>
          <p:nvPr/>
        </p:nvSpPr>
        <p:spPr>
          <a:xfrm>
            <a:off x="548640" y="5943600"/>
            <a:ext cx="11064240" cy="457200"/>
          </a:xfrm>
          <a:prstGeom prst="rect">
            <a:avLst/>
          </a:prstGeom>
          <a:noFill/>
          <a:ln/>
        </p:spPr>
        <p:txBody>
          <a:bodyPr wrap="square" lIns="0" tIns="0" rIns="0" bIns="0" rtlCol="0" anchor="ctr"/>
          <a:lstStyle/>
          <a:p>
            <a:pPr marL="0" indent="0">
              <a:buNone/>
            </a:pPr>
            <a:r>
              <a:rPr lang="en-US" sz="1600" b="1" dirty="0">
                <a:solidFill>
                  <a:srgbClr val="B0402C"/>
                </a:solidFill>
                <a:latin typeface="Malgun Gothic" pitchFamily="34" charset="0"/>
                <a:ea typeface="Malgun Gothic" pitchFamily="34" charset="-122"/>
                <a:cs typeface="Malgun Gothic" pitchFamily="34" charset="-120"/>
              </a:rPr>
              <a:t>막힐 때  </a:t>
            </a:r>
            <a:r>
              <a:rPr lang="en-US" sz="1600" dirty="0">
                <a:solidFill>
                  <a:srgbClr val="2A2314"/>
                </a:solidFill>
                <a:latin typeface="Malgun Gothic" pitchFamily="34" charset="0"/>
                <a:ea typeface="Malgun Gothic" pitchFamily="34" charset="-122"/>
                <a:cs typeface="Malgun Gothic" pitchFamily="34" charset="-120"/>
              </a:rPr>
              <a:t>맞는 코드인데 "없는 코드"면 소문자·공백이 섞였는지 확인</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3 · 수업코드 수강신청</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실습 3: 내 수업 목록</a:t>
            </a:r>
            <a:endParaRPr lang="en-US" sz="3600" dirty="0"/>
          </a:p>
        </p:txBody>
      </p:sp>
      <p:sp>
        <p:nvSpPr>
          <p:cNvPr id="6" name="Text 3"/>
          <p:cNvSpPr txBox="1"/>
          <p:nvPr/>
        </p:nvSpPr>
        <p:spPr>
          <a:xfrm>
            <a:off x="548640" y="1508760"/>
            <a:ext cx="11064240" cy="118872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교사는 내가 만든 수업, 학생은 내가 가입한 수업이 목록으로</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학생 목록에는 수업 제목만 보인다</a:t>
            </a:r>
            <a:endParaRPr lang="en-US" sz="2400" dirty="0"/>
          </a:p>
        </p:txBody>
      </p:sp>
      <p:sp>
        <p:nvSpPr>
          <p:cNvPr id="7" name="Text 4"/>
          <p:cNvSpPr/>
          <p:nvPr/>
        </p:nvSpPr>
        <p:spPr>
          <a:xfrm>
            <a:off x="548640" y="2743200"/>
            <a:ext cx="5394960" cy="914400"/>
          </a:xfrm>
          <a:prstGeom prst="roundRect">
            <a:avLst>
              <a:gd name="adj" fmla="val 12000"/>
            </a:avLst>
          </a:prstGeom>
          <a:solidFill>
            <a:srgbClr val="DCE9E5"/>
          </a:solidFill>
          <a:ln w="25400">
            <a:solidFill>
              <a:srgbClr val="356E67"/>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교사: 내가 만든 수업</a:t>
            </a:r>
            <a:endParaRPr lang="en-US" sz="1800" dirty="0"/>
          </a:p>
          <a:p>
            <a:pPr marL="0" indent="0" algn="ctr">
              <a:buNone/>
            </a:pPr>
            <a:r>
              <a:rPr lang="en-US" sz="1800" dirty="0">
                <a:solidFill>
                  <a:srgbClr val="2A2314"/>
                </a:solidFill>
                <a:latin typeface="Malgun Gothic" pitchFamily="34" charset="0"/>
                <a:ea typeface="Malgun Gothic" pitchFamily="34" charset="-122"/>
                <a:cs typeface="Malgun Gothic" pitchFamily="34" charset="-120"/>
              </a:rPr>
              <a:t>제목 + 수업코드</a:t>
            </a:r>
            <a:endParaRPr lang="en-US" sz="1800" dirty="0"/>
          </a:p>
        </p:txBody>
      </p:sp>
      <p:sp>
        <p:nvSpPr>
          <p:cNvPr id="8" name="Text 5"/>
          <p:cNvSpPr/>
          <p:nvPr/>
        </p:nvSpPr>
        <p:spPr>
          <a:xfrm>
            <a:off x="6217920" y="2743200"/>
            <a:ext cx="5394960" cy="914400"/>
          </a:xfrm>
          <a:prstGeom prst="roundRect">
            <a:avLst>
              <a:gd name="adj" fmla="val 12000"/>
            </a:avLst>
          </a:prstGeom>
          <a:solidFill>
            <a:srgbClr val="F3DDD6"/>
          </a:solidFill>
          <a:ln w="25400">
            <a:solidFill>
              <a:srgbClr val="B0402C"/>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학생: 내가 가입한 수업</a:t>
            </a:r>
            <a:endParaRPr lang="en-US" sz="1800" dirty="0"/>
          </a:p>
          <a:p>
            <a:pPr marL="0" indent="0" algn="ctr">
              <a:buNone/>
            </a:pPr>
            <a:r>
              <a:rPr lang="en-US" sz="1800" dirty="0">
                <a:solidFill>
                  <a:srgbClr val="2A2314"/>
                </a:solidFill>
                <a:latin typeface="Malgun Gothic" pitchFamily="34" charset="0"/>
                <a:ea typeface="Malgun Gothic" pitchFamily="34" charset="-122"/>
                <a:cs typeface="Malgun Gothic" pitchFamily="34" charset="-120"/>
              </a:rPr>
              <a:t>제목만 (수업코드는 숨김)</a:t>
            </a:r>
            <a:endParaRPr lang="en-US" sz="1800" dirty="0"/>
          </a:p>
        </p:txBody>
      </p:sp>
      <p:sp>
        <p:nvSpPr>
          <p:cNvPr id="9" name="Text 6"/>
          <p:cNvSpPr txBox="1"/>
          <p:nvPr/>
        </p:nvSpPr>
        <p:spPr>
          <a:xfrm>
            <a:off x="548640" y="3730752"/>
            <a:ext cx="11064240" cy="274320"/>
          </a:xfrm>
          <a:prstGeom prst="rect">
            <a:avLst/>
          </a:prstGeom>
          <a:noFill/>
          <a:ln/>
        </p:spPr>
        <p:txBody>
          <a:bodyPr wrap="square" lIns="0" tIns="0" rIns="0" bIns="0" rtlCol="0" anchor="ctr"/>
          <a:lstStyle/>
          <a:p>
            <a:pPr marL="0" indent="0">
              <a:buNone/>
            </a:pPr>
            <a:r>
              <a:rPr lang="en-US" sz="1400" dirty="0">
                <a:solidFill>
                  <a:srgbClr val="6B5E45"/>
                </a:solidFill>
                <a:latin typeface="Malgun Gothic" pitchFamily="34" charset="0"/>
                <a:ea typeface="Malgun Gothic" pitchFamily="34" charset="-122"/>
                <a:cs typeface="Malgun Gothic" pitchFamily="34" charset="-120"/>
              </a:rPr>
              <a:t>프롬프트 핵심 (전문은 발표자 노트)</a:t>
            </a:r>
            <a:endParaRPr lang="en-US" sz="1400" dirty="0"/>
          </a:p>
        </p:txBody>
      </p:sp>
      <p:sp>
        <p:nvSpPr>
          <p:cNvPr id="10" name="Shape 7"/>
          <p:cNvSpPr/>
          <p:nvPr/>
        </p:nvSpPr>
        <p:spPr>
          <a:xfrm>
            <a:off x="548640" y="4023360"/>
            <a:ext cx="11064240" cy="1417320"/>
          </a:xfrm>
          <a:prstGeom prst="roundRect">
            <a:avLst>
              <a:gd name="adj" fmla="val 6452"/>
            </a:avLst>
          </a:prstGeom>
          <a:solidFill>
            <a:srgbClr val="2A2314"/>
          </a:solidFill>
          <a:ln w="12700">
            <a:solidFill>
              <a:srgbClr val="2A2314"/>
            </a:solidFill>
            <a:prstDash val="solid"/>
          </a:ln>
        </p:spPr>
        <p:txBody>
          <a:bodyPr/>
          <a:lstStyle/>
          <a:p>
            <a:endParaRPr lang="ko-KR" altLang="en-US"/>
          </a:p>
        </p:txBody>
      </p:sp>
      <p:sp>
        <p:nvSpPr>
          <p:cNvPr id="11" name="Text 8"/>
          <p:cNvSpPr txBox="1"/>
          <p:nvPr/>
        </p:nvSpPr>
        <p:spPr>
          <a:xfrm>
            <a:off x="731520" y="4114800"/>
            <a:ext cx="10698480" cy="1234440"/>
          </a:xfrm>
          <a:prstGeom prst="rect">
            <a:avLst/>
          </a:prstGeom>
          <a:noFill/>
          <a:ln/>
        </p:spPr>
        <p:txBody>
          <a:bodyPr wrap="square" lIns="0" tIns="0" rIns="0" bIns="0" rtlCol="0" anchor="t"/>
          <a:lstStyle/>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첫 화면에 "내 수업" 목록을 보여 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교사: teacherUid가 내 uid인 수업 (제목+수업코드)</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학생: members 컬렉션 그룹 조회로 uid가 내 uid인 가입 문서 → 부모 수업 제목만</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비었으면 "아직 수업이 없어요"</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제목을 누르면 #/class/{classId} 수업 화면으로</a:t>
            </a:r>
            <a:endParaRPr lang="en-US" sz="1500" dirty="0"/>
          </a:p>
        </p:txBody>
      </p:sp>
      <p:sp>
        <p:nvSpPr>
          <p:cNvPr id="12" name="Text 9"/>
          <p:cNvSpPr/>
          <p:nvPr/>
        </p:nvSpPr>
        <p:spPr>
          <a:xfrm>
            <a:off x="548640" y="5623560"/>
            <a:ext cx="11064240" cy="685800"/>
          </a:xfrm>
          <a:prstGeom prst="roundRect">
            <a:avLst>
              <a:gd name="adj" fmla="val 13333"/>
            </a:avLst>
          </a:prstGeom>
          <a:solidFill>
            <a:srgbClr val="FFF1CC"/>
          </a:solidFill>
          <a:ln w="25400">
            <a:solidFill>
              <a:srgbClr val="B0402C"/>
            </a:solidFill>
          </a:ln>
        </p:spPr>
        <p:txBody>
          <a:bodyPr wrap="square" lIns="127000" tIns="127000" rIns="127000" bIns="127000" rtlCol="0" anchor="ctr"/>
          <a:lstStyle/>
          <a:p>
            <a:pPr marL="0" indent="0" algn="l">
              <a:buNone/>
            </a:pPr>
            <a:r>
              <a:rPr lang="en-US" sz="1800" b="1" dirty="0">
                <a:solidFill>
                  <a:srgbClr val="B0402C"/>
                </a:solidFill>
                <a:latin typeface="Malgun Gothic" pitchFamily="34" charset="0"/>
                <a:ea typeface="Malgun Gothic" pitchFamily="34" charset="-122"/>
                <a:cs typeface="Malgun Gothic" pitchFamily="34" charset="-120"/>
              </a:rPr>
              <a:t>거의 모두에게 "색인(index) 필요" 오류가 한 번 나온다 → 오류의 링크를 눌러 색인을 만들고 1~5분 기다린 뒤 새로고침</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3 · 수업코드 수강신청</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짝 활동: 옆 사람 코드로 가입</a:t>
            </a:r>
            <a:endParaRPr lang="en-US" sz="3600" dirty="0"/>
          </a:p>
        </p:txBody>
      </p:sp>
      <p:sp>
        <p:nvSpPr>
          <p:cNvPr id="6" name="Text 3"/>
          <p:cNvSpPr txBox="1"/>
          <p:nvPr/>
        </p:nvSpPr>
        <p:spPr>
          <a:xfrm>
            <a:off x="548640" y="1508760"/>
            <a:ext cx="11064240" cy="118872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옆 사람의 수업코드로 가입해 보자</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일부러 틀린 코드도 넣어 보자. 어떻게 되는가?</a:t>
            </a:r>
            <a:endParaRPr lang="en-US" sz="2400" dirty="0"/>
          </a:p>
        </p:txBody>
      </p:sp>
      <p:sp>
        <p:nvSpPr>
          <p:cNvPr id="7" name="Text 4"/>
          <p:cNvSpPr/>
          <p:nvPr/>
        </p:nvSpPr>
        <p:spPr>
          <a:xfrm>
            <a:off x="548640" y="2926080"/>
            <a:ext cx="2560320" cy="1097280"/>
          </a:xfrm>
          <a:prstGeom prst="roundRect">
            <a:avLst>
              <a:gd name="adj" fmla="val 10000"/>
            </a:avLst>
          </a:prstGeom>
          <a:solidFill>
            <a:srgbClr val="DCE9E5"/>
          </a:solidFill>
          <a:ln w="25400">
            <a:solidFill>
              <a:srgbClr val="356E67"/>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교사 역할</a:t>
            </a:r>
            <a:endParaRPr lang="en-US" sz="1800" dirty="0"/>
          </a:p>
          <a:p>
            <a:pPr marL="0" indent="0" algn="ctr">
              <a:buNone/>
            </a:pPr>
            <a:r>
              <a:rPr lang="en-US" sz="1800" dirty="0">
                <a:solidFill>
                  <a:srgbClr val="2A2314"/>
                </a:solidFill>
                <a:latin typeface="Malgun Gothic" pitchFamily="34" charset="0"/>
                <a:ea typeface="Malgun Gothic" pitchFamily="34" charset="-122"/>
                <a:cs typeface="Malgun Gothic" pitchFamily="34" charset="-120"/>
              </a:rPr>
              <a:t>코드 알려 주기</a:t>
            </a:r>
            <a:endParaRPr lang="en-US" sz="1800" dirty="0"/>
          </a:p>
        </p:txBody>
      </p:sp>
      <p:sp>
        <p:nvSpPr>
          <p:cNvPr id="8" name="Text 5"/>
          <p:cNvSpPr/>
          <p:nvPr/>
        </p:nvSpPr>
        <p:spPr>
          <a:xfrm>
            <a:off x="3200400" y="3063240"/>
            <a:ext cx="731520" cy="822960"/>
          </a:xfrm>
          <a:prstGeom prst="rect">
            <a:avLst/>
          </a:prstGeom>
          <a:noFill/>
          <a:ln/>
        </p:spPr>
        <p:txBody>
          <a:bodyPr wrap="square" lIns="0" tIns="0" rIns="0" bIns="0" rtlCol="0" anchor="ctr"/>
          <a:lstStyle/>
          <a:p>
            <a:pPr marL="0" indent="0" algn="ctr">
              <a:buNone/>
            </a:pPr>
            <a:r>
              <a:rPr lang="en-US" sz="3600" b="1" dirty="0">
                <a:solidFill>
                  <a:srgbClr val="6B5E45"/>
                </a:solidFill>
                <a:latin typeface="Malgun Gothic" pitchFamily="34" charset="0"/>
                <a:ea typeface="Malgun Gothic" pitchFamily="34" charset="-122"/>
                <a:cs typeface="Malgun Gothic" pitchFamily="34" charset="-120"/>
              </a:rPr>
              <a:t>⇄</a:t>
            </a:r>
            <a:endParaRPr lang="en-US" sz="3600" dirty="0"/>
          </a:p>
        </p:txBody>
      </p:sp>
      <p:sp>
        <p:nvSpPr>
          <p:cNvPr id="9" name="Text 6"/>
          <p:cNvSpPr/>
          <p:nvPr/>
        </p:nvSpPr>
        <p:spPr>
          <a:xfrm>
            <a:off x="4023360" y="2926080"/>
            <a:ext cx="2560320" cy="1097280"/>
          </a:xfrm>
          <a:prstGeom prst="roundRect">
            <a:avLst>
              <a:gd name="adj" fmla="val 10000"/>
            </a:avLst>
          </a:prstGeom>
          <a:solidFill>
            <a:srgbClr val="F3DDD6"/>
          </a:solidFill>
          <a:ln w="25400">
            <a:solidFill>
              <a:srgbClr val="B0402C"/>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학생 역할</a:t>
            </a:r>
            <a:endParaRPr lang="en-US" sz="1800" dirty="0"/>
          </a:p>
          <a:p>
            <a:pPr marL="0" indent="0" algn="ctr">
              <a:buNone/>
            </a:pPr>
            <a:r>
              <a:rPr lang="en-US" sz="1800" dirty="0">
                <a:solidFill>
                  <a:srgbClr val="2A2314"/>
                </a:solidFill>
                <a:latin typeface="Malgun Gothic" pitchFamily="34" charset="0"/>
                <a:ea typeface="Malgun Gothic" pitchFamily="34" charset="-122"/>
                <a:cs typeface="Malgun Gothic" pitchFamily="34" charset="-120"/>
              </a:rPr>
              <a:t>코드 입력</a:t>
            </a:r>
            <a:endParaRPr lang="en-US" sz="1800" dirty="0"/>
          </a:p>
        </p:txBody>
      </p:sp>
      <p:sp>
        <p:nvSpPr>
          <p:cNvPr id="10" name="Text 7"/>
          <p:cNvSpPr/>
          <p:nvPr/>
        </p:nvSpPr>
        <p:spPr>
          <a:xfrm>
            <a:off x="7040880" y="2743200"/>
            <a:ext cx="4572000" cy="658368"/>
          </a:xfrm>
          <a:prstGeom prst="roundRect">
            <a:avLst>
              <a:gd name="adj" fmla="val 16667"/>
            </a:avLst>
          </a:prstGeom>
          <a:solidFill>
            <a:srgbClr val="FFFBF0"/>
          </a:solidFill>
          <a:ln w="25400">
            <a:solidFill>
              <a:srgbClr val="B0402C"/>
            </a:solidFill>
          </a:ln>
        </p:spPr>
        <p:txBody>
          <a:bodyPr wrap="square" lIns="127000" tIns="127000" rIns="127000" bIns="127000" rtlCol="0" anchor="ctr"/>
          <a:lstStyle/>
          <a:p>
            <a:pPr marL="0" indent="0" algn="l">
              <a:buNone/>
            </a:pPr>
            <a:r>
              <a:rPr lang="en-US" sz="2000" dirty="0">
                <a:solidFill>
                  <a:srgbClr val="2A2314"/>
                </a:solidFill>
                <a:latin typeface="Malgun Gothic" pitchFamily="34" charset="0"/>
                <a:ea typeface="Malgun Gothic" pitchFamily="34" charset="-122"/>
                <a:cs typeface="Malgun Gothic" pitchFamily="34" charset="-120"/>
              </a:rPr>
              <a:t>(1) 맞는 코드를 넣으면?</a:t>
            </a:r>
            <a:endParaRPr lang="en-US" sz="2000" dirty="0"/>
          </a:p>
        </p:txBody>
      </p:sp>
      <p:sp>
        <p:nvSpPr>
          <p:cNvPr id="11" name="Text 8"/>
          <p:cNvSpPr/>
          <p:nvPr/>
        </p:nvSpPr>
        <p:spPr>
          <a:xfrm>
            <a:off x="7040880" y="3520440"/>
            <a:ext cx="4572000" cy="658368"/>
          </a:xfrm>
          <a:prstGeom prst="roundRect">
            <a:avLst>
              <a:gd name="adj" fmla="val 16667"/>
            </a:avLst>
          </a:prstGeom>
          <a:solidFill>
            <a:srgbClr val="FFFBF0"/>
          </a:solidFill>
          <a:ln w="25400">
            <a:solidFill>
              <a:srgbClr val="B0402C"/>
            </a:solidFill>
          </a:ln>
        </p:spPr>
        <p:txBody>
          <a:bodyPr wrap="square" lIns="127000" tIns="127000" rIns="127000" bIns="127000" rtlCol="0" anchor="ctr"/>
          <a:lstStyle/>
          <a:p>
            <a:pPr marL="0" indent="0" algn="l">
              <a:buNone/>
            </a:pPr>
            <a:r>
              <a:rPr lang="en-US" sz="2000" dirty="0">
                <a:solidFill>
                  <a:srgbClr val="2A2314"/>
                </a:solidFill>
                <a:latin typeface="Malgun Gothic" pitchFamily="34" charset="0"/>
                <a:ea typeface="Malgun Gothic" pitchFamily="34" charset="-122"/>
                <a:cs typeface="Malgun Gothic" pitchFamily="34" charset="-120"/>
              </a:rPr>
              <a:t>(2) 틀린 코드를 넣으면?</a:t>
            </a:r>
            <a:endParaRPr lang="en-US" sz="2000" dirty="0"/>
          </a:p>
        </p:txBody>
      </p:sp>
      <p:sp>
        <p:nvSpPr>
          <p:cNvPr id="12" name="Text 9"/>
          <p:cNvSpPr/>
          <p:nvPr/>
        </p:nvSpPr>
        <p:spPr>
          <a:xfrm>
            <a:off x="7040880" y="4297680"/>
            <a:ext cx="4572000" cy="658368"/>
          </a:xfrm>
          <a:prstGeom prst="roundRect">
            <a:avLst>
              <a:gd name="adj" fmla="val 16667"/>
            </a:avLst>
          </a:prstGeom>
          <a:solidFill>
            <a:srgbClr val="FFFBF0"/>
          </a:solidFill>
          <a:ln w="25400">
            <a:solidFill>
              <a:srgbClr val="B0402C"/>
            </a:solidFill>
          </a:ln>
        </p:spPr>
        <p:txBody>
          <a:bodyPr wrap="square" lIns="127000" tIns="127000" rIns="127000" bIns="127000" rtlCol="0" anchor="ctr"/>
          <a:lstStyle/>
          <a:p>
            <a:pPr marL="0" indent="0" algn="l">
              <a:buNone/>
            </a:pPr>
            <a:r>
              <a:rPr lang="en-US" sz="2000" dirty="0">
                <a:solidFill>
                  <a:srgbClr val="2A2314"/>
                </a:solidFill>
                <a:latin typeface="Malgun Gothic" pitchFamily="34" charset="0"/>
                <a:ea typeface="Malgun Gothic" pitchFamily="34" charset="-122"/>
                <a:cs typeface="Malgun Gothic" pitchFamily="34" charset="-120"/>
              </a:rPr>
              <a:t>(3) 같은 코드를 두 번 넣으면?</a:t>
            </a:r>
            <a:endParaRPr lang="en-US" sz="2000" dirty="0"/>
          </a:p>
        </p:txBody>
      </p:sp>
      <p:sp>
        <p:nvSpPr>
          <p:cNvPr id="13" name="Text 10"/>
          <p:cNvSpPr txBox="1"/>
          <p:nvPr/>
        </p:nvSpPr>
        <p:spPr>
          <a:xfrm>
            <a:off x="548640" y="5760720"/>
            <a:ext cx="11064240" cy="457200"/>
          </a:xfrm>
          <a:prstGeom prst="rect">
            <a:avLst/>
          </a:prstGeom>
          <a:noFill/>
          <a:ln/>
        </p:spPr>
        <p:txBody>
          <a:bodyPr wrap="square" lIns="0" tIns="0" rIns="0" bIns="0" rtlCol="0" anchor="ctr"/>
          <a:lstStyle/>
          <a:p>
            <a:pPr marL="0" indent="0">
              <a:buNone/>
            </a:pPr>
            <a:r>
              <a:rPr lang="en-US" sz="1800" b="1" dirty="0">
                <a:solidFill>
                  <a:srgbClr val="B0402C"/>
                </a:solidFill>
                <a:latin typeface="Malgun Gothic" pitchFamily="34" charset="0"/>
                <a:ea typeface="Malgun Gothic" pitchFamily="34" charset="-122"/>
                <a:cs typeface="Malgun Gothic" pitchFamily="34" charset="-120"/>
              </a:rPr>
              <a:t>막힐 때  </a:t>
            </a:r>
            <a:r>
              <a:rPr lang="en-US" sz="1800" dirty="0">
                <a:solidFill>
                  <a:srgbClr val="2A2314"/>
                </a:solidFill>
                <a:latin typeface="Malgun Gothic" pitchFamily="34" charset="0"/>
                <a:ea typeface="Malgun Gothic" pitchFamily="34" charset="-122"/>
                <a:cs typeface="Malgun Gothic" pitchFamily="34" charset="-120"/>
              </a:rPr>
              <a:t>틀린 코드에서 흰 화면이면 "틀린 코드를 넣으면 친절한 안내가 나오게 해 줘"</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3 · 수업코드 수강신청</a:t>
            </a:r>
            <a:endParaRPr lang="en-US" sz="1600" dirty="0"/>
          </a:p>
        </p:txBody>
      </p:sp>
      <p:sp>
        <p:nvSpPr>
          <p:cNvPr id="3" name="Text 1"/>
          <p:cNvSpPr/>
          <p:nvPr/>
        </p:nvSpPr>
        <p:spPr>
          <a:xfrm>
            <a:off x="5394960" y="274320"/>
            <a:ext cx="822960" cy="329184"/>
          </a:xfrm>
          <a:prstGeom prst="roundRect">
            <a:avLst>
              <a:gd name="adj" fmla="val 50000"/>
            </a:avLst>
          </a:prstGeom>
          <a:solidFill>
            <a:srgbClr val="6B5E45"/>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정리</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막힘 모음과 복구 지점</a:t>
            </a:r>
            <a:endParaRPr lang="en-US" sz="3600" dirty="0"/>
          </a:p>
        </p:txBody>
      </p:sp>
      <p:sp>
        <p:nvSpPr>
          <p:cNvPr id="6" name="Text 3"/>
          <p:cNvSpPr txBox="1"/>
          <p:nvPr/>
        </p:nvSpPr>
        <p:spPr>
          <a:xfrm>
            <a:off x="548640" y="1508760"/>
            <a:ext cx="11064240" cy="118872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색인 필요 오류는 안내 링크로 해결</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권한 오류는 오류 메시지를 통째로 붙여넣기</a:t>
            </a:r>
            <a:endParaRPr lang="en-US" sz="2400" dirty="0"/>
          </a:p>
        </p:txBody>
      </p:sp>
      <p:sp>
        <p:nvSpPr>
          <p:cNvPr id="7" name="Text 4"/>
          <p:cNvSpPr/>
          <p:nvPr/>
        </p:nvSpPr>
        <p:spPr>
          <a:xfrm>
            <a:off x="548640" y="3017520"/>
            <a:ext cx="3566160" cy="1828800"/>
          </a:xfrm>
          <a:prstGeom prst="roundRect">
            <a:avLst>
              <a:gd name="adj" fmla="val 6000"/>
            </a:avLst>
          </a:prstGeom>
          <a:solidFill>
            <a:srgbClr val="FFFBF0"/>
          </a:solidFill>
          <a:ln w="25400">
            <a:solidFill>
              <a:srgbClr val="356E67"/>
            </a:solidFill>
          </a:ln>
        </p:spPr>
        <p:txBody>
          <a:bodyPr wrap="square" lIns="76200" tIns="76200" rIns="76200" bIns="76200" rtlCol="0" anchor="ctr"/>
          <a:lstStyle/>
          <a:p>
            <a:pPr marL="0" indent="0" algn="ctr">
              <a:buNone/>
            </a:pPr>
            <a:endParaRPr lang="en-US" sz="1800" dirty="0"/>
          </a:p>
        </p:txBody>
      </p:sp>
      <p:sp>
        <p:nvSpPr>
          <p:cNvPr id="8" name="Text 5"/>
          <p:cNvSpPr txBox="1"/>
          <p:nvPr/>
        </p:nvSpPr>
        <p:spPr>
          <a:xfrm>
            <a:off x="731520" y="3108960"/>
            <a:ext cx="3200400" cy="868680"/>
          </a:xfrm>
          <a:prstGeom prst="rect">
            <a:avLst/>
          </a:prstGeom>
          <a:noFill/>
          <a:ln/>
        </p:spPr>
        <p:txBody>
          <a:bodyPr wrap="square" lIns="0" tIns="0" rIns="0" bIns="0" rtlCol="0" anchor="ctr"/>
          <a:lstStyle/>
          <a:p>
            <a:pPr marL="0" indent="0">
              <a:buNone/>
            </a:pPr>
            <a:r>
              <a:rPr lang="en-US" sz="1800" b="1" dirty="0">
                <a:solidFill>
                  <a:srgbClr val="B0402C"/>
                </a:solidFill>
                <a:latin typeface="Malgun Gothic" pitchFamily="34" charset="0"/>
                <a:ea typeface="Malgun Gothic" pitchFamily="34" charset="-122"/>
                <a:cs typeface="Malgun Gothic" pitchFamily="34" charset="-120"/>
              </a:rPr>
              <a:t>"The query requires an index"</a:t>
            </a:r>
            <a:endParaRPr lang="en-US" sz="1800" dirty="0"/>
          </a:p>
        </p:txBody>
      </p:sp>
      <p:sp>
        <p:nvSpPr>
          <p:cNvPr id="9" name="Text 6"/>
          <p:cNvSpPr txBox="1"/>
          <p:nvPr/>
        </p:nvSpPr>
        <p:spPr>
          <a:xfrm>
            <a:off x="731520" y="4023360"/>
            <a:ext cx="3200400" cy="731520"/>
          </a:xfrm>
          <a:prstGeom prst="rect">
            <a:avLst/>
          </a:prstGeom>
          <a:noFill/>
          <a:ln/>
        </p:spPr>
        <p:txBody>
          <a:bodyPr wrap="square" lIns="0" tIns="0" rIns="0" bIns="0" rtlCol="0" anchor="ctr"/>
          <a:lstStyle/>
          <a:p>
            <a:pPr marL="0" indent="0">
              <a:buNone/>
            </a:pPr>
            <a:r>
              <a:rPr lang="en-US" sz="1800" dirty="0">
                <a:solidFill>
                  <a:srgbClr val="2A2314"/>
                </a:solidFill>
                <a:latin typeface="Malgun Gothic" pitchFamily="34" charset="0"/>
                <a:ea typeface="Malgun Gothic" pitchFamily="34" charset="-122"/>
                <a:cs typeface="Malgun Gothic" pitchFamily="34" charset="-120"/>
              </a:rPr>
              <a:t>→ 링크 클릭 → 몇 분 기다리기</a:t>
            </a:r>
            <a:endParaRPr lang="en-US" sz="1800" dirty="0"/>
          </a:p>
        </p:txBody>
      </p:sp>
      <p:sp>
        <p:nvSpPr>
          <p:cNvPr id="10" name="Text 7"/>
          <p:cNvSpPr/>
          <p:nvPr/>
        </p:nvSpPr>
        <p:spPr>
          <a:xfrm>
            <a:off x="4297680" y="3017520"/>
            <a:ext cx="3566160" cy="1828800"/>
          </a:xfrm>
          <a:prstGeom prst="roundRect">
            <a:avLst>
              <a:gd name="adj" fmla="val 6000"/>
            </a:avLst>
          </a:prstGeom>
          <a:solidFill>
            <a:srgbClr val="FFFBF0"/>
          </a:solidFill>
          <a:ln w="25400">
            <a:solidFill>
              <a:srgbClr val="356E67"/>
            </a:solidFill>
          </a:ln>
        </p:spPr>
        <p:txBody>
          <a:bodyPr wrap="square" lIns="76200" tIns="76200" rIns="76200" bIns="76200" rtlCol="0" anchor="ctr"/>
          <a:lstStyle/>
          <a:p>
            <a:pPr marL="0" indent="0" algn="ctr">
              <a:buNone/>
            </a:pPr>
            <a:endParaRPr lang="en-US" sz="1800" dirty="0"/>
          </a:p>
        </p:txBody>
      </p:sp>
      <p:sp>
        <p:nvSpPr>
          <p:cNvPr id="11" name="Text 8"/>
          <p:cNvSpPr txBox="1"/>
          <p:nvPr/>
        </p:nvSpPr>
        <p:spPr>
          <a:xfrm>
            <a:off x="4480560" y="3108960"/>
            <a:ext cx="3200400" cy="868680"/>
          </a:xfrm>
          <a:prstGeom prst="rect">
            <a:avLst/>
          </a:prstGeom>
          <a:noFill/>
          <a:ln/>
        </p:spPr>
        <p:txBody>
          <a:bodyPr wrap="square" lIns="0" tIns="0" rIns="0" bIns="0" rtlCol="0" anchor="ctr"/>
          <a:lstStyle/>
          <a:p>
            <a:pPr marL="0" indent="0">
              <a:buNone/>
            </a:pPr>
            <a:r>
              <a:rPr lang="en-US" sz="1800" b="1" dirty="0">
                <a:solidFill>
                  <a:srgbClr val="B0402C"/>
                </a:solidFill>
                <a:latin typeface="Malgun Gothic" pitchFamily="34" charset="0"/>
                <a:ea typeface="Malgun Gothic" pitchFamily="34" charset="-122"/>
                <a:cs typeface="Malgun Gothic" pitchFamily="34" charset="-120"/>
              </a:rPr>
              <a:t>"Missing or insufficient permissions"</a:t>
            </a:r>
            <a:endParaRPr lang="en-US" sz="1800" dirty="0"/>
          </a:p>
        </p:txBody>
      </p:sp>
      <p:sp>
        <p:nvSpPr>
          <p:cNvPr id="12" name="Text 9"/>
          <p:cNvSpPr txBox="1"/>
          <p:nvPr/>
        </p:nvSpPr>
        <p:spPr>
          <a:xfrm>
            <a:off x="4480560" y="4023360"/>
            <a:ext cx="3200400" cy="731520"/>
          </a:xfrm>
          <a:prstGeom prst="rect">
            <a:avLst/>
          </a:prstGeom>
          <a:noFill/>
          <a:ln/>
        </p:spPr>
        <p:txBody>
          <a:bodyPr wrap="square" lIns="0" tIns="0" rIns="0" bIns="0" rtlCol="0" anchor="ctr"/>
          <a:lstStyle/>
          <a:p>
            <a:pPr marL="0" indent="0">
              <a:buNone/>
            </a:pPr>
            <a:r>
              <a:rPr lang="en-US" sz="1800" dirty="0">
                <a:solidFill>
                  <a:srgbClr val="2A2314"/>
                </a:solidFill>
                <a:latin typeface="Malgun Gothic" pitchFamily="34" charset="0"/>
                <a:ea typeface="Malgun Gothic" pitchFamily="34" charset="-122"/>
                <a:cs typeface="Malgun Gothic" pitchFamily="34" charset="-120"/>
              </a:rPr>
              <a:t>→ 오류 전체 붙여넣기</a:t>
            </a:r>
            <a:endParaRPr lang="en-US" sz="1800" dirty="0"/>
          </a:p>
        </p:txBody>
      </p:sp>
      <p:sp>
        <p:nvSpPr>
          <p:cNvPr id="13" name="Text 10"/>
          <p:cNvSpPr/>
          <p:nvPr/>
        </p:nvSpPr>
        <p:spPr>
          <a:xfrm>
            <a:off x="8046720" y="3017520"/>
            <a:ext cx="3566160" cy="1828800"/>
          </a:xfrm>
          <a:prstGeom prst="roundRect">
            <a:avLst>
              <a:gd name="adj" fmla="val 6000"/>
            </a:avLst>
          </a:prstGeom>
          <a:solidFill>
            <a:srgbClr val="FFFBF0"/>
          </a:solidFill>
          <a:ln w="25400">
            <a:solidFill>
              <a:srgbClr val="356E67"/>
            </a:solidFill>
          </a:ln>
        </p:spPr>
        <p:txBody>
          <a:bodyPr wrap="square" lIns="76200" tIns="76200" rIns="76200" bIns="76200" rtlCol="0" anchor="ctr"/>
          <a:lstStyle/>
          <a:p>
            <a:pPr marL="0" indent="0" algn="ctr">
              <a:buNone/>
            </a:pPr>
            <a:endParaRPr lang="en-US" sz="1800" dirty="0"/>
          </a:p>
        </p:txBody>
      </p:sp>
      <p:sp>
        <p:nvSpPr>
          <p:cNvPr id="14" name="Text 11"/>
          <p:cNvSpPr txBox="1"/>
          <p:nvPr/>
        </p:nvSpPr>
        <p:spPr>
          <a:xfrm>
            <a:off x="8229600" y="3108960"/>
            <a:ext cx="3200400" cy="868680"/>
          </a:xfrm>
          <a:prstGeom prst="rect">
            <a:avLst/>
          </a:prstGeom>
          <a:noFill/>
          <a:ln/>
        </p:spPr>
        <p:txBody>
          <a:bodyPr wrap="square" lIns="0" tIns="0" rIns="0" bIns="0" rtlCol="0" anchor="ctr"/>
          <a:lstStyle/>
          <a:p>
            <a:pPr marL="0" indent="0">
              <a:buNone/>
            </a:pPr>
            <a:r>
              <a:rPr lang="en-US" sz="1800" b="1" dirty="0">
                <a:solidFill>
                  <a:srgbClr val="B0402C"/>
                </a:solidFill>
                <a:latin typeface="Malgun Gothic" pitchFamily="34" charset="0"/>
                <a:ea typeface="Malgun Gothic" pitchFamily="34" charset="-122"/>
                <a:cs typeface="Malgun Gothic" pitchFamily="34" charset="-120"/>
              </a:rPr>
              <a:t>아무것도 안 보임</a:t>
            </a:r>
            <a:endParaRPr lang="en-US" sz="1800" dirty="0"/>
          </a:p>
        </p:txBody>
      </p:sp>
      <p:sp>
        <p:nvSpPr>
          <p:cNvPr id="15" name="Text 12"/>
          <p:cNvSpPr txBox="1"/>
          <p:nvPr/>
        </p:nvSpPr>
        <p:spPr>
          <a:xfrm>
            <a:off x="8229600" y="4023360"/>
            <a:ext cx="3200400" cy="731520"/>
          </a:xfrm>
          <a:prstGeom prst="rect">
            <a:avLst/>
          </a:prstGeom>
          <a:noFill/>
          <a:ln/>
        </p:spPr>
        <p:txBody>
          <a:bodyPr wrap="square" lIns="0" tIns="0" rIns="0" bIns="0" rtlCol="0" anchor="ctr"/>
          <a:lstStyle/>
          <a:p>
            <a:pPr marL="0" indent="0">
              <a:buNone/>
            </a:pPr>
            <a:r>
              <a:rPr lang="en-US" sz="1800" dirty="0">
                <a:solidFill>
                  <a:srgbClr val="2A2314"/>
                </a:solidFill>
                <a:latin typeface="Malgun Gothic" pitchFamily="34" charset="0"/>
                <a:ea typeface="Malgun Gothic" pitchFamily="34" charset="-122"/>
                <a:cs typeface="Malgun Gothic" pitchFamily="34" charset="-120"/>
              </a:rPr>
              <a:t>→ 로그인한 계정의 role 확인</a:t>
            </a:r>
            <a:endParaRPr lang="en-US" sz="1800" dirty="0"/>
          </a:p>
        </p:txBody>
      </p:sp>
      <p:sp>
        <p:nvSpPr>
          <p:cNvPr id="16" name="Text 13"/>
          <p:cNvSpPr txBox="1"/>
          <p:nvPr/>
        </p:nvSpPr>
        <p:spPr>
          <a:xfrm>
            <a:off x="548640" y="5257800"/>
            <a:ext cx="2743200" cy="457200"/>
          </a:xfrm>
          <a:prstGeom prst="rect">
            <a:avLst/>
          </a:prstGeom>
          <a:noFill/>
          <a:ln/>
        </p:spPr>
        <p:txBody>
          <a:bodyPr wrap="square" lIns="0" tIns="0" rIns="0" bIns="0" rtlCol="0" anchor="ctr"/>
          <a:lstStyle/>
          <a:p>
            <a:pPr marL="0" indent="0">
              <a:buNone/>
            </a:pPr>
            <a:r>
              <a:rPr lang="en-US" sz="2000" dirty="0">
                <a:solidFill>
                  <a:srgbClr val="2A2314"/>
                </a:solidFill>
                <a:latin typeface="Malgun Gothic" pitchFamily="34" charset="0"/>
                <a:ea typeface="Malgun Gothic" pitchFamily="34" charset="-122"/>
                <a:cs typeface="Malgun Gothic" pitchFamily="34" charset="-120"/>
              </a:rPr>
              <a:t>그래도 막히면</a:t>
            </a:r>
            <a:endParaRPr lang="en-US" sz="2000" dirty="0"/>
          </a:p>
        </p:txBody>
      </p:sp>
      <p:sp>
        <p:nvSpPr>
          <p:cNvPr id="17" name="Text 14"/>
          <p:cNvSpPr/>
          <p:nvPr/>
        </p:nvSpPr>
        <p:spPr>
          <a:xfrm>
            <a:off x="3200400" y="5257800"/>
            <a:ext cx="2926080" cy="548640"/>
          </a:xfrm>
          <a:prstGeom prst="roundRect">
            <a:avLst>
              <a:gd name="adj" fmla="val 13333"/>
            </a:avLst>
          </a:prstGeom>
          <a:solidFill>
            <a:srgbClr val="FFF1CC"/>
          </a:solidFill>
          <a:ln w="19050">
            <a:solidFill>
              <a:srgbClr val="C9A24A"/>
            </a:solidFill>
          </a:ln>
        </p:spPr>
        <p:txBody>
          <a:bodyPr wrap="square" lIns="25400" tIns="25400" rIns="25400" bIns="25400" rtlCol="0" anchor="ctr"/>
          <a:lstStyle/>
          <a:p>
            <a:pPr marL="0" indent="0" algn="ctr">
              <a:buNone/>
            </a:pPr>
            <a:r>
              <a:rPr lang="en-US" sz="1600" b="1" dirty="0">
                <a:solidFill>
                  <a:srgbClr val="2A2314"/>
                </a:solidFill>
                <a:latin typeface="Consolas" pitchFamily="34" charset="0"/>
                <a:ea typeface="Consolas" pitchFamily="34" charset="-122"/>
                <a:cs typeface="Consolas" pitchFamily="34" charset="-120"/>
              </a:rPr>
              <a:t>checkpoint-m3</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3 · 수업코드 수강신청</a:t>
            </a:r>
            <a:endParaRPr lang="en-US" sz="1600" dirty="0"/>
          </a:p>
        </p:txBody>
      </p:sp>
      <p:sp>
        <p:nvSpPr>
          <p:cNvPr id="3" name="Text 1"/>
          <p:cNvSpPr/>
          <p:nvPr/>
        </p:nvSpPr>
        <p:spPr>
          <a:xfrm>
            <a:off x="5394960" y="274320"/>
            <a:ext cx="822960" cy="329184"/>
          </a:xfrm>
          <a:prstGeom prst="roundRect">
            <a:avLst>
              <a:gd name="adj" fmla="val 50000"/>
            </a:avLst>
          </a:prstGeom>
          <a:solidFill>
            <a:srgbClr val="6B5E45"/>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정리</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휴식 10분</a:t>
            </a:r>
            <a:endParaRPr lang="en-US" sz="3600" dirty="0"/>
          </a:p>
        </p:txBody>
      </p:sp>
      <p:sp>
        <p:nvSpPr>
          <p:cNvPr id="6" name="Text 3"/>
          <p:cNvSpPr txBox="1"/>
          <p:nvPr/>
        </p:nvSpPr>
        <p:spPr>
          <a:xfrm>
            <a:off x="548640" y="1554480"/>
            <a:ext cx="5852160" cy="2194560"/>
          </a:xfrm>
          <a:prstGeom prst="rect">
            <a:avLst/>
          </a:prstGeom>
          <a:noFill/>
          <a:ln/>
        </p:spPr>
        <p:txBody>
          <a:bodyPr wrap="square" lIns="0" tIns="0" rIns="0" bIns="0" rtlCol="0" anchor="ctr"/>
          <a:lstStyle/>
          <a:p>
            <a:pPr marL="0" indent="0" algn="ctr">
              <a:buNone/>
            </a:pPr>
            <a:r>
              <a:rPr lang="en-US" sz="12000" b="1" dirty="0">
                <a:solidFill>
                  <a:srgbClr val="B0402C"/>
                </a:solidFill>
                <a:latin typeface="Malgun Gothic" pitchFamily="34" charset="0"/>
                <a:ea typeface="Malgun Gothic" pitchFamily="34" charset="-122"/>
                <a:cs typeface="Malgun Gothic" pitchFamily="34" charset="-120"/>
              </a:rPr>
              <a:t>10:00</a:t>
            </a:r>
            <a:endParaRPr lang="en-US" sz="12000" dirty="0"/>
          </a:p>
        </p:txBody>
      </p:sp>
      <p:sp>
        <p:nvSpPr>
          <p:cNvPr id="7" name="Text 4"/>
          <p:cNvSpPr txBox="1"/>
          <p:nvPr/>
        </p:nvSpPr>
        <p:spPr>
          <a:xfrm>
            <a:off x="548640" y="3749040"/>
            <a:ext cx="5852160" cy="548640"/>
          </a:xfrm>
          <a:prstGeom prst="rect">
            <a:avLst/>
          </a:prstGeom>
          <a:noFill/>
          <a:ln/>
        </p:spPr>
        <p:txBody>
          <a:bodyPr wrap="square" lIns="0" tIns="0" rIns="0" bIns="0" rtlCol="0" anchor="ctr"/>
          <a:lstStyle/>
          <a:p>
            <a:pPr marL="0" indent="0" algn="ctr">
              <a:buNone/>
            </a:pPr>
            <a:r>
              <a:rPr lang="en-US" sz="2400" b="1" dirty="0">
                <a:solidFill>
                  <a:srgbClr val="356E67"/>
                </a:solidFill>
                <a:latin typeface="Malgun Gothic" pitchFamily="34" charset="0"/>
                <a:ea typeface="Malgun Gothic" pitchFamily="34" charset="-122"/>
                <a:cs typeface="Malgun Gothic" pitchFamily="34" charset="-120"/>
              </a:rPr>
              <a:t>10분 타이머 · 휴식 시간</a:t>
            </a:r>
            <a:endParaRPr lang="en-US" sz="2400" dirty="0"/>
          </a:p>
        </p:txBody>
      </p:sp>
      <p:sp>
        <p:nvSpPr>
          <p:cNvPr id="8" name="Shape 5"/>
          <p:cNvSpPr/>
          <p:nvPr/>
        </p:nvSpPr>
        <p:spPr>
          <a:xfrm>
            <a:off x="7498080" y="2103120"/>
            <a:ext cx="2103120" cy="1828800"/>
          </a:xfrm>
          <a:prstGeom prst="roundRect">
            <a:avLst>
              <a:gd name="adj" fmla="val 10000"/>
            </a:avLst>
          </a:prstGeom>
          <a:solidFill>
            <a:srgbClr val="FFFBF0"/>
          </a:solidFill>
          <a:ln w="38100">
            <a:solidFill>
              <a:srgbClr val="2A2314"/>
            </a:solidFill>
            <a:prstDash val="solid"/>
          </a:ln>
        </p:spPr>
        <p:txBody>
          <a:bodyPr/>
          <a:lstStyle/>
          <a:p>
            <a:endParaRPr lang="ko-KR" altLang="en-US"/>
          </a:p>
        </p:txBody>
      </p:sp>
      <p:sp>
        <p:nvSpPr>
          <p:cNvPr id="9" name="Shape 6"/>
          <p:cNvSpPr/>
          <p:nvPr/>
        </p:nvSpPr>
        <p:spPr>
          <a:xfrm>
            <a:off x="9326880" y="2514600"/>
            <a:ext cx="914400" cy="914400"/>
          </a:xfrm>
          <a:prstGeom prst="donut">
            <a:avLst/>
          </a:prstGeom>
          <a:solidFill>
            <a:srgbClr val="FFFBF0"/>
          </a:solidFill>
          <a:ln w="38100">
            <a:solidFill>
              <a:srgbClr val="2A2314"/>
            </a:solidFill>
            <a:prstDash val="solid"/>
          </a:ln>
        </p:spPr>
        <p:txBody>
          <a:bodyPr/>
          <a:lstStyle/>
          <a:p>
            <a:endParaRPr lang="ko-KR" altLang="en-US"/>
          </a:p>
        </p:txBody>
      </p:sp>
      <p:sp>
        <p:nvSpPr>
          <p:cNvPr id="10" name="Text 7"/>
          <p:cNvSpPr/>
          <p:nvPr/>
        </p:nvSpPr>
        <p:spPr>
          <a:xfrm>
            <a:off x="7498080" y="2103120"/>
            <a:ext cx="2103120" cy="1828800"/>
          </a:xfrm>
          <a:prstGeom prst="rect">
            <a:avLst/>
          </a:prstGeom>
          <a:noFill/>
          <a:ln/>
        </p:spPr>
        <p:txBody>
          <a:bodyPr wrap="square" lIns="0" tIns="0" rIns="0" bIns="0" rtlCol="0" anchor="ctr"/>
          <a:lstStyle/>
          <a:p>
            <a:pPr marL="0" indent="0" algn="ctr">
              <a:buNone/>
            </a:pPr>
            <a:r>
              <a:rPr lang="en-US" sz="2800" b="1" dirty="0">
                <a:solidFill>
                  <a:srgbClr val="B0402C"/>
                </a:solidFill>
                <a:latin typeface="Malgun Gothic" pitchFamily="34" charset="0"/>
                <a:ea typeface="Malgun Gothic" pitchFamily="34" charset="-122"/>
                <a:cs typeface="Malgun Gothic" pitchFamily="34" charset="-120"/>
              </a:rPr>
              <a:t>휴식</a:t>
            </a:r>
            <a:endParaRPr lang="en-US" sz="2800" dirty="0"/>
          </a:p>
        </p:txBody>
      </p:sp>
      <p:sp>
        <p:nvSpPr>
          <p:cNvPr id="11" name="Text 8"/>
          <p:cNvSpPr txBox="1"/>
          <p:nvPr/>
        </p:nvSpPr>
        <p:spPr>
          <a:xfrm>
            <a:off x="548640" y="4572000"/>
            <a:ext cx="7772400" cy="118872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막힌 분은 강사석으로</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checkpoint-m3에서 이어 시작할 수 있어요</a:t>
            </a:r>
            <a:endParaRPr lang="en-US" sz="2400" dirty="0"/>
          </a:p>
        </p:txBody>
      </p:sp>
      <p:sp>
        <p:nvSpPr>
          <p:cNvPr id="12" name="Text 9"/>
          <p:cNvSpPr/>
          <p:nvPr/>
        </p:nvSpPr>
        <p:spPr>
          <a:xfrm>
            <a:off x="8961120" y="5029200"/>
            <a:ext cx="2651760" cy="594360"/>
          </a:xfrm>
          <a:prstGeom prst="roundRect">
            <a:avLst>
              <a:gd name="adj" fmla="val 12308"/>
            </a:avLst>
          </a:prstGeom>
          <a:solidFill>
            <a:srgbClr val="FFF1CC"/>
          </a:solidFill>
          <a:ln w="19050">
            <a:solidFill>
              <a:srgbClr val="C9A24A"/>
            </a:solidFill>
          </a:ln>
        </p:spPr>
        <p:txBody>
          <a:bodyPr wrap="square" lIns="25400" tIns="25400" rIns="25400" bIns="25400" rtlCol="0" anchor="ctr"/>
          <a:lstStyle/>
          <a:p>
            <a:pPr marL="0" indent="0" algn="ctr">
              <a:buNone/>
            </a:pPr>
            <a:r>
              <a:rPr lang="en-US" sz="1600" b="1" dirty="0">
                <a:solidFill>
                  <a:srgbClr val="2A2314"/>
                </a:solidFill>
                <a:latin typeface="Consolas" pitchFamily="34" charset="0"/>
                <a:ea typeface="Consolas" pitchFamily="34" charset="-122"/>
                <a:cs typeface="Consolas" pitchFamily="34" charset="-120"/>
              </a:rPr>
              <a:t>checkpoint-m3</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4 · HTML 수업자료 등록</a:t>
            </a:r>
            <a:endParaRPr lang="en-US" sz="1600" dirty="0"/>
          </a:p>
        </p:txBody>
      </p:sp>
      <p:sp>
        <p:nvSpPr>
          <p:cNvPr id="3" name="Text 1"/>
          <p:cNvSpPr/>
          <p:nvPr/>
        </p:nvSpPr>
        <p:spPr>
          <a:xfrm>
            <a:off x="5394960" y="274320"/>
            <a:ext cx="822960" cy="329184"/>
          </a:xfrm>
          <a:prstGeom prst="roundRect">
            <a:avLst>
              <a:gd name="adj" fmla="val 50000"/>
            </a:avLst>
          </a:prstGeom>
          <a:solidFill>
            <a:srgbClr val="356E67"/>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개념</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내 HTML 자료, 클래스룸에 올리자</a:t>
            </a:r>
            <a:endParaRPr lang="en-US" sz="3600" dirty="0"/>
          </a:p>
        </p:txBody>
      </p:sp>
      <p:sp>
        <p:nvSpPr>
          <p:cNvPr id="6" name="Text 3"/>
          <p:cNvSpPr txBox="1"/>
          <p:nvPr/>
        </p:nvSpPr>
        <p:spPr>
          <a:xfrm>
            <a:off x="548640" y="1554480"/>
            <a:ext cx="11064240" cy="192024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만들어 둔 HTML 수업자료를 클래스룸에 한 번만 올린다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우리 수업 학생들이 자기 화면에서 바로 연다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올린 자료는 Firestore(학급 서류함)에 저장된다</a:t>
            </a:r>
            <a:endParaRPr lang="en-US" sz="2400" dirty="0"/>
          </a:p>
        </p:txBody>
      </p:sp>
      <p:sp>
        <p:nvSpPr>
          <p:cNvPr id="7" name="Text 4"/>
          <p:cNvSpPr/>
          <p:nvPr/>
        </p:nvSpPr>
        <p:spPr>
          <a:xfrm>
            <a:off x="548640" y="3749040"/>
            <a:ext cx="2457450" cy="1371600"/>
          </a:xfrm>
          <a:prstGeom prst="roundRect">
            <a:avLst>
              <a:gd name="adj" fmla="val 8000"/>
            </a:avLst>
          </a:prstGeom>
          <a:solidFill>
            <a:srgbClr val="FFFBF0"/>
          </a:solidFill>
          <a:ln w="15875">
            <a:solidFill>
              <a:srgbClr val="D9CDB0"/>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교사 PC의</a:t>
            </a:r>
            <a:endParaRPr lang="en-US" sz="1800" dirty="0"/>
          </a:p>
          <a:p>
            <a:pPr marL="0" indent="0" algn="ctr">
              <a:buNone/>
            </a:pPr>
            <a:r>
              <a:rPr lang="en-US" sz="1800" dirty="0">
                <a:solidFill>
                  <a:srgbClr val="2A2314"/>
                </a:solidFill>
                <a:latin typeface="Malgun Gothic" pitchFamily="34" charset="0"/>
                <a:ea typeface="Malgun Gothic" pitchFamily="34" charset="-122"/>
                <a:cs typeface="Malgun Gothic" pitchFamily="34" charset="-120"/>
              </a:rPr>
              <a:t>HTML 파일</a:t>
            </a:r>
            <a:endParaRPr lang="en-US" sz="1800" dirty="0"/>
          </a:p>
        </p:txBody>
      </p:sp>
      <p:sp>
        <p:nvSpPr>
          <p:cNvPr id="8" name="Shape 5"/>
          <p:cNvSpPr/>
          <p:nvPr/>
        </p:nvSpPr>
        <p:spPr>
          <a:xfrm>
            <a:off x="3074670" y="428853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9" name="Text 6"/>
          <p:cNvSpPr/>
          <p:nvPr/>
        </p:nvSpPr>
        <p:spPr>
          <a:xfrm>
            <a:off x="3417570" y="3749040"/>
            <a:ext cx="2457450" cy="1371600"/>
          </a:xfrm>
          <a:prstGeom prst="roundRect">
            <a:avLst>
              <a:gd name="adj" fmla="val 8000"/>
            </a:avLst>
          </a:prstGeom>
          <a:solidFill>
            <a:srgbClr val="FFFBF0"/>
          </a:solidFill>
          <a:ln w="15875">
            <a:solidFill>
              <a:srgbClr val="D9CDB0"/>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자료 등록 폼</a:t>
            </a:r>
            <a:endParaRPr lang="en-US" sz="1800" dirty="0"/>
          </a:p>
          <a:p>
            <a:pPr marL="0" indent="0" algn="ctr">
              <a:buNone/>
            </a:pPr>
            <a:r>
              <a:rPr lang="en-US" sz="1800" dirty="0">
                <a:solidFill>
                  <a:srgbClr val="2A2314"/>
                </a:solidFill>
                <a:latin typeface="Malgun Gothic" pitchFamily="34" charset="0"/>
                <a:ea typeface="Malgun Gothic" pitchFamily="34" charset="-122"/>
                <a:cs typeface="Malgun Gothic" pitchFamily="34" charset="-120"/>
              </a:rPr>
              <a:t>(제목 + HTML 붙여넣기)</a:t>
            </a:r>
            <a:endParaRPr lang="en-US" sz="1800" dirty="0"/>
          </a:p>
        </p:txBody>
      </p:sp>
      <p:sp>
        <p:nvSpPr>
          <p:cNvPr id="10" name="Shape 7"/>
          <p:cNvSpPr/>
          <p:nvPr/>
        </p:nvSpPr>
        <p:spPr>
          <a:xfrm>
            <a:off x="5943600" y="428853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1" name="Text 8"/>
          <p:cNvSpPr/>
          <p:nvPr/>
        </p:nvSpPr>
        <p:spPr>
          <a:xfrm>
            <a:off x="6286500" y="3749040"/>
            <a:ext cx="2457450" cy="1371600"/>
          </a:xfrm>
          <a:prstGeom prst="roundRect">
            <a:avLst>
              <a:gd name="adj" fmla="val 8000"/>
            </a:avLst>
          </a:prstGeom>
          <a:solidFill>
            <a:srgbClr val="FFFBF0"/>
          </a:solidFill>
          <a:ln w="15875">
            <a:solidFill>
              <a:srgbClr val="D9CDB0"/>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Firestore</a:t>
            </a:r>
            <a:endParaRPr lang="en-US" sz="1800" dirty="0"/>
          </a:p>
          <a:p>
            <a:pPr marL="0" indent="0" algn="ctr">
              <a:buNone/>
            </a:pPr>
            <a:r>
              <a:rPr lang="en-US" sz="1800" dirty="0">
                <a:solidFill>
                  <a:srgbClr val="2A2314"/>
                </a:solidFill>
                <a:latin typeface="Malgun Gothic" pitchFamily="34" charset="0"/>
                <a:ea typeface="Malgun Gothic" pitchFamily="34" charset="-122"/>
                <a:cs typeface="Malgun Gothic" pitchFamily="34" charset="-120"/>
              </a:rPr>
              <a:t>classes/{classId}/</a:t>
            </a:r>
            <a:endParaRPr lang="en-US" sz="1800" dirty="0"/>
          </a:p>
          <a:p>
            <a:pPr marL="0" indent="0" algn="ctr">
              <a:buNone/>
            </a:pPr>
            <a:r>
              <a:rPr lang="en-US" sz="1800" dirty="0">
                <a:solidFill>
                  <a:srgbClr val="2A2314"/>
                </a:solidFill>
                <a:latin typeface="Malgun Gothic" pitchFamily="34" charset="0"/>
                <a:ea typeface="Malgun Gothic" pitchFamily="34" charset="-122"/>
                <a:cs typeface="Malgun Gothic" pitchFamily="34" charset="-120"/>
              </a:rPr>
              <a:t>materials/{id}</a:t>
            </a:r>
            <a:endParaRPr lang="en-US" sz="1800" dirty="0"/>
          </a:p>
        </p:txBody>
      </p:sp>
      <p:sp>
        <p:nvSpPr>
          <p:cNvPr id="12" name="Shape 9"/>
          <p:cNvSpPr/>
          <p:nvPr/>
        </p:nvSpPr>
        <p:spPr>
          <a:xfrm>
            <a:off x="8812530" y="428853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3" name="Text 10"/>
          <p:cNvSpPr/>
          <p:nvPr/>
        </p:nvSpPr>
        <p:spPr>
          <a:xfrm>
            <a:off x="9155430" y="3749040"/>
            <a:ext cx="2457450" cy="1371600"/>
          </a:xfrm>
          <a:prstGeom prst="roundRect">
            <a:avLst>
              <a:gd name="adj" fmla="val 8000"/>
            </a:avLst>
          </a:prstGeom>
          <a:solidFill>
            <a:srgbClr val="FFFBF0"/>
          </a:solidFill>
          <a:ln w="15875">
            <a:solidFill>
              <a:srgbClr val="D9CDB0"/>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학생 수업 화면의</a:t>
            </a:r>
            <a:endParaRPr lang="en-US" sz="1800" dirty="0"/>
          </a:p>
          <a:p>
            <a:pPr marL="0" indent="0" algn="ctr">
              <a:buNone/>
            </a:pPr>
            <a:r>
              <a:rPr lang="en-US" sz="1800" dirty="0">
                <a:solidFill>
                  <a:srgbClr val="2A2314"/>
                </a:solidFill>
                <a:latin typeface="Malgun Gothic" pitchFamily="34" charset="0"/>
                <a:ea typeface="Malgun Gothic" pitchFamily="34" charset="-122"/>
                <a:cs typeface="Malgun Gothic" pitchFamily="34" charset="-120"/>
              </a:rPr>
              <a:t>자료 목록</a:t>
            </a:r>
            <a:endParaRPr lang="en-US" sz="1800" dirty="0"/>
          </a:p>
        </p:txBody>
      </p:sp>
      <p:sp>
        <p:nvSpPr>
          <p:cNvPr id="14" name="Text 11"/>
          <p:cNvSpPr txBox="1"/>
          <p:nvPr/>
        </p:nvSpPr>
        <p:spPr>
          <a:xfrm>
            <a:off x="4572000" y="5257800"/>
            <a:ext cx="4114800" cy="365760"/>
          </a:xfrm>
          <a:prstGeom prst="rect">
            <a:avLst/>
          </a:prstGeom>
          <a:noFill/>
          <a:ln/>
        </p:spPr>
        <p:txBody>
          <a:bodyPr wrap="square" lIns="0" tIns="0" rIns="0" bIns="0" rtlCol="0" anchor="ctr"/>
          <a:lstStyle/>
          <a:p>
            <a:pPr marL="0" indent="0" algn="ctr">
              <a:buNone/>
            </a:pPr>
            <a:r>
              <a:rPr lang="en-US" sz="1600" dirty="0">
                <a:solidFill>
                  <a:srgbClr val="6B5E45"/>
                </a:solidFill>
                <a:latin typeface="Consolas" pitchFamily="34" charset="0"/>
                <a:ea typeface="Consolas" pitchFamily="34" charset="-122"/>
                <a:cs typeface="Consolas" pitchFamily="34" charset="-120"/>
              </a:rPr>
              <a:t>저장 필드: title · html · createdAt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4 · HTML 수업자료 등록</a:t>
            </a:r>
            <a:endParaRPr lang="en-US" sz="1600" dirty="0"/>
          </a:p>
        </p:txBody>
      </p:sp>
      <p:sp>
        <p:nvSpPr>
          <p:cNvPr id="3" name="Text 1"/>
          <p:cNvSpPr/>
          <p:nvPr/>
        </p:nvSpPr>
        <p:spPr>
          <a:xfrm>
            <a:off x="5394960" y="274320"/>
            <a:ext cx="822960" cy="329184"/>
          </a:xfrm>
          <a:prstGeom prst="roundRect">
            <a:avLst>
              <a:gd name="adj" fmla="val 50000"/>
            </a:avLst>
          </a:prstGeom>
          <a:solidFill>
            <a:srgbClr val="356E67"/>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개념</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자료는 유리 진열장에 넣어서 보여 준다</a:t>
            </a:r>
            <a:endParaRPr lang="en-US" sz="3600" dirty="0"/>
          </a:p>
        </p:txBody>
      </p:sp>
      <p:sp>
        <p:nvSpPr>
          <p:cNvPr id="6" name="Text 3"/>
          <p:cNvSpPr txBox="1"/>
          <p:nvPr/>
        </p:nvSpPr>
        <p:spPr>
          <a:xfrm>
            <a:off x="548640" y="1554480"/>
            <a:ext cx="11064240" cy="164592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원칙 1: 가입한 수업 자료만 읽는다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원칙 5: 교사 HTML은 유리 진열장(sandbox iframe)에 넣어 보여 준다. 보이지만 손댈 수 없다</a:t>
            </a:r>
            <a:endParaRPr lang="en-US" sz="2400" dirty="0"/>
          </a:p>
        </p:txBody>
      </p:sp>
      <p:sp>
        <p:nvSpPr>
          <p:cNvPr id="7" name="Text 4"/>
          <p:cNvSpPr/>
          <p:nvPr/>
        </p:nvSpPr>
        <p:spPr>
          <a:xfrm>
            <a:off x="548640" y="3429000"/>
            <a:ext cx="5394960" cy="2743200"/>
          </a:xfrm>
          <a:prstGeom prst="roundRect">
            <a:avLst>
              <a:gd name="adj" fmla="val 4000"/>
            </a:avLst>
          </a:prstGeom>
          <a:solidFill>
            <a:srgbClr val="FFFBF0"/>
          </a:solidFill>
          <a:ln w="25400">
            <a:solidFill>
              <a:srgbClr val="356E67"/>
            </a:solidFill>
          </a:ln>
        </p:spPr>
        <p:txBody>
          <a:bodyPr wrap="square" lIns="76200" tIns="76200" rIns="76200" bIns="76200" rtlCol="0" anchor="ctr"/>
          <a:lstStyle/>
          <a:p>
            <a:pPr marL="0" indent="0" algn="ctr">
              <a:buNone/>
            </a:pPr>
            <a:endParaRPr lang="en-US" sz="1800" dirty="0"/>
          </a:p>
        </p:txBody>
      </p:sp>
      <p:sp>
        <p:nvSpPr>
          <p:cNvPr id="8" name="Text 5"/>
          <p:cNvSpPr txBox="1"/>
          <p:nvPr/>
        </p:nvSpPr>
        <p:spPr>
          <a:xfrm>
            <a:off x="731520" y="3520440"/>
            <a:ext cx="2743200" cy="365760"/>
          </a:xfrm>
          <a:prstGeom prst="rect">
            <a:avLst/>
          </a:prstGeom>
          <a:noFill/>
          <a:ln/>
        </p:spPr>
        <p:txBody>
          <a:bodyPr wrap="square" lIns="0" tIns="0" rIns="0" bIns="0" rtlCol="0" anchor="ctr"/>
          <a:lstStyle/>
          <a:p>
            <a:pPr marL="0" indent="0">
              <a:buNone/>
            </a:pPr>
            <a:r>
              <a:rPr lang="en-US" sz="1800" b="1" dirty="0">
                <a:solidFill>
                  <a:srgbClr val="356E67"/>
                </a:solidFill>
                <a:latin typeface="Malgun Gothic" pitchFamily="34" charset="0"/>
                <a:ea typeface="Malgun Gothic" pitchFamily="34" charset="-122"/>
                <a:cs typeface="Malgun Gothic" pitchFamily="34" charset="-120"/>
              </a:rPr>
              <a:t>원칙 1</a:t>
            </a:r>
            <a:endParaRPr lang="en-US" sz="1800" dirty="0"/>
          </a:p>
        </p:txBody>
      </p:sp>
      <p:sp>
        <p:nvSpPr>
          <p:cNvPr id="9" name="Text 6"/>
          <p:cNvSpPr/>
          <p:nvPr/>
        </p:nvSpPr>
        <p:spPr>
          <a:xfrm>
            <a:off x="822960" y="4023360"/>
            <a:ext cx="2286000" cy="1188720"/>
          </a:xfrm>
          <a:prstGeom prst="roundRect">
            <a:avLst>
              <a:gd name="adj" fmla="val 9231"/>
            </a:avLst>
          </a:prstGeom>
          <a:solidFill>
            <a:srgbClr val="DCE9E5"/>
          </a:solidFill>
          <a:ln w="25400">
            <a:solidFill>
              <a:srgbClr val="356E67"/>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교실 A (가입함)</a:t>
            </a:r>
            <a:endParaRPr lang="en-US" sz="1800" dirty="0"/>
          </a:p>
          <a:p>
            <a:pPr marL="0" indent="0" algn="ctr">
              <a:buNone/>
            </a:pPr>
            <a:r>
              <a:rPr lang="en-US" sz="1800" dirty="0">
                <a:solidFill>
                  <a:srgbClr val="2A2314"/>
                </a:solidFill>
                <a:latin typeface="Malgun Gothic" pitchFamily="34" charset="0"/>
                <a:ea typeface="Malgun Gothic" pitchFamily="34" charset="-122"/>
                <a:cs typeface="Malgun Gothic" pitchFamily="34" charset="-120"/>
              </a:rPr>
              <a:t>문 열림</a:t>
            </a:r>
            <a:endParaRPr lang="en-US" sz="1800" dirty="0"/>
          </a:p>
        </p:txBody>
      </p:sp>
      <p:sp>
        <p:nvSpPr>
          <p:cNvPr id="10" name="Text 7"/>
          <p:cNvSpPr/>
          <p:nvPr/>
        </p:nvSpPr>
        <p:spPr>
          <a:xfrm>
            <a:off x="3383280" y="4023360"/>
            <a:ext cx="2286000" cy="1188720"/>
          </a:xfrm>
          <a:prstGeom prst="roundRect">
            <a:avLst>
              <a:gd name="adj" fmla="val 9231"/>
            </a:avLst>
          </a:prstGeom>
          <a:solidFill>
            <a:srgbClr val="F3DDD6"/>
          </a:solidFill>
          <a:ln w="25400">
            <a:solidFill>
              <a:srgbClr val="B0402C"/>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교실 B (미가입)</a:t>
            </a:r>
            <a:endParaRPr lang="en-US" sz="1800" dirty="0"/>
          </a:p>
          <a:p>
            <a:pPr marL="0" indent="0" algn="ctr">
              <a:buNone/>
            </a:pPr>
            <a:r>
              <a:rPr lang="en-US" sz="1800" dirty="0">
                <a:solidFill>
                  <a:srgbClr val="2A2314"/>
                </a:solidFill>
                <a:latin typeface="Malgun Gothic" pitchFamily="34" charset="0"/>
                <a:ea typeface="Malgun Gothic" pitchFamily="34" charset="-122"/>
                <a:cs typeface="Malgun Gothic" pitchFamily="34" charset="-120"/>
              </a:rPr>
              <a:t>문 잠김</a:t>
            </a:r>
            <a:endParaRPr lang="en-US" sz="1800" dirty="0"/>
          </a:p>
        </p:txBody>
      </p:sp>
      <p:sp>
        <p:nvSpPr>
          <p:cNvPr id="11" name="Text 8"/>
          <p:cNvSpPr txBox="1"/>
          <p:nvPr/>
        </p:nvSpPr>
        <p:spPr>
          <a:xfrm>
            <a:off x="822960" y="5349240"/>
            <a:ext cx="4846320" cy="640080"/>
          </a:xfrm>
          <a:prstGeom prst="rect">
            <a:avLst/>
          </a:prstGeom>
          <a:noFill/>
          <a:ln/>
        </p:spPr>
        <p:txBody>
          <a:bodyPr wrap="square" lIns="0" tIns="0" rIns="0" bIns="0" rtlCol="0" anchor="ctr"/>
          <a:lstStyle/>
          <a:p>
            <a:pPr marL="0" indent="0">
              <a:buNone/>
            </a:pPr>
            <a:r>
              <a:rPr lang="en-US" sz="1600" dirty="0">
                <a:solidFill>
                  <a:srgbClr val="2A2314"/>
                </a:solidFill>
                <a:latin typeface="Malgun Gothic" pitchFamily="34" charset="0"/>
                <a:ea typeface="Malgun Gothic" pitchFamily="34" charset="-122"/>
                <a:cs typeface="Malgun Gothic" pitchFamily="34" charset="-120"/>
              </a:rPr>
              <a:t>열쇠(수업코드)로 가입한 학생만 들어간다</a:t>
            </a:r>
            <a:endParaRPr lang="en-US" sz="1600" dirty="0"/>
          </a:p>
        </p:txBody>
      </p:sp>
      <p:sp>
        <p:nvSpPr>
          <p:cNvPr id="12" name="Text 9"/>
          <p:cNvSpPr/>
          <p:nvPr/>
        </p:nvSpPr>
        <p:spPr>
          <a:xfrm>
            <a:off x="6217920" y="3429000"/>
            <a:ext cx="5394960" cy="2743200"/>
          </a:xfrm>
          <a:prstGeom prst="roundRect">
            <a:avLst>
              <a:gd name="adj" fmla="val 4000"/>
            </a:avLst>
          </a:prstGeom>
          <a:solidFill>
            <a:srgbClr val="FFFBF0"/>
          </a:solidFill>
          <a:ln w="25400">
            <a:solidFill>
              <a:srgbClr val="B0402C"/>
            </a:solidFill>
          </a:ln>
        </p:spPr>
        <p:txBody>
          <a:bodyPr wrap="square" lIns="76200" tIns="76200" rIns="76200" bIns="76200" rtlCol="0" anchor="ctr"/>
          <a:lstStyle/>
          <a:p>
            <a:pPr marL="0" indent="0" algn="ctr">
              <a:buNone/>
            </a:pPr>
            <a:endParaRPr lang="en-US" sz="1800" dirty="0"/>
          </a:p>
        </p:txBody>
      </p:sp>
      <p:sp>
        <p:nvSpPr>
          <p:cNvPr id="13" name="Text 10"/>
          <p:cNvSpPr txBox="1"/>
          <p:nvPr/>
        </p:nvSpPr>
        <p:spPr>
          <a:xfrm>
            <a:off x="6400800" y="3520440"/>
            <a:ext cx="2743200" cy="365760"/>
          </a:xfrm>
          <a:prstGeom prst="rect">
            <a:avLst/>
          </a:prstGeom>
          <a:noFill/>
          <a:ln/>
        </p:spPr>
        <p:txBody>
          <a:bodyPr wrap="square" lIns="0" tIns="0" rIns="0" bIns="0" rtlCol="0" anchor="ctr"/>
          <a:lstStyle/>
          <a:p>
            <a:pPr marL="0" indent="0">
              <a:buNone/>
            </a:pPr>
            <a:r>
              <a:rPr lang="en-US" sz="1800" b="1" dirty="0">
                <a:solidFill>
                  <a:srgbClr val="B0402C"/>
                </a:solidFill>
                <a:latin typeface="Malgun Gothic" pitchFamily="34" charset="0"/>
                <a:ea typeface="Malgun Gothic" pitchFamily="34" charset="-122"/>
                <a:cs typeface="Malgun Gothic" pitchFamily="34" charset="-120"/>
              </a:rPr>
              <a:t>원칙 5</a:t>
            </a:r>
            <a:endParaRPr lang="en-US" sz="1800" dirty="0"/>
          </a:p>
        </p:txBody>
      </p:sp>
      <p:sp>
        <p:nvSpPr>
          <p:cNvPr id="14" name="Text 11"/>
          <p:cNvSpPr/>
          <p:nvPr/>
        </p:nvSpPr>
        <p:spPr>
          <a:xfrm>
            <a:off x="6492240" y="3977640"/>
            <a:ext cx="2651760" cy="1554480"/>
          </a:xfrm>
          <a:prstGeom prst="roundRect">
            <a:avLst>
              <a:gd name="adj" fmla="val 7059"/>
            </a:avLst>
          </a:prstGeom>
          <a:solidFill>
            <a:srgbClr val="FFF1CC"/>
          </a:solidFill>
          <a:ln w="50800">
            <a:solidFill>
              <a:srgbClr val="C9A24A"/>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유리 진열장</a:t>
            </a:r>
            <a:endParaRPr lang="en-US" sz="1800" dirty="0"/>
          </a:p>
          <a:p>
            <a:pPr marL="0" indent="0" algn="ctr">
              <a:buNone/>
            </a:pPr>
            <a:r>
              <a:rPr lang="en-US" sz="1800" dirty="0">
                <a:solidFill>
                  <a:srgbClr val="2A2314"/>
                </a:solidFill>
                <a:latin typeface="Malgun Gothic" pitchFamily="34" charset="0"/>
                <a:ea typeface="Malgun Gothic" pitchFamily="34" charset="-122"/>
                <a:cs typeface="Malgun Gothic" pitchFamily="34" charset="-120"/>
              </a:rPr>
              <a:t>(sandbox iframe)</a:t>
            </a:r>
            <a:endParaRPr lang="en-US" sz="1800" dirty="0"/>
          </a:p>
          <a:p>
            <a:pPr marL="0" indent="0" algn="ctr">
              <a:buNone/>
            </a:pPr>
            <a:r>
              <a:rPr lang="en-US" sz="1800" dirty="0">
                <a:solidFill>
                  <a:srgbClr val="2A2314"/>
                </a:solidFill>
                <a:latin typeface="Malgun Gothic" pitchFamily="34" charset="0"/>
                <a:ea typeface="Malgun Gothic" pitchFamily="34" charset="-122"/>
                <a:cs typeface="Malgun Gothic" pitchFamily="34" charset="-120"/>
              </a:rPr>
              <a:t>HTML 자료</a:t>
            </a:r>
            <a:endParaRPr lang="en-US" sz="1800" dirty="0"/>
          </a:p>
        </p:txBody>
      </p:sp>
      <p:sp>
        <p:nvSpPr>
          <p:cNvPr id="15" name="Text 12"/>
          <p:cNvSpPr/>
          <p:nvPr/>
        </p:nvSpPr>
        <p:spPr>
          <a:xfrm>
            <a:off x="9326880" y="3977640"/>
            <a:ext cx="2011680" cy="1554480"/>
          </a:xfrm>
          <a:prstGeom prst="roundRect">
            <a:avLst>
              <a:gd name="adj" fmla="val 7059"/>
            </a:avLst>
          </a:prstGeom>
          <a:solidFill>
            <a:srgbClr val="DCE9E5"/>
          </a:solidFill>
          <a:ln w="25400">
            <a:solidFill>
              <a:srgbClr val="356E67"/>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진열장 밖</a:t>
            </a:r>
            <a:endParaRPr lang="en-US" sz="1800" dirty="0"/>
          </a:p>
          <a:p>
            <a:pPr marL="0" indent="0" algn="ctr">
              <a:buNone/>
            </a:pPr>
            <a:r>
              <a:rPr lang="en-US" sz="1800" dirty="0">
                <a:solidFill>
                  <a:srgbClr val="2A2314"/>
                </a:solidFill>
                <a:latin typeface="Malgun Gothic" pitchFamily="34" charset="0"/>
                <a:ea typeface="Malgun Gothic" pitchFamily="34" charset="-122"/>
                <a:cs typeface="Malgun Gothic" pitchFamily="34" charset="-120"/>
              </a:rPr>
              <a:t>로그인 정보</a:t>
            </a:r>
            <a:endParaRPr lang="en-US" sz="1800" dirty="0"/>
          </a:p>
        </p:txBody>
      </p:sp>
      <p:sp>
        <p:nvSpPr>
          <p:cNvPr id="16" name="Text 13"/>
          <p:cNvSpPr/>
          <p:nvPr/>
        </p:nvSpPr>
        <p:spPr>
          <a:xfrm>
            <a:off x="8915400" y="4160520"/>
            <a:ext cx="640080" cy="640080"/>
          </a:xfrm>
          <a:prstGeom prst="rect">
            <a:avLst/>
          </a:prstGeom>
          <a:noFill/>
          <a:ln/>
        </p:spPr>
        <p:txBody>
          <a:bodyPr wrap="square" lIns="0" tIns="0" rIns="0" bIns="0" rtlCol="0" anchor="ctr"/>
          <a:lstStyle/>
          <a:p>
            <a:pPr marL="0" indent="0" algn="ctr">
              <a:buNone/>
            </a:pPr>
            <a:r>
              <a:rPr lang="en-US" sz="3600" b="1" dirty="0">
                <a:solidFill>
                  <a:srgbClr val="B0402C"/>
                </a:solidFill>
                <a:latin typeface="Malgun Gothic" pitchFamily="34" charset="0"/>
                <a:ea typeface="Malgun Gothic" pitchFamily="34" charset="-122"/>
                <a:cs typeface="Malgun Gothic" pitchFamily="34" charset="-120"/>
              </a:rPr>
              <a:t>✕</a:t>
            </a:r>
            <a:endParaRPr lang="en-US" sz="3600" dirty="0"/>
          </a:p>
        </p:txBody>
      </p:sp>
      <p:sp>
        <p:nvSpPr>
          <p:cNvPr id="17" name="Text 14"/>
          <p:cNvSpPr txBox="1"/>
          <p:nvPr/>
        </p:nvSpPr>
        <p:spPr>
          <a:xfrm>
            <a:off x="6492240" y="5623560"/>
            <a:ext cx="4937760" cy="457200"/>
          </a:xfrm>
          <a:prstGeom prst="rect">
            <a:avLst/>
          </a:prstGeom>
          <a:noFill/>
          <a:ln/>
        </p:spPr>
        <p:txBody>
          <a:bodyPr wrap="square" lIns="0" tIns="0" rIns="0" bIns="0" rtlCol="0" anchor="ctr"/>
          <a:lstStyle/>
          <a:p>
            <a:pPr marL="0" indent="0">
              <a:buNone/>
            </a:pPr>
            <a:r>
              <a:rPr lang="en-US" sz="1600" dirty="0">
                <a:solidFill>
                  <a:srgbClr val="2A2314"/>
                </a:solidFill>
                <a:latin typeface="Malgun Gothic" pitchFamily="34" charset="0"/>
                <a:ea typeface="Malgun Gothic" pitchFamily="34" charset="-122"/>
                <a:cs typeface="Malgun Gothic" pitchFamily="34" charset="-120"/>
              </a:rPr>
              <a:t>진열장 안에서 밖으로 손댈 수 없다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4 · HTML 수업자료 등록</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실습 1: 교사 자료 등록 폼</a:t>
            </a:r>
            <a:endParaRPr lang="en-US" sz="3600" dirty="0"/>
          </a:p>
        </p:txBody>
      </p:sp>
      <p:sp>
        <p:nvSpPr>
          <p:cNvPr id="6" name="Text 3"/>
          <p:cNvSpPr txBox="1"/>
          <p:nvPr/>
        </p:nvSpPr>
        <p:spPr>
          <a:xfrm>
            <a:off x="548640" y="1508760"/>
            <a:ext cx="6400800" cy="118872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수업 화면에 자료 등록 폼을 추가한다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제목을 쓰고 HTML을 붙여넣어 저장한다</a:t>
            </a:r>
            <a:endParaRPr lang="en-US" sz="2400" dirty="0"/>
          </a:p>
        </p:txBody>
      </p:sp>
      <p:sp>
        <p:nvSpPr>
          <p:cNvPr id="7" name="Text 4"/>
          <p:cNvSpPr/>
          <p:nvPr/>
        </p:nvSpPr>
        <p:spPr>
          <a:xfrm>
            <a:off x="7315200" y="1508760"/>
            <a:ext cx="4297680" cy="1463040"/>
          </a:xfrm>
          <a:prstGeom prst="roundRect">
            <a:avLst>
              <a:gd name="adj" fmla="val 7500"/>
            </a:avLst>
          </a:prstGeom>
          <a:solidFill>
            <a:srgbClr val="FFFBF0"/>
          </a:solidFill>
          <a:ln w="25400">
            <a:solidFill>
              <a:srgbClr val="2A2314"/>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 제목 ]</a:t>
            </a:r>
            <a:endParaRPr lang="en-US" sz="1600" dirty="0"/>
          </a:p>
          <a:p>
            <a:pPr marL="0" indent="0" algn="ctr">
              <a:buNone/>
            </a:pPr>
            <a:r>
              <a:rPr lang="en-US" sz="1600" dirty="0">
                <a:solidFill>
                  <a:srgbClr val="2A2314"/>
                </a:solidFill>
                <a:latin typeface="Malgun Gothic" pitchFamily="34" charset="0"/>
                <a:ea typeface="Malgun Gothic" pitchFamily="34" charset="-122"/>
                <a:cs typeface="Malgun Gothic" pitchFamily="34" charset="-120"/>
              </a:rPr>
              <a:t>[ HTML 붙여넣기 ]</a:t>
            </a:r>
            <a:endParaRPr lang="en-US" sz="1600" dirty="0"/>
          </a:p>
          <a:p>
            <a:pPr marL="0" indent="0" algn="ctr">
              <a:buNone/>
            </a:pPr>
            <a:r>
              <a:rPr lang="en-US" sz="1600" dirty="0">
                <a:solidFill>
                  <a:srgbClr val="2A2314"/>
                </a:solidFill>
                <a:latin typeface="Malgun Gothic" pitchFamily="34" charset="0"/>
                <a:ea typeface="Malgun Gothic" pitchFamily="34" charset="-122"/>
                <a:cs typeface="Malgun Gothic" pitchFamily="34" charset="-120"/>
              </a:rPr>
              <a:t>[ 저장 ]  저장했습니다</a:t>
            </a:r>
            <a:endParaRPr lang="en-US" sz="1600" dirty="0"/>
          </a:p>
        </p:txBody>
      </p:sp>
      <p:sp>
        <p:nvSpPr>
          <p:cNvPr id="8" name="Text 5"/>
          <p:cNvSpPr txBox="1"/>
          <p:nvPr/>
        </p:nvSpPr>
        <p:spPr>
          <a:xfrm>
            <a:off x="548640" y="3044952"/>
            <a:ext cx="11064240" cy="274320"/>
          </a:xfrm>
          <a:prstGeom prst="rect">
            <a:avLst/>
          </a:prstGeom>
          <a:noFill/>
          <a:ln/>
        </p:spPr>
        <p:txBody>
          <a:bodyPr wrap="square" lIns="0" tIns="0" rIns="0" bIns="0" rtlCol="0" anchor="ctr"/>
          <a:lstStyle/>
          <a:p>
            <a:pPr marL="0" indent="0">
              <a:buNone/>
            </a:pPr>
            <a:r>
              <a:rPr lang="en-US" sz="1400" dirty="0">
                <a:solidFill>
                  <a:srgbClr val="6B5E45"/>
                </a:solidFill>
                <a:latin typeface="Malgun Gothic" pitchFamily="34" charset="0"/>
                <a:ea typeface="Malgun Gothic" pitchFamily="34" charset="-122"/>
                <a:cs typeface="Malgun Gothic" pitchFamily="34" charset="-120"/>
              </a:rPr>
              <a:t>프롬프트 핵심 (전문은 발표자 노트)</a:t>
            </a:r>
            <a:endParaRPr lang="en-US" sz="1400" dirty="0"/>
          </a:p>
        </p:txBody>
      </p:sp>
      <p:sp>
        <p:nvSpPr>
          <p:cNvPr id="9" name="Shape 6"/>
          <p:cNvSpPr/>
          <p:nvPr/>
        </p:nvSpPr>
        <p:spPr>
          <a:xfrm>
            <a:off x="548640" y="3337560"/>
            <a:ext cx="11064240" cy="2011680"/>
          </a:xfrm>
          <a:prstGeom prst="roundRect">
            <a:avLst>
              <a:gd name="adj" fmla="val 4545"/>
            </a:avLst>
          </a:prstGeom>
          <a:solidFill>
            <a:srgbClr val="2A2314"/>
          </a:solidFill>
          <a:ln w="12700">
            <a:solidFill>
              <a:srgbClr val="2A2314"/>
            </a:solidFill>
            <a:prstDash val="solid"/>
          </a:ln>
        </p:spPr>
        <p:txBody>
          <a:bodyPr/>
          <a:lstStyle/>
          <a:p>
            <a:endParaRPr lang="ko-KR" altLang="en-US"/>
          </a:p>
        </p:txBody>
      </p:sp>
      <p:sp>
        <p:nvSpPr>
          <p:cNvPr id="10" name="Text 7"/>
          <p:cNvSpPr txBox="1"/>
          <p:nvPr/>
        </p:nvSpPr>
        <p:spPr>
          <a:xfrm>
            <a:off x="731520" y="3429000"/>
            <a:ext cx="10698480" cy="1828800"/>
          </a:xfrm>
          <a:prstGeom prst="rect">
            <a:avLst/>
          </a:prstGeom>
          <a:noFill/>
          <a:ln/>
        </p:spPr>
        <p:txBody>
          <a:bodyPr wrap="square" lIns="0" tIns="0" rIns="0" bIns="0" rtlCol="0" anchor="t"/>
          <a:lstStyle/>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교사용 수업 화면에 "수업자료 등록" 폼을 추가해 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입력칸: 제목(title), HTML 붙여넣기(html)</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저장 → classes/{classId}/materials 에 title, html, createdAt(서버 시간)</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그 수업 교사(teacherUid가 내 uid)에게만 보이게</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제목이 비면 저장 금지, html이 90만 바이트를 넘으면 거부</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기존 로그인, 수업 만들기 기능은 건드리지 마</a:t>
            </a:r>
            <a:endParaRPr lang="en-US" sz="1500" dirty="0"/>
          </a:p>
        </p:txBody>
      </p:sp>
      <p:sp>
        <p:nvSpPr>
          <p:cNvPr id="11" name="Text 8"/>
          <p:cNvSpPr txBox="1"/>
          <p:nvPr/>
        </p:nvSpPr>
        <p:spPr>
          <a:xfrm>
            <a:off x="548640" y="5760720"/>
            <a:ext cx="11064240" cy="457200"/>
          </a:xfrm>
          <a:prstGeom prst="rect">
            <a:avLst/>
          </a:prstGeom>
          <a:noFill/>
          <a:ln/>
        </p:spPr>
        <p:txBody>
          <a:bodyPr wrap="square" lIns="0" tIns="0" rIns="0" bIns="0" rtlCol="0" anchor="ctr"/>
          <a:lstStyle/>
          <a:p>
            <a:pPr marL="0" indent="0">
              <a:buNone/>
            </a:pPr>
            <a:r>
              <a:rPr lang="en-US" sz="1600" b="1" dirty="0">
                <a:solidFill>
                  <a:srgbClr val="B0402C"/>
                </a:solidFill>
                <a:latin typeface="Malgun Gothic" pitchFamily="34" charset="0"/>
                <a:ea typeface="Malgun Gothic" pitchFamily="34" charset="-122"/>
                <a:cs typeface="Malgun Gothic" pitchFamily="34" charset="-120"/>
              </a:rPr>
              <a:t>막힐 때  </a:t>
            </a:r>
            <a:r>
              <a:rPr lang="en-US" sz="1600" dirty="0">
                <a:solidFill>
                  <a:srgbClr val="2A2314"/>
                </a:solidFill>
                <a:latin typeface="Malgun Gothic" pitchFamily="34" charset="0"/>
                <a:ea typeface="Malgun Gothic" pitchFamily="34" charset="-122"/>
                <a:cs typeface="Malgun Gothic" pitchFamily="34" charset="-120"/>
              </a:rPr>
              <a:t>폼이 안 보이면 내가 만든 수업에 교사 계정으로 들어갔는지 확인. 권한 오류면 임시 규칙 게시 확인</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4 · HTML 수업자료 등록</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실습 2: 학생 목록과 유리 진열장</a:t>
            </a:r>
            <a:endParaRPr lang="en-US" sz="3600" dirty="0"/>
          </a:p>
        </p:txBody>
      </p:sp>
      <p:sp>
        <p:nvSpPr>
          <p:cNvPr id="6" name="Text 3"/>
          <p:cNvSpPr txBox="1"/>
          <p:nvPr/>
        </p:nvSpPr>
        <p:spPr>
          <a:xfrm>
            <a:off x="548640" y="1508760"/>
            <a:ext cx="6766560" cy="164592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학생 화면에 자료 목록을 만든다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제목을 누르면 유리 진열장(sandbox iframe) 안에 자료를 보여 준다</a:t>
            </a:r>
            <a:endParaRPr lang="en-US" sz="2400" dirty="0"/>
          </a:p>
        </p:txBody>
      </p:sp>
      <p:sp>
        <p:nvSpPr>
          <p:cNvPr id="7" name="Text 4"/>
          <p:cNvSpPr/>
          <p:nvPr/>
        </p:nvSpPr>
        <p:spPr>
          <a:xfrm>
            <a:off x="7589520" y="1508760"/>
            <a:ext cx="1645920" cy="1463040"/>
          </a:xfrm>
          <a:prstGeom prst="roundRect">
            <a:avLst>
              <a:gd name="adj" fmla="val 7500"/>
            </a:avLst>
          </a:prstGeom>
          <a:solidFill>
            <a:srgbClr val="FFFBF0"/>
          </a:solidFill>
          <a:ln w="25400">
            <a:solidFill>
              <a:srgbClr val="2A2314"/>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자료 1</a:t>
            </a:r>
            <a:endParaRPr lang="en-US" sz="1600" dirty="0"/>
          </a:p>
          <a:p>
            <a:pPr marL="0" indent="0" algn="ctr">
              <a:buNone/>
            </a:pPr>
            <a:r>
              <a:rPr lang="en-US" sz="1600" dirty="0">
                <a:solidFill>
                  <a:srgbClr val="2A2314"/>
                </a:solidFill>
                <a:latin typeface="Malgun Gothic" pitchFamily="34" charset="0"/>
                <a:ea typeface="Malgun Gothic" pitchFamily="34" charset="-122"/>
                <a:cs typeface="Malgun Gothic" pitchFamily="34" charset="-120"/>
              </a:rPr>
              <a:t>자료 2</a:t>
            </a:r>
            <a:endParaRPr lang="en-US" sz="1600" dirty="0"/>
          </a:p>
          <a:p>
            <a:pPr marL="0" indent="0" algn="ctr">
              <a:buNone/>
            </a:pPr>
            <a:r>
              <a:rPr lang="en-US" sz="1600" dirty="0">
                <a:solidFill>
                  <a:srgbClr val="2A2314"/>
                </a:solidFill>
                <a:latin typeface="Malgun Gothic" pitchFamily="34" charset="0"/>
                <a:ea typeface="Malgun Gothic" pitchFamily="34" charset="-122"/>
                <a:cs typeface="Malgun Gothic" pitchFamily="34" charset="-120"/>
              </a:rPr>
              <a:t>자료 3</a:t>
            </a:r>
            <a:endParaRPr lang="en-US" sz="1600" dirty="0"/>
          </a:p>
        </p:txBody>
      </p:sp>
      <p:sp>
        <p:nvSpPr>
          <p:cNvPr id="8" name="Text 5"/>
          <p:cNvSpPr/>
          <p:nvPr/>
        </p:nvSpPr>
        <p:spPr>
          <a:xfrm>
            <a:off x="9418320" y="1508760"/>
            <a:ext cx="2194560" cy="1463040"/>
          </a:xfrm>
          <a:prstGeom prst="roundRect">
            <a:avLst>
              <a:gd name="adj" fmla="val 7500"/>
            </a:avLst>
          </a:prstGeom>
          <a:solidFill>
            <a:srgbClr val="FFF1CC"/>
          </a:solidFill>
          <a:ln w="50800">
            <a:solidFill>
              <a:srgbClr val="C9A24A"/>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선택한 자료 표시</a:t>
            </a:r>
            <a:endParaRPr lang="en-US" sz="1600" dirty="0"/>
          </a:p>
          <a:p>
            <a:pPr marL="0" indent="0" algn="ctr">
              <a:buNone/>
            </a:pPr>
            <a:r>
              <a:rPr lang="en-US" sz="1600" dirty="0">
                <a:solidFill>
                  <a:srgbClr val="2A2314"/>
                </a:solidFill>
                <a:latin typeface="Malgun Gothic" pitchFamily="34" charset="0"/>
                <a:ea typeface="Malgun Gothic" pitchFamily="34" charset="-122"/>
                <a:cs typeface="Malgun Gothic" pitchFamily="34" charset="-120"/>
              </a:rPr>
              <a:t>(sandbox)</a:t>
            </a:r>
            <a:endParaRPr lang="en-US" sz="1600" dirty="0"/>
          </a:p>
        </p:txBody>
      </p:sp>
      <p:sp>
        <p:nvSpPr>
          <p:cNvPr id="9" name="Text 6"/>
          <p:cNvSpPr txBox="1"/>
          <p:nvPr/>
        </p:nvSpPr>
        <p:spPr>
          <a:xfrm>
            <a:off x="548640" y="3227832"/>
            <a:ext cx="11064240" cy="274320"/>
          </a:xfrm>
          <a:prstGeom prst="rect">
            <a:avLst/>
          </a:prstGeom>
          <a:noFill/>
          <a:ln/>
        </p:spPr>
        <p:txBody>
          <a:bodyPr wrap="square" lIns="0" tIns="0" rIns="0" bIns="0" rtlCol="0" anchor="ctr"/>
          <a:lstStyle/>
          <a:p>
            <a:pPr marL="0" indent="0">
              <a:buNone/>
            </a:pPr>
            <a:r>
              <a:rPr lang="en-US" sz="1400" dirty="0">
                <a:solidFill>
                  <a:srgbClr val="6B5E45"/>
                </a:solidFill>
                <a:latin typeface="Malgun Gothic" pitchFamily="34" charset="0"/>
                <a:ea typeface="Malgun Gothic" pitchFamily="34" charset="-122"/>
                <a:cs typeface="Malgun Gothic" pitchFamily="34" charset="-120"/>
              </a:rPr>
              <a:t>프롬프트 핵심 (전문은 발표자 노트)</a:t>
            </a:r>
            <a:endParaRPr lang="en-US" sz="1400" dirty="0"/>
          </a:p>
        </p:txBody>
      </p:sp>
      <p:sp>
        <p:nvSpPr>
          <p:cNvPr id="10" name="Shape 7"/>
          <p:cNvSpPr/>
          <p:nvPr/>
        </p:nvSpPr>
        <p:spPr>
          <a:xfrm>
            <a:off x="548640" y="3520440"/>
            <a:ext cx="11064240" cy="1920240"/>
          </a:xfrm>
          <a:prstGeom prst="roundRect">
            <a:avLst>
              <a:gd name="adj" fmla="val 4762"/>
            </a:avLst>
          </a:prstGeom>
          <a:solidFill>
            <a:srgbClr val="2A2314"/>
          </a:solidFill>
          <a:ln w="12700">
            <a:solidFill>
              <a:srgbClr val="2A2314"/>
            </a:solidFill>
            <a:prstDash val="solid"/>
          </a:ln>
        </p:spPr>
        <p:txBody>
          <a:bodyPr/>
          <a:lstStyle/>
          <a:p>
            <a:endParaRPr lang="ko-KR" altLang="en-US"/>
          </a:p>
        </p:txBody>
      </p:sp>
      <p:sp>
        <p:nvSpPr>
          <p:cNvPr id="11" name="Text 8"/>
          <p:cNvSpPr txBox="1"/>
          <p:nvPr/>
        </p:nvSpPr>
        <p:spPr>
          <a:xfrm>
            <a:off x="731520" y="3611880"/>
            <a:ext cx="10698480" cy="1737360"/>
          </a:xfrm>
          <a:prstGeom prst="rect">
            <a:avLst/>
          </a:prstGeom>
          <a:noFill/>
          <a:ln/>
        </p:spPr>
        <p:txBody>
          <a:bodyPr wrap="square" lIns="0" tIns="0" rIns="0" bIns="0" rtlCol="0" anchor="t"/>
          <a:lstStyle/>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학생용 수업 화면에 "수업자료" 목록을 추가해 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materials를 최신순으로 제목만 보여 주고</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제목을 누르면 html을 iframe의 srcdoc으로 보여 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iframe에 sandbox 속성을 값 없이 붙여 줘 (allow-same-origin, allow-scripts는 절대 넣지 마)</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자료가 없으면 "아직 등록된 자료가 없습니다"</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html을 innerHTML로 다른 곳에 넣지 마</a:t>
            </a:r>
            <a:endParaRPr lang="en-US" sz="1500" dirty="0"/>
          </a:p>
        </p:txBody>
      </p:sp>
      <p:sp>
        <p:nvSpPr>
          <p:cNvPr id="12" name="Text 9"/>
          <p:cNvSpPr txBox="1"/>
          <p:nvPr/>
        </p:nvSpPr>
        <p:spPr>
          <a:xfrm>
            <a:off x="548640" y="5806440"/>
            <a:ext cx="11064240" cy="457200"/>
          </a:xfrm>
          <a:prstGeom prst="rect">
            <a:avLst/>
          </a:prstGeom>
          <a:noFill/>
          <a:ln/>
        </p:spPr>
        <p:txBody>
          <a:bodyPr wrap="square" lIns="0" tIns="0" rIns="0" bIns="0" rtlCol="0" anchor="ctr"/>
          <a:lstStyle/>
          <a:p>
            <a:pPr marL="0" indent="0">
              <a:buNone/>
            </a:pPr>
            <a:r>
              <a:rPr lang="en-US" sz="1800" b="1" dirty="0">
                <a:solidFill>
                  <a:srgbClr val="B0402C"/>
                </a:solidFill>
                <a:latin typeface="Malgun Gothic" pitchFamily="34" charset="0"/>
                <a:ea typeface="Malgun Gothic" pitchFamily="34" charset="-122"/>
                <a:cs typeface="Malgun Gothic" pitchFamily="34" charset="-120"/>
              </a:rPr>
              <a:t>막힐 때  </a:t>
            </a:r>
            <a:r>
              <a:rPr lang="en-US" sz="1800" dirty="0">
                <a:solidFill>
                  <a:srgbClr val="2A2314"/>
                </a:solidFill>
                <a:latin typeface="Malgun Gothic" pitchFamily="34" charset="0"/>
                <a:ea typeface="Malgun Gothic" pitchFamily="34" charset="-122"/>
                <a:cs typeface="Malgun Gothic" pitchFamily="34" charset="-120"/>
              </a:rPr>
              <a:t>자료 속 버튼이 안 눌리는 것은 오류가 아니다. 유리 진열장의 정상 동작이다</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4 · HTML 수업자료 등록</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실습 3: 학생 계정으로 확인</a:t>
            </a:r>
            <a:endParaRPr lang="en-US" sz="3600" dirty="0"/>
          </a:p>
        </p:txBody>
      </p:sp>
      <p:sp>
        <p:nvSpPr>
          <p:cNvPr id="6" name="Text 3"/>
          <p:cNvSpPr txBox="1"/>
          <p:nvPr/>
        </p:nvSpPr>
        <p:spPr>
          <a:xfrm>
            <a:off x="548640" y="1508760"/>
            <a:ext cx="11064240" cy="128016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테스트 학생 계정(시크릿 창)으로 가입한 수업의 자료를 열어 본다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실제 차단 검증은 모듈 7에서 한다</a:t>
            </a:r>
            <a:endParaRPr lang="en-US" sz="2400" dirty="0"/>
          </a:p>
        </p:txBody>
      </p:sp>
      <p:sp>
        <p:nvSpPr>
          <p:cNvPr id="7" name="Shape 4"/>
          <p:cNvSpPr/>
          <p:nvPr/>
        </p:nvSpPr>
        <p:spPr>
          <a:xfrm>
            <a:off x="548640" y="2816352"/>
            <a:ext cx="292608" cy="292608"/>
          </a:xfrm>
          <a:prstGeom prst="rect">
            <a:avLst/>
          </a:prstGeom>
          <a:solidFill>
            <a:srgbClr val="FFFBF0"/>
          </a:solidFill>
          <a:ln w="25400">
            <a:solidFill>
              <a:srgbClr val="B0402C"/>
            </a:solidFill>
            <a:prstDash val="solid"/>
          </a:ln>
        </p:spPr>
        <p:txBody>
          <a:bodyPr/>
          <a:lstStyle/>
          <a:p>
            <a:endParaRPr lang="ko-KR" altLang="en-US"/>
          </a:p>
        </p:txBody>
      </p:sp>
      <p:sp>
        <p:nvSpPr>
          <p:cNvPr id="8" name="Text 5"/>
          <p:cNvSpPr txBox="1"/>
          <p:nvPr/>
        </p:nvSpPr>
        <p:spPr>
          <a:xfrm>
            <a:off x="960120" y="2743200"/>
            <a:ext cx="5989320" cy="457200"/>
          </a:xfrm>
          <a:prstGeom prst="rect">
            <a:avLst/>
          </a:prstGeom>
          <a:noFill/>
          <a:ln/>
        </p:spPr>
        <p:txBody>
          <a:bodyPr wrap="square" lIns="0" tIns="0" rIns="0" bIns="0" rtlCol="0" anchor="ctr"/>
          <a:lstStyle/>
          <a:p>
            <a:pPr marL="0" indent="0">
              <a:buNone/>
            </a:pPr>
            <a:r>
              <a:rPr lang="en-US" sz="1800" dirty="0">
                <a:solidFill>
                  <a:srgbClr val="2A2314"/>
                </a:solidFill>
                <a:latin typeface="Malgun Gothic" pitchFamily="34" charset="0"/>
                <a:ea typeface="Malgun Gothic" pitchFamily="34" charset="-122"/>
                <a:cs typeface="Malgun Gothic" pitchFamily="34" charset="-120"/>
              </a:rPr>
              <a:t>교사 계정: 자료 등록 완료</a:t>
            </a:r>
            <a:endParaRPr lang="en-US" sz="1800" dirty="0"/>
          </a:p>
        </p:txBody>
      </p:sp>
      <p:sp>
        <p:nvSpPr>
          <p:cNvPr id="9" name="Shape 6"/>
          <p:cNvSpPr/>
          <p:nvPr/>
        </p:nvSpPr>
        <p:spPr>
          <a:xfrm>
            <a:off x="548640" y="3319272"/>
            <a:ext cx="292608" cy="292608"/>
          </a:xfrm>
          <a:prstGeom prst="rect">
            <a:avLst/>
          </a:prstGeom>
          <a:solidFill>
            <a:srgbClr val="FFFBF0"/>
          </a:solidFill>
          <a:ln w="25400">
            <a:solidFill>
              <a:srgbClr val="B0402C"/>
            </a:solidFill>
            <a:prstDash val="solid"/>
          </a:ln>
        </p:spPr>
        <p:txBody>
          <a:bodyPr/>
          <a:lstStyle/>
          <a:p>
            <a:endParaRPr lang="ko-KR" altLang="en-US"/>
          </a:p>
        </p:txBody>
      </p:sp>
      <p:sp>
        <p:nvSpPr>
          <p:cNvPr id="10" name="Text 7"/>
          <p:cNvSpPr txBox="1"/>
          <p:nvPr/>
        </p:nvSpPr>
        <p:spPr>
          <a:xfrm>
            <a:off x="960120" y="3246120"/>
            <a:ext cx="5989320" cy="457200"/>
          </a:xfrm>
          <a:prstGeom prst="rect">
            <a:avLst/>
          </a:prstGeom>
          <a:noFill/>
          <a:ln/>
        </p:spPr>
        <p:txBody>
          <a:bodyPr wrap="square" lIns="0" tIns="0" rIns="0" bIns="0" rtlCol="0" anchor="ctr"/>
          <a:lstStyle/>
          <a:p>
            <a:pPr marL="0" indent="0">
              <a:buNone/>
            </a:pPr>
            <a:r>
              <a:rPr lang="en-US" sz="1800" dirty="0">
                <a:solidFill>
                  <a:srgbClr val="2A2314"/>
                </a:solidFill>
                <a:latin typeface="Malgun Gothic" pitchFamily="34" charset="0"/>
                <a:ea typeface="Malgun Gothic" pitchFamily="34" charset="-122"/>
                <a:cs typeface="Malgun Gothic" pitchFamily="34" charset="-120"/>
              </a:rPr>
              <a:t>학생 계정(가입함): 목록·열람 OK</a:t>
            </a:r>
            <a:endParaRPr lang="en-US" sz="1800" dirty="0"/>
          </a:p>
        </p:txBody>
      </p:sp>
      <p:sp>
        <p:nvSpPr>
          <p:cNvPr id="11" name="Shape 8"/>
          <p:cNvSpPr/>
          <p:nvPr/>
        </p:nvSpPr>
        <p:spPr>
          <a:xfrm>
            <a:off x="548640" y="3822192"/>
            <a:ext cx="292608" cy="292608"/>
          </a:xfrm>
          <a:prstGeom prst="rect">
            <a:avLst/>
          </a:prstGeom>
          <a:solidFill>
            <a:srgbClr val="FFFBF0"/>
          </a:solidFill>
          <a:ln w="25400">
            <a:solidFill>
              <a:srgbClr val="B0402C"/>
            </a:solidFill>
            <a:prstDash val="solid"/>
          </a:ln>
        </p:spPr>
        <p:txBody>
          <a:bodyPr/>
          <a:lstStyle/>
          <a:p>
            <a:endParaRPr lang="ko-KR" altLang="en-US"/>
          </a:p>
        </p:txBody>
      </p:sp>
      <p:sp>
        <p:nvSpPr>
          <p:cNvPr id="12" name="Text 9"/>
          <p:cNvSpPr txBox="1"/>
          <p:nvPr/>
        </p:nvSpPr>
        <p:spPr>
          <a:xfrm>
            <a:off x="960120" y="3749040"/>
            <a:ext cx="5989320" cy="457200"/>
          </a:xfrm>
          <a:prstGeom prst="rect">
            <a:avLst/>
          </a:prstGeom>
          <a:noFill/>
          <a:ln/>
        </p:spPr>
        <p:txBody>
          <a:bodyPr wrap="square" lIns="0" tIns="0" rIns="0" bIns="0" rtlCol="0" anchor="ctr"/>
          <a:lstStyle/>
          <a:p>
            <a:pPr marL="0" indent="0">
              <a:buNone/>
            </a:pPr>
            <a:r>
              <a:rPr lang="en-US" sz="1800" dirty="0">
                <a:solidFill>
                  <a:srgbClr val="2A2314"/>
                </a:solidFill>
                <a:latin typeface="Malgun Gothic" pitchFamily="34" charset="0"/>
                <a:ea typeface="Malgun Gothic" pitchFamily="34" charset="-122"/>
                <a:cs typeface="Malgun Gothic" pitchFamily="34" charset="-120"/>
              </a:rPr>
              <a:t>학생 계정(미가입): 모듈 7에서 차단 확인 (예고)</a:t>
            </a:r>
            <a:endParaRPr lang="en-US" sz="1800" dirty="0"/>
          </a:p>
        </p:txBody>
      </p:sp>
      <p:sp>
        <p:nvSpPr>
          <p:cNvPr id="13" name="Text 10"/>
          <p:cNvSpPr txBox="1"/>
          <p:nvPr/>
        </p:nvSpPr>
        <p:spPr>
          <a:xfrm>
            <a:off x="548640" y="4462272"/>
            <a:ext cx="11064240" cy="274320"/>
          </a:xfrm>
          <a:prstGeom prst="rect">
            <a:avLst/>
          </a:prstGeom>
          <a:noFill/>
          <a:ln/>
        </p:spPr>
        <p:txBody>
          <a:bodyPr wrap="square" lIns="0" tIns="0" rIns="0" bIns="0" rtlCol="0" anchor="ctr"/>
          <a:lstStyle/>
          <a:p>
            <a:pPr marL="0" indent="0">
              <a:buNone/>
            </a:pPr>
            <a:r>
              <a:rPr lang="en-US" sz="1400" dirty="0">
                <a:solidFill>
                  <a:srgbClr val="6B5E45"/>
                </a:solidFill>
                <a:latin typeface="Malgun Gothic" pitchFamily="34" charset="0"/>
                <a:ea typeface="Malgun Gothic" pitchFamily="34" charset="-122"/>
                <a:cs typeface="Malgun Gothic" pitchFamily="34" charset="-120"/>
              </a:rPr>
              <a:t>프롬프트 핵심 (전문은 발표자 노트)</a:t>
            </a:r>
            <a:endParaRPr lang="en-US" sz="1400" dirty="0"/>
          </a:p>
        </p:txBody>
      </p:sp>
      <p:sp>
        <p:nvSpPr>
          <p:cNvPr id="14" name="Shape 11"/>
          <p:cNvSpPr/>
          <p:nvPr/>
        </p:nvSpPr>
        <p:spPr>
          <a:xfrm>
            <a:off x="548640" y="4754880"/>
            <a:ext cx="11064240" cy="1508760"/>
          </a:xfrm>
          <a:prstGeom prst="roundRect">
            <a:avLst>
              <a:gd name="adj" fmla="val 6061"/>
            </a:avLst>
          </a:prstGeom>
          <a:solidFill>
            <a:srgbClr val="2A2314"/>
          </a:solidFill>
          <a:ln w="12700">
            <a:solidFill>
              <a:srgbClr val="2A2314"/>
            </a:solidFill>
            <a:prstDash val="solid"/>
          </a:ln>
        </p:spPr>
        <p:txBody>
          <a:bodyPr/>
          <a:lstStyle/>
          <a:p>
            <a:endParaRPr lang="ko-KR" altLang="en-US"/>
          </a:p>
        </p:txBody>
      </p:sp>
      <p:sp>
        <p:nvSpPr>
          <p:cNvPr id="15" name="Text 12"/>
          <p:cNvSpPr txBox="1"/>
          <p:nvPr/>
        </p:nvSpPr>
        <p:spPr>
          <a:xfrm>
            <a:off x="731520" y="4846320"/>
            <a:ext cx="10698480" cy="1325880"/>
          </a:xfrm>
          <a:prstGeom prst="rect">
            <a:avLst/>
          </a:prstGeom>
          <a:noFill/>
          <a:ln/>
        </p:spPr>
        <p:txBody>
          <a:bodyPr wrap="square" lIns="0" tIns="0" rIns="0" bIns="0" rtlCol="0" anchor="t"/>
          <a:lstStyle/>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방금 만든 수업자료 기능을 점검해 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1. 목록과 iframe 열람이 정상인지 코드로 점검</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2. sandbox에 allow-same-origin/allow-scripts가 없는지 확인</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3. 자료 html을 innerHTML로 넣는 곳이 없는지 찾기</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4. 문제가 있으면 고치고 3줄 이내로 요약</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4 · HTML 수업자료 등록</a:t>
            </a:r>
            <a:endParaRPr lang="en-US" sz="1600" dirty="0"/>
          </a:p>
        </p:txBody>
      </p:sp>
      <p:sp>
        <p:nvSpPr>
          <p:cNvPr id="3" name="Text 1"/>
          <p:cNvSpPr/>
          <p:nvPr/>
        </p:nvSpPr>
        <p:spPr>
          <a:xfrm>
            <a:off x="5394960" y="274320"/>
            <a:ext cx="822960" cy="329184"/>
          </a:xfrm>
          <a:prstGeom prst="roundRect">
            <a:avLst>
              <a:gd name="adj" fmla="val 50000"/>
            </a:avLst>
          </a:prstGeom>
          <a:solidFill>
            <a:srgbClr val="6B5E45"/>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정리</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정리: 막힘 모음과 복구 지점</a:t>
            </a:r>
            <a:endParaRPr lang="en-US" sz="3600" dirty="0"/>
          </a:p>
        </p:txBody>
      </p:sp>
      <p:sp>
        <p:nvSpPr>
          <p:cNvPr id="6" name="Text 3"/>
          <p:cNvSpPr txBox="1"/>
          <p:nvPr/>
        </p:nvSpPr>
        <p:spPr>
          <a:xfrm>
            <a:off x="548640" y="1508760"/>
            <a:ext cx="11064240" cy="118872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오늘 만든 것: 자료 등록 폼 + 자료 목록·열람(유리 진열장)</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다음은 웹 학습지</a:t>
            </a:r>
            <a:endParaRPr lang="en-US" sz="2400" dirty="0"/>
          </a:p>
        </p:txBody>
      </p:sp>
      <p:sp>
        <p:nvSpPr>
          <p:cNvPr id="7" name="Text 4"/>
          <p:cNvSpPr/>
          <p:nvPr/>
        </p:nvSpPr>
        <p:spPr>
          <a:xfrm>
            <a:off x="548640" y="2880360"/>
            <a:ext cx="3322320" cy="914400"/>
          </a:xfrm>
          <a:prstGeom prst="roundRect">
            <a:avLst>
              <a:gd name="adj" fmla="val 12000"/>
            </a:avLst>
          </a:prstGeom>
          <a:solidFill>
            <a:srgbClr val="FFFBF0"/>
          </a:solidFill>
          <a:ln w="15875">
            <a:solidFill>
              <a:srgbClr val="D9CDB0"/>
            </a:solidFill>
          </a:ln>
        </p:spPr>
        <p:txBody>
          <a:bodyPr wrap="square" lIns="76200" tIns="76200" rIns="76200" bIns="76200" rtlCol="0" anchor="ctr"/>
          <a:lstStyle/>
          <a:p>
            <a:pPr marL="0" indent="0" algn="ctr">
              <a:buNone/>
            </a:pPr>
            <a:r>
              <a:rPr lang="en-US" sz="2000" dirty="0">
                <a:solidFill>
                  <a:srgbClr val="2A2314"/>
                </a:solidFill>
                <a:latin typeface="Malgun Gothic" pitchFamily="34" charset="0"/>
                <a:ea typeface="Malgun Gothic" pitchFamily="34" charset="-122"/>
                <a:cs typeface="Malgun Gothic" pitchFamily="34" charset="-120"/>
              </a:rPr>
              <a:t>등록</a:t>
            </a:r>
            <a:endParaRPr lang="en-US" sz="2000" dirty="0"/>
          </a:p>
          <a:p>
            <a:pPr marL="0" indent="0" algn="ctr">
              <a:buNone/>
            </a:pPr>
            <a:r>
              <a:rPr lang="en-US" sz="2000" dirty="0">
                <a:solidFill>
                  <a:srgbClr val="2A2314"/>
                </a:solidFill>
                <a:latin typeface="Malgun Gothic" pitchFamily="34" charset="0"/>
                <a:ea typeface="Malgun Gothic" pitchFamily="34" charset="-122"/>
                <a:cs typeface="Malgun Gothic" pitchFamily="34" charset="-120"/>
              </a:rPr>
              <a:t>materials</a:t>
            </a:r>
            <a:endParaRPr lang="en-US" sz="2000" dirty="0"/>
          </a:p>
        </p:txBody>
      </p:sp>
      <p:sp>
        <p:nvSpPr>
          <p:cNvPr id="8" name="Shape 5"/>
          <p:cNvSpPr/>
          <p:nvPr/>
        </p:nvSpPr>
        <p:spPr>
          <a:xfrm>
            <a:off x="4008120" y="319125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9" name="Text 6"/>
          <p:cNvSpPr/>
          <p:nvPr/>
        </p:nvSpPr>
        <p:spPr>
          <a:xfrm>
            <a:off x="4419600" y="2880360"/>
            <a:ext cx="3322320" cy="914400"/>
          </a:xfrm>
          <a:prstGeom prst="roundRect">
            <a:avLst>
              <a:gd name="adj" fmla="val 12000"/>
            </a:avLst>
          </a:prstGeom>
          <a:solidFill>
            <a:srgbClr val="FFFBF0"/>
          </a:solidFill>
          <a:ln w="15875">
            <a:solidFill>
              <a:srgbClr val="D9CDB0"/>
            </a:solidFill>
          </a:ln>
        </p:spPr>
        <p:txBody>
          <a:bodyPr wrap="square" lIns="76200" tIns="76200" rIns="76200" bIns="76200" rtlCol="0" anchor="ctr"/>
          <a:lstStyle/>
          <a:p>
            <a:pPr marL="0" indent="0" algn="ctr">
              <a:buNone/>
            </a:pPr>
            <a:r>
              <a:rPr lang="en-US" sz="2000" dirty="0">
                <a:solidFill>
                  <a:srgbClr val="2A2314"/>
                </a:solidFill>
                <a:latin typeface="Malgun Gothic" pitchFamily="34" charset="0"/>
                <a:ea typeface="Malgun Gothic" pitchFamily="34" charset="-122"/>
                <a:cs typeface="Malgun Gothic" pitchFamily="34" charset="-120"/>
              </a:rPr>
              <a:t>목록</a:t>
            </a:r>
            <a:endParaRPr lang="en-US" sz="2000" dirty="0"/>
          </a:p>
        </p:txBody>
      </p:sp>
      <p:sp>
        <p:nvSpPr>
          <p:cNvPr id="10" name="Shape 7"/>
          <p:cNvSpPr/>
          <p:nvPr/>
        </p:nvSpPr>
        <p:spPr>
          <a:xfrm>
            <a:off x="7879080" y="319125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1" name="Text 8"/>
          <p:cNvSpPr/>
          <p:nvPr/>
        </p:nvSpPr>
        <p:spPr>
          <a:xfrm>
            <a:off x="8290560" y="2880360"/>
            <a:ext cx="3322320" cy="914400"/>
          </a:xfrm>
          <a:prstGeom prst="roundRect">
            <a:avLst>
              <a:gd name="adj" fmla="val 12000"/>
            </a:avLst>
          </a:prstGeom>
          <a:solidFill>
            <a:srgbClr val="FFFBF0"/>
          </a:solidFill>
          <a:ln w="15875">
            <a:solidFill>
              <a:srgbClr val="D9CDB0"/>
            </a:solidFill>
          </a:ln>
        </p:spPr>
        <p:txBody>
          <a:bodyPr wrap="square" lIns="76200" tIns="76200" rIns="76200" bIns="76200" rtlCol="0" anchor="ctr"/>
          <a:lstStyle/>
          <a:p>
            <a:pPr marL="0" indent="0" algn="ctr">
              <a:buNone/>
            </a:pPr>
            <a:r>
              <a:rPr lang="en-US" sz="2000" dirty="0">
                <a:solidFill>
                  <a:srgbClr val="2A2314"/>
                </a:solidFill>
                <a:latin typeface="Malgun Gothic" pitchFamily="34" charset="0"/>
                <a:ea typeface="Malgun Gothic" pitchFamily="34" charset="-122"/>
                <a:cs typeface="Malgun Gothic" pitchFamily="34" charset="-120"/>
              </a:rPr>
              <a:t>유리 진열장 열람</a:t>
            </a:r>
            <a:endParaRPr lang="en-US" sz="2000" dirty="0"/>
          </a:p>
        </p:txBody>
      </p:sp>
      <p:sp>
        <p:nvSpPr>
          <p:cNvPr id="12" name="Text 9"/>
          <p:cNvSpPr/>
          <p:nvPr/>
        </p:nvSpPr>
        <p:spPr>
          <a:xfrm>
            <a:off x="548640" y="4023360"/>
            <a:ext cx="5394960" cy="1600200"/>
          </a:xfrm>
          <a:prstGeom prst="roundRect">
            <a:avLst>
              <a:gd name="adj" fmla="val 6857"/>
            </a:avLst>
          </a:prstGeom>
          <a:solidFill>
            <a:srgbClr val="FFFBF0"/>
          </a:solidFill>
          <a:ln w="15875">
            <a:solidFill>
              <a:srgbClr val="D9CDB0"/>
            </a:solidFill>
          </a:ln>
        </p:spPr>
        <p:txBody>
          <a:bodyPr wrap="square" lIns="127000" tIns="127000" rIns="127000" bIns="127000" rtlCol="0" anchor="ct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저장이 안 되고 오류: 문서 1개는 1MiB(1,048,576바이트)까지. 큰 이미지가 원인. 우리 폼은 90만 바이트(한글 위주 약 30만 글자)를 넘으면 먼저 알려 준다</a:t>
            </a:r>
            <a:endParaRPr lang="en-US" sz="1600" dirty="0"/>
          </a:p>
        </p:txBody>
      </p:sp>
      <p:sp>
        <p:nvSpPr>
          <p:cNvPr id="13" name="Text 10"/>
          <p:cNvSpPr/>
          <p:nvPr/>
        </p:nvSpPr>
        <p:spPr>
          <a:xfrm>
            <a:off x="6217920" y="4023360"/>
            <a:ext cx="5394960" cy="1600200"/>
          </a:xfrm>
          <a:prstGeom prst="roundRect">
            <a:avLst>
              <a:gd name="adj" fmla="val 6857"/>
            </a:avLst>
          </a:prstGeom>
          <a:solidFill>
            <a:srgbClr val="FFFBF0"/>
          </a:solidFill>
          <a:ln w="15875">
            <a:solidFill>
              <a:srgbClr val="D9CDB0"/>
            </a:solidFill>
          </a:ln>
        </p:spPr>
        <p:txBody>
          <a:bodyPr wrap="square" lIns="127000" tIns="127000" rIns="127000" bIns="127000" rtlCol="0" anchor="ct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이미지가 깨져 보임: 이미지가 내 컴퓨터 안의 경로로만 걸려 있다. 웹 주소로 바꾸거나 자료 안에 포함한다</a:t>
            </a:r>
            <a:endParaRPr lang="en-US" sz="1600" dirty="0"/>
          </a:p>
        </p:txBody>
      </p:sp>
      <p:sp>
        <p:nvSpPr>
          <p:cNvPr id="14" name="Text 11"/>
          <p:cNvSpPr txBox="1"/>
          <p:nvPr/>
        </p:nvSpPr>
        <p:spPr>
          <a:xfrm>
            <a:off x="548640" y="5760720"/>
            <a:ext cx="1828800" cy="457200"/>
          </a:xfrm>
          <a:prstGeom prst="rect">
            <a:avLst/>
          </a:prstGeom>
          <a:noFill/>
          <a:ln/>
        </p:spPr>
        <p:txBody>
          <a:bodyPr wrap="square" lIns="0" tIns="0" rIns="0" bIns="0" rtlCol="0" anchor="ctr"/>
          <a:lstStyle/>
          <a:p>
            <a:pPr marL="0" indent="0">
              <a:buNone/>
            </a:pPr>
            <a:r>
              <a:rPr lang="en-US" sz="1800" dirty="0">
                <a:solidFill>
                  <a:srgbClr val="2A2314"/>
                </a:solidFill>
                <a:latin typeface="Malgun Gothic" pitchFamily="34" charset="0"/>
                <a:ea typeface="Malgun Gothic" pitchFamily="34" charset="-122"/>
                <a:cs typeface="Malgun Gothic" pitchFamily="34" charset="-120"/>
              </a:rPr>
              <a:t>그래도 막히면</a:t>
            </a:r>
            <a:endParaRPr lang="en-US" sz="1800" dirty="0"/>
          </a:p>
        </p:txBody>
      </p:sp>
      <p:sp>
        <p:nvSpPr>
          <p:cNvPr id="15" name="Text 12"/>
          <p:cNvSpPr/>
          <p:nvPr/>
        </p:nvSpPr>
        <p:spPr>
          <a:xfrm>
            <a:off x="2377440" y="5760720"/>
            <a:ext cx="2926080" cy="502920"/>
          </a:xfrm>
          <a:prstGeom prst="roundRect">
            <a:avLst>
              <a:gd name="adj" fmla="val 14545"/>
            </a:avLst>
          </a:prstGeom>
          <a:solidFill>
            <a:srgbClr val="FFF1CC"/>
          </a:solidFill>
          <a:ln w="19050">
            <a:solidFill>
              <a:srgbClr val="C9A24A"/>
            </a:solidFill>
          </a:ln>
        </p:spPr>
        <p:txBody>
          <a:bodyPr wrap="square" lIns="25400" tIns="25400" rIns="25400" bIns="25400" rtlCol="0" anchor="ctr"/>
          <a:lstStyle/>
          <a:p>
            <a:pPr marL="0" indent="0" algn="ctr">
              <a:buNone/>
            </a:pPr>
            <a:r>
              <a:rPr lang="en-US" sz="1600" b="1" dirty="0">
                <a:solidFill>
                  <a:srgbClr val="2A2314"/>
                </a:solidFill>
                <a:latin typeface="Consolas" pitchFamily="34" charset="0"/>
                <a:ea typeface="Consolas" pitchFamily="34" charset="-122"/>
                <a:cs typeface="Consolas" pitchFamily="34" charset="-120"/>
              </a:rPr>
              <a:t>checkpoint-m4</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5 · 웹 학습지</a:t>
            </a:r>
            <a:endParaRPr lang="en-US" sz="1600" dirty="0"/>
          </a:p>
        </p:txBody>
      </p:sp>
      <p:sp>
        <p:nvSpPr>
          <p:cNvPr id="3" name="Text 1"/>
          <p:cNvSpPr/>
          <p:nvPr/>
        </p:nvSpPr>
        <p:spPr>
          <a:xfrm>
            <a:off x="5394960" y="274320"/>
            <a:ext cx="822960" cy="329184"/>
          </a:xfrm>
          <a:prstGeom prst="roundRect">
            <a:avLst>
              <a:gd name="adj" fmla="val 50000"/>
            </a:avLst>
          </a:prstGeom>
          <a:solidFill>
            <a:srgbClr val="356E67"/>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개념</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학습지 = 문항지 1장 + 학생별 답안지</a:t>
            </a:r>
            <a:endParaRPr lang="en-US" sz="3600" dirty="0"/>
          </a:p>
        </p:txBody>
      </p:sp>
      <p:sp>
        <p:nvSpPr>
          <p:cNvPr id="6" name="Text 3"/>
          <p:cNvSpPr txBox="1"/>
          <p:nvPr/>
        </p:nvSpPr>
        <p:spPr>
          <a:xfrm>
            <a:off x="548640" y="1554480"/>
            <a:ext cx="11064240" cy="182880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문항지는 교사가 1장 만든다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답안지는 학생마다 1장씩 쌓인다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Firestore(학급 서류함)에 두 종류를 나눠 보관한다</a:t>
            </a:r>
            <a:endParaRPr lang="en-US" sz="2400" dirty="0"/>
          </a:p>
        </p:txBody>
      </p:sp>
      <p:sp>
        <p:nvSpPr>
          <p:cNvPr id="7" name="Text 4"/>
          <p:cNvSpPr/>
          <p:nvPr/>
        </p:nvSpPr>
        <p:spPr>
          <a:xfrm>
            <a:off x="548640" y="3520440"/>
            <a:ext cx="11064240" cy="914400"/>
          </a:xfrm>
          <a:prstGeom prst="roundRect">
            <a:avLst>
              <a:gd name="adj" fmla="val 12000"/>
            </a:avLst>
          </a:prstGeom>
          <a:solidFill>
            <a:srgbClr val="DCE9E5"/>
          </a:solidFill>
          <a:ln w="38100">
            <a:solidFill>
              <a:srgbClr val="356E67"/>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문항지  classes/{classId}/worksheets/{id}</a:t>
            </a:r>
            <a:endParaRPr lang="en-US" sz="1800" dirty="0"/>
          </a:p>
          <a:p>
            <a:pPr marL="0" indent="0" algn="ctr">
              <a:buNone/>
            </a:pPr>
            <a:r>
              <a:rPr lang="en-US" sz="1800" dirty="0">
                <a:solidFill>
                  <a:srgbClr val="2A2314"/>
                </a:solidFill>
                <a:latin typeface="Malgun Gothic" pitchFamily="34" charset="0"/>
                <a:ea typeface="Malgun Gothic" pitchFamily="34" charset="-122"/>
                <a:cs typeface="Malgun Gothic" pitchFamily="34" charset="-120"/>
              </a:rPr>
              <a:t>title, questions[]</a:t>
            </a:r>
            <a:endParaRPr lang="en-US" sz="1800" dirty="0"/>
          </a:p>
        </p:txBody>
      </p:sp>
      <p:sp>
        <p:nvSpPr>
          <p:cNvPr id="8" name="Shape 5"/>
          <p:cNvSpPr/>
          <p:nvPr/>
        </p:nvSpPr>
        <p:spPr>
          <a:xfrm>
            <a:off x="1865376" y="4480560"/>
            <a:ext cx="292608" cy="365760"/>
          </a:xfrm>
          <a:prstGeom prst="downArrow">
            <a:avLst/>
          </a:prstGeom>
          <a:solidFill>
            <a:srgbClr val="6B5E45"/>
          </a:solidFill>
          <a:ln w="12700">
            <a:solidFill>
              <a:srgbClr val="6B5E45"/>
            </a:solidFill>
            <a:prstDash val="solid"/>
          </a:ln>
        </p:spPr>
        <p:txBody>
          <a:bodyPr/>
          <a:lstStyle/>
          <a:p>
            <a:endParaRPr lang="ko-KR" altLang="en-US"/>
          </a:p>
        </p:txBody>
      </p:sp>
      <p:sp>
        <p:nvSpPr>
          <p:cNvPr id="9" name="Text 6"/>
          <p:cNvSpPr/>
          <p:nvPr/>
        </p:nvSpPr>
        <p:spPr>
          <a:xfrm>
            <a:off x="640080" y="4892040"/>
            <a:ext cx="2651760" cy="1005840"/>
          </a:xfrm>
          <a:prstGeom prst="roundRect">
            <a:avLst>
              <a:gd name="adj" fmla="val 10909"/>
            </a:avLst>
          </a:prstGeom>
          <a:solidFill>
            <a:srgbClr val="F3DDD6"/>
          </a:solidFill>
          <a:ln w="25400">
            <a:solidFill>
              <a:srgbClr val="B0402C"/>
            </a:solidFill>
          </a:ln>
        </p:spPr>
        <p:txBody>
          <a:bodyPr wrap="square" lIns="76200" tIns="76200" rIns="76200" bIns="76200" rtlCol="0" anchor="ctr"/>
          <a:lstStyle/>
          <a:p>
            <a:pPr marL="0" indent="0" algn="ctr">
              <a:buNone/>
            </a:pPr>
            <a:r>
              <a:rPr lang="en-US" sz="1500" dirty="0">
                <a:solidFill>
                  <a:srgbClr val="2A2314"/>
                </a:solidFill>
                <a:latin typeface="Malgun Gothic" pitchFamily="34" charset="0"/>
                <a:ea typeface="Malgun Gothic" pitchFamily="34" charset="-122"/>
                <a:cs typeface="Malgun Gothic" pitchFamily="34" charset="-120"/>
              </a:rPr>
              <a:t>submissions/uid-A 답안지</a:t>
            </a:r>
            <a:endParaRPr lang="en-US" sz="1500" dirty="0"/>
          </a:p>
          <a:p>
            <a:pPr marL="0" indent="0" algn="ctr">
              <a:buNone/>
            </a:pPr>
            <a:r>
              <a:rPr lang="en-US" sz="1500" dirty="0">
                <a:solidFill>
                  <a:srgbClr val="2A2314"/>
                </a:solidFill>
                <a:latin typeface="Malgun Gothic" pitchFamily="34" charset="0"/>
                <a:ea typeface="Malgun Gothic" pitchFamily="34" charset="-122"/>
                <a:cs typeface="Malgun Gothic" pitchFamily="34" charset="-120"/>
              </a:rPr>
              <a:t>answers, submittedAt</a:t>
            </a:r>
            <a:endParaRPr lang="en-US" sz="1500" dirty="0"/>
          </a:p>
        </p:txBody>
      </p:sp>
      <p:sp>
        <p:nvSpPr>
          <p:cNvPr id="10" name="Shape 7"/>
          <p:cNvSpPr/>
          <p:nvPr/>
        </p:nvSpPr>
        <p:spPr>
          <a:xfrm>
            <a:off x="4700016" y="4480560"/>
            <a:ext cx="292608" cy="365760"/>
          </a:xfrm>
          <a:prstGeom prst="downArrow">
            <a:avLst/>
          </a:prstGeom>
          <a:solidFill>
            <a:srgbClr val="6B5E45"/>
          </a:solidFill>
          <a:ln w="12700">
            <a:solidFill>
              <a:srgbClr val="6B5E45"/>
            </a:solidFill>
            <a:prstDash val="solid"/>
          </a:ln>
        </p:spPr>
        <p:txBody>
          <a:bodyPr/>
          <a:lstStyle/>
          <a:p>
            <a:endParaRPr lang="ko-KR" altLang="en-US"/>
          </a:p>
        </p:txBody>
      </p:sp>
      <p:sp>
        <p:nvSpPr>
          <p:cNvPr id="11" name="Text 8"/>
          <p:cNvSpPr/>
          <p:nvPr/>
        </p:nvSpPr>
        <p:spPr>
          <a:xfrm>
            <a:off x="3474720" y="4892040"/>
            <a:ext cx="2651760" cy="1005840"/>
          </a:xfrm>
          <a:prstGeom prst="roundRect">
            <a:avLst>
              <a:gd name="adj" fmla="val 10909"/>
            </a:avLst>
          </a:prstGeom>
          <a:solidFill>
            <a:srgbClr val="F3DDD6"/>
          </a:solidFill>
          <a:ln w="25400">
            <a:solidFill>
              <a:srgbClr val="B0402C"/>
            </a:solidFill>
          </a:ln>
        </p:spPr>
        <p:txBody>
          <a:bodyPr wrap="square" lIns="76200" tIns="76200" rIns="76200" bIns="76200" rtlCol="0" anchor="ctr"/>
          <a:lstStyle/>
          <a:p>
            <a:pPr marL="0" indent="0" algn="ctr">
              <a:buNone/>
            </a:pPr>
            <a:r>
              <a:rPr lang="en-US" sz="1500" dirty="0">
                <a:solidFill>
                  <a:srgbClr val="2A2314"/>
                </a:solidFill>
                <a:latin typeface="Malgun Gothic" pitchFamily="34" charset="0"/>
                <a:ea typeface="Malgun Gothic" pitchFamily="34" charset="-122"/>
                <a:cs typeface="Malgun Gothic" pitchFamily="34" charset="-120"/>
              </a:rPr>
              <a:t>submissions/uid-B 답안지</a:t>
            </a:r>
            <a:endParaRPr lang="en-US" sz="1500" dirty="0"/>
          </a:p>
          <a:p>
            <a:pPr marL="0" indent="0" algn="ctr">
              <a:buNone/>
            </a:pPr>
            <a:r>
              <a:rPr lang="en-US" sz="1500" dirty="0">
                <a:solidFill>
                  <a:srgbClr val="2A2314"/>
                </a:solidFill>
                <a:latin typeface="Malgun Gothic" pitchFamily="34" charset="0"/>
                <a:ea typeface="Malgun Gothic" pitchFamily="34" charset="-122"/>
                <a:cs typeface="Malgun Gothic" pitchFamily="34" charset="-120"/>
              </a:rPr>
              <a:t>answers, submittedAt</a:t>
            </a:r>
            <a:endParaRPr lang="en-US" sz="1500" dirty="0"/>
          </a:p>
        </p:txBody>
      </p:sp>
      <p:sp>
        <p:nvSpPr>
          <p:cNvPr id="12" name="Shape 9"/>
          <p:cNvSpPr/>
          <p:nvPr/>
        </p:nvSpPr>
        <p:spPr>
          <a:xfrm>
            <a:off x="7534656" y="4480560"/>
            <a:ext cx="292608" cy="365760"/>
          </a:xfrm>
          <a:prstGeom prst="downArrow">
            <a:avLst/>
          </a:prstGeom>
          <a:solidFill>
            <a:srgbClr val="6B5E45"/>
          </a:solidFill>
          <a:ln w="12700">
            <a:solidFill>
              <a:srgbClr val="6B5E45"/>
            </a:solidFill>
            <a:prstDash val="solid"/>
          </a:ln>
        </p:spPr>
        <p:txBody>
          <a:bodyPr/>
          <a:lstStyle/>
          <a:p>
            <a:endParaRPr lang="ko-KR" altLang="en-US"/>
          </a:p>
        </p:txBody>
      </p:sp>
      <p:sp>
        <p:nvSpPr>
          <p:cNvPr id="13" name="Text 10"/>
          <p:cNvSpPr/>
          <p:nvPr/>
        </p:nvSpPr>
        <p:spPr>
          <a:xfrm>
            <a:off x="6309360" y="4892040"/>
            <a:ext cx="2651760" cy="1005840"/>
          </a:xfrm>
          <a:prstGeom prst="roundRect">
            <a:avLst>
              <a:gd name="adj" fmla="val 10909"/>
            </a:avLst>
          </a:prstGeom>
          <a:solidFill>
            <a:srgbClr val="F3DDD6"/>
          </a:solidFill>
          <a:ln w="25400">
            <a:solidFill>
              <a:srgbClr val="B0402C"/>
            </a:solidFill>
          </a:ln>
        </p:spPr>
        <p:txBody>
          <a:bodyPr wrap="square" lIns="76200" tIns="76200" rIns="76200" bIns="76200" rtlCol="0" anchor="ctr"/>
          <a:lstStyle/>
          <a:p>
            <a:pPr marL="0" indent="0" algn="ctr">
              <a:buNone/>
            </a:pPr>
            <a:r>
              <a:rPr lang="en-US" sz="1500" dirty="0">
                <a:solidFill>
                  <a:srgbClr val="2A2314"/>
                </a:solidFill>
                <a:latin typeface="Malgun Gothic" pitchFamily="34" charset="0"/>
                <a:ea typeface="Malgun Gothic" pitchFamily="34" charset="-122"/>
                <a:cs typeface="Malgun Gothic" pitchFamily="34" charset="-120"/>
              </a:rPr>
              <a:t>submissions/uid-C 답안지</a:t>
            </a:r>
            <a:endParaRPr lang="en-US" sz="1500" dirty="0"/>
          </a:p>
          <a:p>
            <a:pPr marL="0" indent="0" algn="ctr">
              <a:buNone/>
            </a:pPr>
            <a:r>
              <a:rPr lang="en-US" sz="1500" dirty="0">
                <a:solidFill>
                  <a:srgbClr val="2A2314"/>
                </a:solidFill>
                <a:latin typeface="Malgun Gothic" pitchFamily="34" charset="0"/>
                <a:ea typeface="Malgun Gothic" pitchFamily="34" charset="-122"/>
                <a:cs typeface="Malgun Gothic" pitchFamily="34" charset="-120"/>
              </a:rPr>
              <a:t>answers, submittedAt</a:t>
            </a:r>
            <a:endParaRPr lang="en-US" sz="1500" dirty="0"/>
          </a:p>
        </p:txBody>
      </p:sp>
      <p:sp>
        <p:nvSpPr>
          <p:cNvPr id="14" name="Text 11"/>
          <p:cNvSpPr/>
          <p:nvPr/>
        </p:nvSpPr>
        <p:spPr>
          <a:xfrm>
            <a:off x="9144000" y="4892040"/>
            <a:ext cx="2468880" cy="1005840"/>
          </a:xfrm>
          <a:prstGeom prst="roundRect">
            <a:avLst>
              <a:gd name="adj" fmla="val 10909"/>
            </a:avLst>
          </a:prstGeom>
          <a:solidFill>
            <a:srgbClr val="F8F2E4"/>
          </a:solidFill>
          <a:ln w="25400">
            <a:solidFill>
              <a:srgbClr val="6B5E45"/>
            </a:solidFill>
            <a:prstDash val="dash"/>
          </a:ln>
        </p:spPr>
        <p:txBody>
          <a:bodyPr wrap="square" lIns="76200" tIns="76200" rIns="76200" bIns="76200" rtlCol="0" anchor="ctr"/>
          <a:lstStyle/>
          <a:p>
            <a:pPr marL="0" indent="0" algn="ctr">
              <a:buNone/>
            </a:pPr>
            <a:r>
              <a:rPr lang="en-US" sz="1500" dirty="0">
                <a:solidFill>
                  <a:srgbClr val="6B5E45"/>
                </a:solidFill>
                <a:latin typeface="Malgun Gothic" pitchFamily="34" charset="0"/>
                <a:ea typeface="Malgun Gothic" pitchFamily="34" charset="-122"/>
                <a:cs typeface="Malgun Gothic" pitchFamily="34" charset="-120"/>
              </a:rPr>
              <a:t>feedback</a:t>
            </a:r>
            <a:endParaRPr lang="en-US" sz="1500" dirty="0"/>
          </a:p>
          <a:p>
            <a:pPr marL="0" indent="0" algn="ctr">
              <a:buNone/>
            </a:pPr>
            <a:r>
              <a:rPr lang="en-US" sz="1500" dirty="0">
                <a:solidFill>
                  <a:srgbClr val="6B5E45"/>
                </a:solidFill>
                <a:latin typeface="Malgun Gothic" pitchFamily="34" charset="0"/>
                <a:ea typeface="Malgun Gothic" pitchFamily="34" charset="-122"/>
                <a:cs typeface="Malgun Gothic" pitchFamily="34" charset="-120"/>
              </a:rPr>
              <a:t>(모듈 6에서 채움)</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5 · 웹 학습지</a:t>
            </a:r>
            <a:endParaRPr lang="en-US" sz="1600" dirty="0"/>
          </a:p>
        </p:txBody>
      </p:sp>
      <p:sp>
        <p:nvSpPr>
          <p:cNvPr id="3" name="Text 1"/>
          <p:cNvSpPr/>
          <p:nvPr/>
        </p:nvSpPr>
        <p:spPr>
          <a:xfrm>
            <a:off x="5394960" y="274320"/>
            <a:ext cx="822960" cy="329184"/>
          </a:xfrm>
          <a:prstGeom prst="roundRect">
            <a:avLst>
              <a:gd name="adj" fmla="val 50000"/>
            </a:avLst>
          </a:prstGeom>
          <a:solidFill>
            <a:srgbClr val="356E67"/>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개념</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답안지 이름이 학생 번호인 이유</a:t>
            </a:r>
            <a:endParaRPr lang="en-US" sz="3600" dirty="0"/>
          </a:p>
        </p:txBody>
      </p:sp>
      <p:sp>
        <p:nvSpPr>
          <p:cNvPr id="6" name="Text 3"/>
          <p:cNvSpPr txBox="1"/>
          <p:nvPr/>
        </p:nvSpPr>
        <p:spPr>
          <a:xfrm>
            <a:off x="548640" y="1554480"/>
            <a:ext cx="11064240" cy="192024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답안지 문서 이름 = 그 학생의 uid(출석 번호표)</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내 번호표와 같은 이름의 답안지만 열 수 있다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보안 규칙 원칙 2: 학생은 자기 제출물만 읽고 쓴다</a:t>
            </a:r>
            <a:endParaRPr lang="en-US" sz="2400" dirty="0"/>
          </a:p>
        </p:txBody>
      </p:sp>
      <p:sp>
        <p:nvSpPr>
          <p:cNvPr id="7" name="Text 4"/>
          <p:cNvSpPr/>
          <p:nvPr/>
        </p:nvSpPr>
        <p:spPr>
          <a:xfrm>
            <a:off x="548640" y="3840480"/>
            <a:ext cx="2148840" cy="1463040"/>
          </a:xfrm>
          <a:prstGeom prst="roundRect">
            <a:avLst>
              <a:gd name="adj" fmla="val 7500"/>
            </a:avLst>
          </a:prstGeom>
          <a:solidFill>
            <a:srgbClr val="DCE9E5"/>
          </a:solidFill>
          <a:ln w="38100">
            <a:solidFill>
              <a:srgbClr val="356E67"/>
            </a:solidFill>
          </a:ln>
        </p:spPr>
        <p:txBody>
          <a:bodyPr wrap="square" lIns="76200" tIns="76200" rIns="76200" bIns="76200" rtlCol="0" anchor="ctr"/>
          <a:lstStyle/>
          <a:p>
            <a:pPr marL="0" indent="0" algn="ctr">
              <a:buNone/>
            </a:pPr>
            <a:r>
              <a:rPr lang="en-US" sz="2000" b="1" dirty="0">
                <a:solidFill>
                  <a:srgbClr val="2A2314"/>
                </a:solidFill>
                <a:latin typeface="Malgun Gothic" pitchFamily="34" charset="0"/>
                <a:ea typeface="Malgun Gothic" pitchFamily="34" charset="-122"/>
                <a:cs typeface="Malgun Gothic" pitchFamily="34" charset="-120"/>
              </a:rPr>
              <a:t>uid-A</a:t>
            </a:r>
            <a:endParaRPr lang="en-US" sz="2000" dirty="0"/>
          </a:p>
          <a:p>
            <a:pPr marL="0" indent="0" algn="ctr">
              <a:buNone/>
            </a:pPr>
            <a:r>
              <a:rPr lang="en-US" sz="2000" b="1" dirty="0">
                <a:solidFill>
                  <a:srgbClr val="2A2314"/>
                </a:solidFill>
                <a:latin typeface="Malgun Gothic" pitchFamily="34" charset="0"/>
                <a:ea typeface="Malgun Gothic" pitchFamily="34" charset="-122"/>
                <a:cs typeface="Malgun Gothic" pitchFamily="34" charset="-120"/>
              </a:rPr>
              <a:t>열림</a:t>
            </a:r>
            <a:endParaRPr lang="en-US" sz="2000" dirty="0"/>
          </a:p>
        </p:txBody>
      </p:sp>
      <p:sp>
        <p:nvSpPr>
          <p:cNvPr id="8" name="Text 5"/>
          <p:cNvSpPr/>
          <p:nvPr/>
        </p:nvSpPr>
        <p:spPr>
          <a:xfrm>
            <a:off x="2926080" y="3840480"/>
            <a:ext cx="2148840" cy="1463040"/>
          </a:xfrm>
          <a:prstGeom prst="roundRect">
            <a:avLst>
              <a:gd name="adj" fmla="val 7500"/>
            </a:avLst>
          </a:prstGeom>
          <a:solidFill>
            <a:srgbClr val="F3DDD6"/>
          </a:solidFill>
          <a:ln w="38100">
            <a:solidFill>
              <a:srgbClr val="B0402C"/>
            </a:solidFill>
          </a:ln>
        </p:spPr>
        <p:txBody>
          <a:bodyPr wrap="square" lIns="76200" tIns="76200" rIns="76200" bIns="76200" rtlCol="0" anchor="ctr"/>
          <a:lstStyle/>
          <a:p>
            <a:pPr marL="0" indent="0" algn="ctr">
              <a:buNone/>
            </a:pPr>
            <a:r>
              <a:rPr lang="en-US" sz="2000" b="1" dirty="0">
                <a:solidFill>
                  <a:srgbClr val="2A2314"/>
                </a:solidFill>
                <a:latin typeface="Malgun Gothic" pitchFamily="34" charset="0"/>
                <a:ea typeface="Malgun Gothic" pitchFamily="34" charset="-122"/>
                <a:cs typeface="Malgun Gothic" pitchFamily="34" charset="-120"/>
              </a:rPr>
              <a:t>uid-B</a:t>
            </a:r>
            <a:endParaRPr lang="en-US" sz="2000" dirty="0"/>
          </a:p>
          <a:p>
            <a:pPr marL="0" indent="0" algn="ctr">
              <a:buNone/>
            </a:pPr>
            <a:r>
              <a:rPr lang="en-US" sz="2000" b="1" dirty="0">
                <a:solidFill>
                  <a:srgbClr val="2A2314"/>
                </a:solidFill>
                <a:latin typeface="Malgun Gothic" pitchFamily="34" charset="0"/>
                <a:ea typeface="Malgun Gothic" pitchFamily="34" charset="-122"/>
                <a:cs typeface="Malgun Gothic" pitchFamily="34" charset="-120"/>
              </a:rPr>
              <a:t>잠김</a:t>
            </a:r>
            <a:endParaRPr lang="en-US" sz="2000" dirty="0"/>
          </a:p>
        </p:txBody>
      </p:sp>
      <p:sp>
        <p:nvSpPr>
          <p:cNvPr id="9" name="Text 6"/>
          <p:cNvSpPr/>
          <p:nvPr/>
        </p:nvSpPr>
        <p:spPr>
          <a:xfrm>
            <a:off x="5303520" y="3840480"/>
            <a:ext cx="2148840" cy="1463040"/>
          </a:xfrm>
          <a:prstGeom prst="roundRect">
            <a:avLst>
              <a:gd name="adj" fmla="val 7500"/>
            </a:avLst>
          </a:prstGeom>
          <a:solidFill>
            <a:srgbClr val="F3DDD6"/>
          </a:solidFill>
          <a:ln w="38100">
            <a:solidFill>
              <a:srgbClr val="B0402C"/>
            </a:solidFill>
          </a:ln>
        </p:spPr>
        <p:txBody>
          <a:bodyPr wrap="square" lIns="76200" tIns="76200" rIns="76200" bIns="76200" rtlCol="0" anchor="ctr"/>
          <a:lstStyle/>
          <a:p>
            <a:pPr marL="0" indent="0" algn="ctr">
              <a:buNone/>
            </a:pPr>
            <a:r>
              <a:rPr lang="en-US" sz="2000" b="1" dirty="0">
                <a:solidFill>
                  <a:srgbClr val="2A2314"/>
                </a:solidFill>
                <a:latin typeface="Malgun Gothic" pitchFamily="34" charset="0"/>
                <a:ea typeface="Malgun Gothic" pitchFamily="34" charset="-122"/>
                <a:cs typeface="Malgun Gothic" pitchFamily="34" charset="-120"/>
              </a:rPr>
              <a:t>uid-C</a:t>
            </a:r>
            <a:endParaRPr lang="en-US" sz="2000" dirty="0"/>
          </a:p>
          <a:p>
            <a:pPr marL="0" indent="0" algn="ctr">
              <a:buNone/>
            </a:pPr>
            <a:r>
              <a:rPr lang="en-US" sz="2000" b="1" dirty="0">
                <a:solidFill>
                  <a:srgbClr val="2A2314"/>
                </a:solidFill>
                <a:latin typeface="Malgun Gothic" pitchFamily="34" charset="0"/>
                <a:ea typeface="Malgun Gothic" pitchFamily="34" charset="-122"/>
                <a:cs typeface="Malgun Gothic" pitchFamily="34" charset="-120"/>
              </a:rPr>
              <a:t>잠김</a:t>
            </a:r>
            <a:endParaRPr lang="en-US" sz="2000" dirty="0"/>
          </a:p>
        </p:txBody>
      </p:sp>
      <p:sp>
        <p:nvSpPr>
          <p:cNvPr id="10" name="Text 7"/>
          <p:cNvSpPr txBox="1"/>
          <p:nvPr/>
        </p:nvSpPr>
        <p:spPr>
          <a:xfrm>
            <a:off x="548640" y="3474720"/>
            <a:ext cx="3657600" cy="365760"/>
          </a:xfrm>
          <a:prstGeom prst="rect">
            <a:avLst/>
          </a:prstGeom>
          <a:noFill/>
          <a:ln/>
        </p:spPr>
        <p:txBody>
          <a:bodyPr wrap="square" lIns="0" tIns="0" rIns="0" bIns="0" rtlCol="0" anchor="ctr"/>
          <a:lstStyle/>
          <a:p>
            <a:pPr marL="0" indent="0">
              <a:buNone/>
            </a:pPr>
            <a:r>
              <a:rPr lang="en-US" sz="1600" dirty="0">
                <a:solidFill>
                  <a:srgbClr val="6B5E45"/>
                </a:solidFill>
                <a:latin typeface="Malgun Gothic" pitchFamily="34" charset="0"/>
                <a:ea typeface="Malgun Gothic" pitchFamily="34" charset="-122"/>
                <a:cs typeface="Malgun Gothic" pitchFamily="34" charset="-120"/>
              </a:rPr>
              <a:t>학생 A의 서랍장</a:t>
            </a:r>
            <a:endParaRPr lang="en-US" sz="1600" dirty="0"/>
          </a:p>
        </p:txBody>
      </p:sp>
      <p:sp>
        <p:nvSpPr>
          <p:cNvPr id="11" name="Text 8"/>
          <p:cNvSpPr/>
          <p:nvPr/>
        </p:nvSpPr>
        <p:spPr>
          <a:xfrm>
            <a:off x="7863840" y="3840480"/>
            <a:ext cx="3749040" cy="1463040"/>
          </a:xfrm>
          <a:prstGeom prst="roundRect">
            <a:avLst>
              <a:gd name="adj" fmla="val 7500"/>
            </a:avLst>
          </a:prstGeom>
          <a:solidFill>
            <a:srgbClr val="FFF1CC"/>
          </a:solidFill>
          <a:ln w="25400">
            <a:solidFill>
              <a:srgbClr val="C9A24A"/>
            </a:solidFill>
          </a:ln>
        </p:spPr>
        <p:txBody>
          <a:bodyPr wrap="square" lIns="76200" tIns="76200" rIns="76200" bIns="76200" rtlCol="0" anchor="ctr"/>
          <a:lstStyle/>
          <a:p>
            <a:pPr marL="0" indent="0" algn="ctr">
              <a:buNone/>
            </a:pPr>
            <a:r>
              <a:rPr lang="en-US" sz="1800" b="1" dirty="0">
                <a:solidFill>
                  <a:srgbClr val="2A2314"/>
                </a:solidFill>
                <a:latin typeface="Malgun Gothic" pitchFamily="34" charset="0"/>
                <a:ea typeface="Malgun Gothic" pitchFamily="34" charset="-122"/>
                <a:cs typeface="Malgun Gothic" pitchFamily="34" charset="-120"/>
              </a:rPr>
              <a:t>교사: 해당 수업 서랍 전체 열람 가능</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5 · 웹 학습지</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교사 학습지 작성 화면 만들기</a:t>
            </a:r>
            <a:endParaRPr lang="en-US" sz="3600" dirty="0"/>
          </a:p>
        </p:txBody>
      </p:sp>
      <p:sp>
        <p:nvSpPr>
          <p:cNvPr id="6" name="Text 3"/>
          <p:cNvSpPr txBox="1"/>
          <p:nvPr/>
        </p:nvSpPr>
        <p:spPr>
          <a:xfrm>
            <a:off x="548640" y="1508760"/>
            <a:ext cx="11064240" cy="137160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교사 화면에서 문항을 추가해 학습지를 저장한다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서술형과 선택형(정답 포함) 두 종류. 정답은 모듈 6에서 쓴다</a:t>
            </a:r>
            <a:endParaRPr lang="en-US" sz="2400" dirty="0"/>
          </a:p>
        </p:txBody>
      </p:sp>
      <p:sp>
        <p:nvSpPr>
          <p:cNvPr id="7" name="Text 4"/>
          <p:cNvSpPr txBox="1"/>
          <p:nvPr/>
        </p:nvSpPr>
        <p:spPr>
          <a:xfrm>
            <a:off x="548640" y="2907792"/>
            <a:ext cx="11064240" cy="274320"/>
          </a:xfrm>
          <a:prstGeom prst="rect">
            <a:avLst/>
          </a:prstGeom>
          <a:noFill/>
          <a:ln/>
        </p:spPr>
        <p:txBody>
          <a:bodyPr wrap="square" lIns="0" tIns="0" rIns="0" bIns="0" rtlCol="0" anchor="ctr"/>
          <a:lstStyle/>
          <a:p>
            <a:pPr marL="0" indent="0">
              <a:buNone/>
            </a:pPr>
            <a:r>
              <a:rPr lang="en-US" sz="1400" dirty="0">
                <a:solidFill>
                  <a:srgbClr val="6B5E45"/>
                </a:solidFill>
                <a:latin typeface="Malgun Gothic" pitchFamily="34" charset="0"/>
                <a:ea typeface="Malgun Gothic" pitchFamily="34" charset="-122"/>
                <a:cs typeface="Malgun Gothic" pitchFamily="34" charset="-120"/>
              </a:rPr>
              <a:t>프롬프트 핵심 (전문은 발표자 노트)</a:t>
            </a:r>
            <a:endParaRPr lang="en-US" sz="1400" dirty="0"/>
          </a:p>
        </p:txBody>
      </p:sp>
      <p:sp>
        <p:nvSpPr>
          <p:cNvPr id="8" name="Shape 5"/>
          <p:cNvSpPr/>
          <p:nvPr/>
        </p:nvSpPr>
        <p:spPr>
          <a:xfrm>
            <a:off x="548640" y="3200400"/>
            <a:ext cx="11064240" cy="2011680"/>
          </a:xfrm>
          <a:prstGeom prst="roundRect">
            <a:avLst>
              <a:gd name="adj" fmla="val 4545"/>
            </a:avLst>
          </a:prstGeom>
          <a:solidFill>
            <a:srgbClr val="2A2314"/>
          </a:solidFill>
          <a:ln w="12700">
            <a:solidFill>
              <a:srgbClr val="2A2314"/>
            </a:solidFill>
            <a:prstDash val="solid"/>
          </a:ln>
        </p:spPr>
        <p:txBody>
          <a:bodyPr/>
          <a:lstStyle/>
          <a:p>
            <a:endParaRPr lang="ko-KR" altLang="en-US"/>
          </a:p>
        </p:txBody>
      </p:sp>
      <p:sp>
        <p:nvSpPr>
          <p:cNvPr id="9" name="Text 6"/>
          <p:cNvSpPr txBox="1"/>
          <p:nvPr/>
        </p:nvSpPr>
        <p:spPr>
          <a:xfrm>
            <a:off x="731520" y="3291840"/>
            <a:ext cx="10698480" cy="1828800"/>
          </a:xfrm>
          <a:prstGeom prst="rect">
            <a:avLst/>
          </a:prstGeom>
          <a:noFill/>
          <a:ln/>
        </p:spPr>
        <p:txBody>
          <a:bodyPr wrap="square" lIns="0" tIns="0" rIns="0" bIns="0" rtlCol="0" anchor="t"/>
          <a:lstStyle/>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교사 수업 화면에 "학습지 만들기"를 추가해 줘 (학생에게는 안 보이게).</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"서술형 문항 추가" / "선택형 문항 추가" 버튼. 선택형은 보기 2~5개 + 정답 하나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classes/{classId}/worksheets 에 title, questions[] 두 필드만 저장</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문항 필드: type("essay"/"choice"), text, choices, answer</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answer: 선택형은 0부터 센 번호, 서술형은 null</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제목·문항·보기·정답이 빠지면 저장하지 말고 무엇이 빠졌는지 알려 줘</a:t>
            </a:r>
            <a:endParaRPr lang="en-US" sz="1500" dirty="0"/>
          </a:p>
        </p:txBody>
      </p:sp>
      <p:sp>
        <p:nvSpPr>
          <p:cNvPr id="10" name="Text 7"/>
          <p:cNvSpPr txBox="1"/>
          <p:nvPr/>
        </p:nvSpPr>
        <p:spPr>
          <a:xfrm>
            <a:off x="548640" y="5349240"/>
            <a:ext cx="11064240" cy="457200"/>
          </a:xfrm>
          <a:prstGeom prst="rect">
            <a:avLst/>
          </a:prstGeom>
          <a:noFill/>
          <a:ln/>
        </p:spPr>
        <p:txBody>
          <a:bodyPr wrap="square" lIns="0" tIns="0" rIns="0" bIns="0" rtlCol="0" anchor="ctr"/>
          <a:lstStyle/>
          <a:p>
            <a:pPr marL="0" indent="0">
              <a:buNone/>
            </a:pPr>
            <a:r>
              <a:rPr lang="en-US" sz="1800" b="1" dirty="0">
                <a:solidFill>
                  <a:srgbClr val="B0402C"/>
                </a:solidFill>
                <a:latin typeface="Malgun Gothic" pitchFamily="34" charset="0"/>
                <a:ea typeface="Malgun Gothic" pitchFamily="34" charset="-122"/>
                <a:cs typeface="Malgun Gothic" pitchFamily="34" charset="-120"/>
              </a:rPr>
              <a:t>화면에는 보기 1, 2, 3 · 저장은 0, 1, 2  (첫 번째 보기가 정답이면 answer = 0)</a:t>
            </a:r>
            <a:endParaRPr lang="en-US" sz="1800" dirty="0"/>
          </a:p>
        </p:txBody>
      </p:sp>
      <p:sp>
        <p:nvSpPr>
          <p:cNvPr id="11" name="Text 8"/>
          <p:cNvSpPr txBox="1"/>
          <p:nvPr/>
        </p:nvSpPr>
        <p:spPr>
          <a:xfrm>
            <a:off x="548640" y="5897880"/>
            <a:ext cx="11064240" cy="457200"/>
          </a:xfrm>
          <a:prstGeom prst="rect">
            <a:avLst/>
          </a:prstGeom>
          <a:noFill/>
          <a:ln/>
        </p:spPr>
        <p:txBody>
          <a:bodyPr wrap="square" lIns="0" tIns="0" rIns="0" bIns="0" rtlCol="0" anchor="ctr"/>
          <a:lstStyle/>
          <a:p>
            <a:pPr marL="0" indent="0">
              <a:buNone/>
            </a:pPr>
            <a:r>
              <a:rPr lang="en-US" sz="1600" b="1" dirty="0">
                <a:solidFill>
                  <a:srgbClr val="B0402C"/>
                </a:solidFill>
                <a:latin typeface="Malgun Gothic" pitchFamily="34" charset="0"/>
                <a:ea typeface="Malgun Gothic" pitchFamily="34" charset="-122"/>
                <a:cs typeface="Malgun Gothic" pitchFamily="34" charset="-120"/>
              </a:rPr>
              <a:t>막힐 때  </a:t>
            </a:r>
            <a:r>
              <a:rPr lang="en-US" sz="1600" dirty="0">
                <a:solidFill>
                  <a:srgbClr val="2A2314"/>
                </a:solidFill>
                <a:latin typeface="Malgun Gothic" pitchFamily="34" charset="0"/>
                <a:ea typeface="Malgun Gothic" pitchFamily="34" charset="-122"/>
                <a:cs typeface="Malgun Gothic" pitchFamily="34" charset="-120"/>
              </a:rPr>
              <a:t>권한 오류는 임시 규칙 게시 확인. 폼이 안 보이면 내가 만든 수업인지 확인</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5 · 웹 학습지</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학생 학습지 풀기와 제출</a:t>
            </a:r>
            <a:endParaRPr lang="en-US" sz="3600" dirty="0"/>
          </a:p>
        </p:txBody>
      </p:sp>
      <p:sp>
        <p:nvSpPr>
          <p:cNvPr id="6" name="Text 3"/>
          <p:cNvSpPr txBox="1"/>
          <p:nvPr/>
        </p:nvSpPr>
        <p:spPr>
          <a:xfrm>
            <a:off x="548640" y="1508760"/>
            <a:ext cx="11064240" cy="137160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학생 화면에서 학습지를 열어 답하고 제출한다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답안지 문서 이름은 내 uid. 다시 제출하면 병합 저장으로 답만 바꾼다</a:t>
            </a:r>
            <a:endParaRPr lang="en-US" sz="2400" dirty="0"/>
          </a:p>
        </p:txBody>
      </p:sp>
      <p:sp>
        <p:nvSpPr>
          <p:cNvPr id="7" name="Text 4"/>
          <p:cNvSpPr txBox="1"/>
          <p:nvPr/>
        </p:nvSpPr>
        <p:spPr>
          <a:xfrm>
            <a:off x="548640" y="2907792"/>
            <a:ext cx="11064240" cy="274320"/>
          </a:xfrm>
          <a:prstGeom prst="rect">
            <a:avLst/>
          </a:prstGeom>
          <a:noFill/>
          <a:ln/>
        </p:spPr>
        <p:txBody>
          <a:bodyPr wrap="square" lIns="0" tIns="0" rIns="0" bIns="0" rtlCol="0" anchor="ctr"/>
          <a:lstStyle/>
          <a:p>
            <a:pPr marL="0" indent="0">
              <a:buNone/>
            </a:pPr>
            <a:r>
              <a:rPr lang="en-US" sz="1400" dirty="0">
                <a:solidFill>
                  <a:srgbClr val="6B5E45"/>
                </a:solidFill>
                <a:latin typeface="Malgun Gothic" pitchFamily="34" charset="0"/>
                <a:ea typeface="Malgun Gothic" pitchFamily="34" charset="-122"/>
                <a:cs typeface="Malgun Gothic" pitchFamily="34" charset="-120"/>
              </a:rPr>
              <a:t>프롬프트 핵심 (전문은 발표자 노트)</a:t>
            </a:r>
            <a:endParaRPr lang="en-US" sz="1400" dirty="0"/>
          </a:p>
        </p:txBody>
      </p:sp>
      <p:sp>
        <p:nvSpPr>
          <p:cNvPr id="8" name="Shape 5"/>
          <p:cNvSpPr/>
          <p:nvPr/>
        </p:nvSpPr>
        <p:spPr>
          <a:xfrm>
            <a:off x="548640" y="3200400"/>
            <a:ext cx="11064240" cy="2011680"/>
          </a:xfrm>
          <a:prstGeom prst="roundRect">
            <a:avLst>
              <a:gd name="adj" fmla="val 4545"/>
            </a:avLst>
          </a:prstGeom>
          <a:solidFill>
            <a:srgbClr val="2A2314"/>
          </a:solidFill>
          <a:ln w="12700">
            <a:solidFill>
              <a:srgbClr val="2A2314"/>
            </a:solidFill>
            <a:prstDash val="solid"/>
          </a:ln>
        </p:spPr>
        <p:txBody>
          <a:bodyPr/>
          <a:lstStyle/>
          <a:p>
            <a:endParaRPr lang="ko-KR" altLang="en-US"/>
          </a:p>
        </p:txBody>
      </p:sp>
      <p:sp>
        <p:nvSpPr>
          <p:cNvPr id="9" name="Text 6"/>
          <p:cNvSpPr txBox="1"/>
          <p:nvPr/>
        </p:nvSpPr>
        <p:spPr>
          <a:xfrm>
            <a:off x="731520" y="3291840"/>
            <a:ext cx="10698480" cy="1828800"/>
          </a:xfrm>
          <a:prstGeom prst="rect">
            <a:avLst/>
          </a:prstGeom>
          <a:noFill/>
          <a:ln/>
        </p:spPr>
        <p:txBody>
          <a:bodyPr wrap="square" lIns="0" tIns="0" rIns="0" bIns="0" rtlCol="0" anchor="t"/>
          <a:lstStyle/>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학생이 학습지를 풀고 제출하는 기능을 추가해 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서술형은 글상자, 선택형은 라디오 버튼. 정답은 화면에 보여 주지 마</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제출 → .../submissions/{내 uid} 에 answers, submittedAt(서버 시각)</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문서 이름은 반드시 로그인한 학생의 uid</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이미 제출했으면 이전 답을 채워 주고, 다시 제출은 merge로</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answers와 submittedAt만 바꿔 줘 (feedback 같은 다른 필드는 지우지 마)</a:t>
            </a:r>
            <a:endParaRPr lang="en-US" sz="1500" dirty="0"/>
          </a:p>
        </p:txBody>
      </p:sp>
      <p:sp>
        <p:nvSpPr>
          <p:cNvPr id="10" name="Text 7"/>
          <p:cNvSpPr txBox="1"/>
          <p:nvPr/>
        </p:nvSpPr>
        <p:spPr>
          <a:xfrm>
            <a:off x="548640" y="5669280"/>
            <a:ext cx="11064240" cy="457200"/>
          </a:xfrm>
          <a:prstGeom prst="rect">
            <a:avLst/>
          </a:prstGeom>
          <a:noFill/>
          <a:ln/>
        </p:spPr>
        <p:txBody>
          <a:bodyPr wrap="square" lIns="0" tIns="0" rIns="0" bIns="0" rtlCol="0" anchor="ctr"/>
          <a:lstStyle/>
          <a:p>
            <a:pPr marL="0" indent="0">
              <a:buNone/>
            </a:pPr>
            <a:r>
              <a:rPr lang="en-US" sz="1600" b="1" dirty="0">
                <a:solidFill>
                  <a:srgbClr val="B0402C"/>
                </a:solidFill>
                <a:latin typeface="Malgun Gothic" pitchFamily="34" charset="0"/>
                <a:ea typeface="Malgun Gothic" pitchFamily="34" charset="-122"/>
                <a:cs typeface="Malgun Gothic" pitchFamily="34" charset="-120"/>
              </a:rPr>
              <a:t>막힐 때  </a:t>
            </a:r>
            <a:r>
              <a:rPr lang="en-US" sz="1600" dirty="0">
                <a:solidFill>
                  <a:srgbClr val="2A2314"/>
                </a:solidFill>
                <a:latin typeface="Malgun Gothic" pitchFamily="34" charset="0"/>
                <a:ea typeface="Malgun Gothic" pitchFamily="34" charset="-122"/>
                <a:cs typeface="Malgun Gothic" pitchFamily="34" charset="-120"/>
              </a:rPr>
              <a:t>목록에 학습지가 없으면 그 수업에 가입했는지 확인. 제출 권한 오류는 오류 메시지 붙여넣기</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5 · 웹 학습지</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교사 제출현황 표</a:t>
            </a:r>
            <a:endParaRPr lang="en-US" sz="3600" dirty="0"/>
          </a:p>
        </p:txBody>
      </p:sp>
      <p:sp>
        <p:nvSpPr>
          <p:cNvPr id="6" name="Text 3"/>
          <p:cNvSpPr txBox="1"/>
          <p:nvPr/>
        </p:nvSpPr>
        <p:spPr>
          <a:xfrm>
            <a:off x="548640" y="1508760"/>
            <a:ext cx="11064240" cy="137160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교사 화면에 학생별 제출 여부 표를 만든다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학생을 누르면 그 학생의 답안을 본다. 해당 수업 교사만 본다</a:t>
            </a:r>
            <a:endParaRPr lang="en-US" sz="24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11064240" cy="914400"/>
        </p:xfrm>
        <a:graphic>
          <a:graphicData uri="http://schemas.openxmlformats.org/drawingml/2006/table">
            <a:tbl>
              <a:tblPr/>
              <a:tblGrid>
                <a:gridCol w="36576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457200">
                <a:tc>
                  <a:txBody>
                    <a:bodyPr/>
                    <a:lstStyle/>
                    <a:p>
                      <a:pPr marL="0" indent="0" algn="l">
                        <a:buNone/>
                      </a:pPr>
                      <a:r>
                        <a:rPr lang="en-US" sz="1600" b="1" dirty="0">
                          <a:solidFill>
                            <a:srgbClr val="FFFFFF"/>
                          </a:solidFill>
                          <a:latin typeface="Malgun Gothic" pitchFamily="34" charset="0"/>
                          <a:ea typeface="Malgun Gothic" pitchFamily="34" charset="-122"/>
                          <a:cs typeface="Malgun Gothic" pitchFamily="34" charset="-120"/>
                        </a:rPr>
                        <a:t>학생 이름</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356E67"/>
                    </a:solidFill>
                  </a:tcPr>
                </a:tc>
                <a:tc>
                  <a:txBody>
                    <a:bodyPr/>
                    <a:lstStyle/>
                    <a:p>
                      <a:pPr marL="0" indent="0" algn="l">
                        <a:buNone/>
                      </a:pPr>
                      <a:r>
                        <a:rPr lang="en-US" sz="1600" b="1" dirty="0">
                          <a:solidFill>
                            <a:srgbClr val="FFFFFF"/>
                          </a:solidFill>
                          <a:latin typeface="Malgun Gothic" pitchFamily="34" charset="0"/>
                          <a:ea typeface="Malgun Gothic" pitchFamily="34" charset="-122"/>
                          <a:cs typeface="Malgun Gothic" pitchFamily="34" charset="-120"/>
                        </a:rPr>
                        <a:t>제출 여부</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356E67"/>
                    </a:solidFill>
                  </a:tcPr>
                </a:tc>
                <a:tc>
                  <a:txBody>
                    <a:bodyPr/>
                    <a:lstStyle/>
                    <a:p>
                      <a:pPr marL="0" indent="0" algn="l">
                        <a:buNone/>
                      </a:pPr>
                      <a:r>
                        <a:rPr lang="en-US" sz="1600" b="1" dirty="0">
                          <a:solidFill>
                            <a:srgbClr val="FFFFFF"/>
                          </a:solidFill>
                          <a:latin typeface="Malgun Gothic" pitchFamily="34" charset="0"/>
                          <a:ea typeface="Malgun Gothic" pitchFamily="34" charset="-122"/>
                          <a:cs typeface="Malgun Gothic" pitchFamily="34" charset="-120"/>
                        </a:rPr>
                        <a:t>제출 시각</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356E67"/>
                    </a:solidFill>
                  </a:tcPr>
                </a:tc>
                <a:extLst>
                  <a:ext uri="{0D108BD9-81ED-4DB2-BD59-A6C34878D82A}">
                    <a16:rowId xmlns:a16="http://schemas.microsoft.com/office/drawing/2014/main" val="10000"/>
                  </a:ext>
                </a:extLst>
              </a:tr>
              <a:tr h="457200">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테스트 학생 1</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제출</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10:42</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extLst>
                  <a:ext uri="{0D108BD9-81ED-4DB2-BD59-A6C34878D82A}">
                    <a16:rowId xmlns:a16="http://schemas.microsoft.com/office/drawing/2014/main" val="10001"/>
                  </a:ext>
                </a:extLst>
              </a:tr>
              <a:tr h="457200">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테스트 학생 2</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미제출</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extLst>
                  <a:ext uri="{0D108BD9-81ED-4DB2-BD59-A6C34878D82A}">
                    <a16:rowId xmlns:a16="http://schemas.microsoft.com/office/drawing/2014/main" val="10002"/>
                  </a:ext>
                </a:extLst>
              </a:tr>
            </a:tbl>
          </a:graphicData>
        </a:graphic>
      </p:graphicFrame>
      <p:sp>
        <p:nvSpPr>
          <p:cNvPr id="8" name="Text 4"/>
          <p:cNvSpPr txBox="1"/>
          <p:nvPr/>
        </p:nvSpPr>
        <p:spPr>
          <a:xfrm>
            <a:off x="548640" y="4553712"/>
            <a:ext cx="11064240" cy="274320"/>
          </a:xfrm>
          <a:prstGeom prst="rect">
            <a:avLst/>
          </a:prstGeom>
          <a:noFill/>
          <a:ln/>
        </p:spPr>
        <p:txBody>
          <a:bodyPr wrap="square" lIns="0" tIns="0" rIns="0" bIns="0" rtlCol="0" anchor="ctr"/>
          <a:lstStyle/>
          <a:p>
            <a:pPr marL="0" indent="0">
              <a:buNone/>
            </a:pPr>
            <a:r>
              <a:rPr lang="en-US" sz="1400" dirty="0">
                <a:solidFill>
                  <a:srgbClr val="6B5E45"/>
                </a:solidFill>
                <a:latin typeface="Malgun Gothic" pitchFamily="34" charset="0"/>
                <a:ea typeface="Malgun Gothic" pitchFamily="34" charset="-122"/>
                <a:cs typeface="Malgun Gothic" pitchFamily="34" charset="-120"/>
              </a:rPr>
              <a:t>프롬프트 핵심 (전문은 발표자 노트)</a:t>
            </a:r>
            <a:endParaRPr lang="en-US" sz="1400" dirty="0"/>
          </a:p>
        </p:txBody>
      </p:sp>
      <p:sp>
        <p:nvSpPr>
          <p:cNvPr id="9" name="Shape 5"/>
          <p:cNvSpPr/>
          <p:nvPr/>
        </p:nvSpPr>
        <p:spPr>
          <a:xfrm>
            <a:off x="548640" y="4846320"/>
            <a:ext cx="11064240" cy="1417320"/>
          </a:xfrm>
          <a:prstGeom prst="roundRect">
            <a:avLst>
              <a:gd name="adj" fmla="val 6452"/>
            </a:avLst>
          </a:prstGeom>
          <a:solidFill>
            <a:srgbClr val="2A2314"/>
          </a:solidFill>
          <a:ln w="12700">
            <a:solidFill>
              <a:srgbClr val="2A2314"/>
            </a:solidFill>
            <a:prstDash val="solid"/>
          </a:ln>
        </p:spPr>
        <p:txBody>
          <a:bodyPr/>
          <a:lstStyle/>
          <a:p>
            <a:endParaRPr lang="ko-KR" altLang="en-US"/>
          </a:p>
        </p:txBody>
      </p:sp>
      <p:sp>
        <p:nvSpPr>
          <p:cNvPr id="10" name="Text 6"/>
          <p:cNvSpPr txBox="1"/>
          <p:nvPr/>
        </p:nvSpPr>
        <p:spPr>
          <a:xfrm>
            <a:off x="731520" y="4937760"/>
            <a:ext cx="10698480" cy="1234440"/>
          </a:xfrm>
          <a:prstGeom prst="rect">
            <a:avLst/>
          </a:prstGeom>
          <a:noFill/>
          <a:ln/>
        </p:spPr>
        <p:txBody>
          <a:bodyPr wrap="square" lIns="0" tIns="0" rIns="0" bIns="0" rtlCol="0" anchor="t"/>
          <a:lstStyle/>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교사용 "제출현황" 표를 추가해 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가입 학생(members)을 한 줄씩: 이름 / 제출·미제출 / 시각 (이름은 users/{uid}의 name)</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제출 여부는 submissions/{uid} 문서가 있는지로 판단</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학생 줄을 누르면 문항별 답, 선택형은 맞음/틀림 표시 (보기 번호는 1부터)</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학생에게는 보이지 않게</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5 · 웹 학습지</a:t>
            </a:r>
            <a:endParaRPr lang="en-US" sz="1600" dirty="0"/>
          </a:p>
        </p:txBody>
      </p:sp>
      <p:sp>
        <p:nvSpPr>
          <p:cNvPr id="3" name="Text 1"/>
          <p:cNvSpPr/>
          <p:nvPr/>
        </p:nvSpPr>
        <p:spPr>
          <a:xfrm>
            <a:off x="5394960" y="274320"/>
            <a:ext cx="822960" cy="329184"/>
          </a:xfrm>
          <a:prstGeom prst="roundRect">
            <a:avLst>
              <a:gd name="adj" fmla="val 50000"/>
            </a:avLst>
          </a:prstGeom>
          <a:solidFill>
            <a:srgbClr val="356E67"/>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개념</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생각해 보기: 정답이 문항 속에 있으면?</a:t>
            </a:r>
            <a:endParaRPr lang="en-US" sz="3600" dirty="0"/>
          </a:p>
        </p:txBody>
      </p:sp>
      <p:sp>
        <p:nvSpPr>
          <p:cNvPr id="6" name="Text 3"/>
          <p:cNvSpPr txBox="1"/>
          <p:nvPr/>
        </p:nvSpPr>
        <p:spPr>
          <a:xfrm>
            <a:off x="548640" y="1554480"/>
            <a:ext cx="11064240" cy="192024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정답을 questions[]에 같이 저장했다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학생이 문항 문서를 읽으면 정답도 읽을 수 있지 않을까?</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옆 사람과 1분 토론한 뒤 대안을 찾아 본다</a:t>
            </a:r>
            <a:endParaRPr lang="en-US" sz="2400" dirty="0"/>
          </a:p>
        </p:txBody>
      </p:sp>
      <p:sp>
        <p:nvSpPr>
          <p:cNvPr id="7" name="Text 4"/>
          <p:cNvSpPr/>
          <p:nvPr/>
        </p:nvSpPr>
        <p:spPr>
          <a:xfrm>
            <a:off x="548640" y="3794760"/>
            <a:ext cx="3291840" cy="1828800"/>
          </a:xfrm>
          <a:prstGeom prst="roundRect">
            <a:avLst>
              <a:gd name="adj" fmla="val 6000"/>
            </a:avLst>
          </a:prstGeom>
          <a:solidFill>
            <a:srgbClr val="FFFBF0"/>
          </a:solidFill>
          <a:ln w="25400">
            <a:solidFill>
              <a:srgbClr val="2A2314"/>
            </a:solidFill>
          </a:ln>
        </p:spPr>
        <p:txBody>
          <a:bodyPr wrap="square" lIns="76200" tIns="76200" rIns="76200" bIns="76200" rtlCol="0" anchor="ctr"/>
          <a:lstStyle/>
          <a:p>
            <a:pPr marL="0" indent="0" algn="ctr">
              <a:buNone/>
            </a:pPr>
            <a:r>
              <a:rPr lang="en-US" sz="2000" b="1" dirty="0">
                <a:solidFill>
                  <a:srgbClr val="2A2314"/>
                </a:solidFill>
                <a:latin typeface="Malgun Gothic" pitchFamily="34" charset="0"/>
                <a:ea typeface="Malgun Gothic" pitchFamily="34" charset="-122"/>
                <a:cs typeface="Malgun Gothic" pitchFamily="34" charset="-120"/>
              </a:rPr>
              <a:t>문항 문서</a:t>
            </a:r>
            <a:endParaRPr lang="en-US" sz="2000" dirty="0"/>
          </a:p>
          <a:p>
            <a:pPr marL="0" indent="0" algn="ctr">
              <a:buNone/>
            </a:pPr>
            <a:r>
              <a:rPr lang="en-US" sz="2000" b="1" dirty="0">
                <a:solidFill>
                  <a:srgbClr val="2A2314"/>
                </a:solidFill>
                <a:latin typeface="Malgun Gothic" pitchFamily="34" charset="0"/>
                <a:ea typeface="Malgun Gothic" pitchFamily="34" charset="-122"/>
                <a:cs typeface="Malgun Gothic" pitchFamily="34" charset="-120"/>
              </a:rPr>
              <a:t>질문 / 보기 / 정답</a:t>
            </a:r>
            <a:endParaRPr lang="en-US" sz="2000" dirty="0"/>
          </a:p>
        </p:txBody>
      </p:sp>
      <p:sp>
        <p:nvSpPr>
          <p:cNvPr id="8" name="Shape 5"/>
          <p:cNvSpPr/>
          <p:nvPr/>
        </p:nvSpPr>
        <p:spPr>
          <a:xfrm>
            <a:off x="3931920" y="4562856"/>
            <a:ext cx="548640" cy="292608"/>
          </a:xfrm>
          <a:prstGeom prst="rightArrow">
            <a:avLst/>
          </a:prstGeom>
          <a:solidFill>
            <a:srgbClr val="B0402C"/>
          </a:solidFill>
          <a:ln w="12700">
            <a:solidFill>
              <a:srgbClr val="B0402C"/>
            </a:solidFill>
            <a:prstDash val="solid"/>
          </a:ln>
        </p:spPr>
        <p:txBody>
          <a:bodyPr/>
          <a:lstStyle/>
          <a:p>
            <a:endParaRPr lang="ko-KR" altLang="en-US"/>
          </a:p>
        </p:txBody>
      </p:sp>
      <p:sp>
        <p:nvSpPr>
          <p:cNvPr id="9" name="Text 6"/>
          <p:cNvSpPr/>
          <p:nvPr/>
        </p:nvSpPr>
        <p:spPr>
          <a:xfrm>
            <a:off x="4663440" y="4069080"/>
            <a:ext cx="2560320" cy="1280160"/>
          </a:xfrm>
          <a:prstGeom prst="roundRect">
            <a:avLst>
              <a:gd name="adj" fmla="val 8571"/>
            </a:avLst>
          </a:prstGeom>
          <a:solidFill>
            <a:srgbClr val="F3DDD6"/>
          </a:solidFill>
          <a:ln w="25400">
            <a:solidFill>
              <a:srgbClr val="B0402C"/>
            </a:solidFill>
          </a:ln>
        </p:spPr>
        <p:txBody>
          <a:bodyPr wrap="square" lIns="76200" tIns="76200" rIns="76200" bIns="76200" rtlCol="0" anchor="ctr"/>
          <a:lstStyle/>
          <a:p>
            <a:pPr marL="0" indent="0" algn="ctr">
              <a:buNone/>
            </a:pPr>
            <a:r>
              <a:rPr lang="en-US" sz="1800" dirty="0">
                <a:solidFill>
                  <a:srgbClr val="2A2314"/>
                </a:solidFill>
                <a:latin typeface="Malgun Gothic" pitchFamily="34" charset="0"/>
                <a:ea typeface="Malgun Gothic" pitchFamily="34" charset="-122"/>
                <a:cs typeface="Malgun Gothic" pitchFamily="34" charset="-120"/>
              </a:rPr>
              <a:t>학생이 열면</a:t>
            </a:r>
            <a:endParaRPr lang="en-US" sz="1800" dirty="0"/>
          </a:p>
          <a:p>
            <a:pPr marL="0" indent="0" algn="ctr">
              <a:buNone/>
            </a:pPr>
            <a:r>
              <a:rPr lang="en-US" sz="1800" dirty="0">
                <a:solidFill>
                  <a:srgbClr val="2A2314"/>
                </a:solidFill>
                <a:latin typeface="Malgun Gothic" pitchFamily="34" charset="0"/>
                <a:ea typeface="Malgun Gothic" pitchFamily="34" charset="-122"/>
                <a:cs typeface="Malgun Gothic" pitchFamily="34" charset="-120"/>
              </a:rPr>
              <a:t>정답 줄까지 보임</a:t>
            </a:r>
            <a:endParaRPr lang="en-US" sz="1800" dirty="0"/>
          </a:p>
        </p:txBody>
      </p:sp>
      <p:sp>
        <p:nvSpPr>
          <p:cNvPr id="10" name="Text 7"/>
          <p:cNvSpPr/>
          <p:nvPr/>
        </p:nvSpPr>
        <p:spPr>
          <a:xfrm>
            <a:off x="7589520" y="3749040"/>
            <a:ext cx="4023360" cy="868680"/>
          </a:xfrm>
          <a:prstGeom prst="roundRect">
            <a:avLst>
              <a:gd name="adj" fmla="val 12632"/>
            </a:avLst>
          </a:prstGeom>
          <a:solidFill>
            <a:srgbClr val="DCE9E5"/>
          </a:solidFill>
          <a:ln w="25400">
            <a:solidFill>
              <a:srgbClr val="356E67"/>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대안 ① 정답 없이 서술형 중심으로 운영</a:t>
            </a:r>
            <a:endParaRPr lang="en-US" sz="1600" dirty="0"/>
          </a:p>
        </p:txBody>
      </p:sp>
      <p:sp>
        <p:nvSpPr>
          <p:cNvPr id="11" name="Text 8"/>
          <p:cNvSpPr/>
          <p:nvPr/>
        </p:nvSpPr>
        <p:spPr>
          <a:xfrm>
            <a:off x="7589520" y="4754880"/>
            <a:ext cx="4023360" cy="868680"/>
          </a:xfrm>
          <a:prstGeom prst="roundRect">
            <a:avLst>
              <a:gd name="adj" fmla="val 12632"/>
            </a:avLst>
          </a:prstGeom>
          <a:solidFill>
            <a:srgbClr val="DCE9E5"/>
          </a:solidFill>
          <a:ln w="25400">
            <a:solidFill>
              <a:srgbClr val="356E67"/>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대안 ② 정답을 교사만 읽는 별도 문서로 분리 (심화)</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5 · 웹 학습지</a:t>
            </a:r>
            <a:endParaRPr lang="en-US" sz="1600" dirty="0"/>
          </a:p>
        </p:txBody>
      </p:sp>
      <p:sp>
        <p:nvSpPr>
          <p:cNvPr id="3" name="Text 1"/>
          <p:cNvSpPr/>
          <p:nvPr/>
        </p:nvSpPr>
        <p:spPr>
          <a:xfrm>
            <a:off x="5394960" y="274320"/>
            <a:ext cx="822960" cy="329184"/>
          </a:xfrm>
          <a:prstGeom prst="roundRect">
            <a:avLst>
              <a:gd name="adj" fmla="val 50000"/>
            </a:avLst>
          </a:prstGeom>
          <a:solidFill>
            <a:srgbClr val="6B5E45"/>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정리</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막힘 모음과 복구 지점</a:t>
            </a:r>
            <a:endParaRPr lang="en-US" sz="3600" dirty="0"/>
          </a:p>
        </p:txBody>
      </p:sp>
      <p:sp>
        <p:nvSpPr>
          <p:cNvPr id="6" name="Text 3"/>
          <p:cNvSpPr txBox="1"/>
          <p:nvPr/>
        </p:nvSpPr>
        <p:spPr>
          <a:xfrm>
            <a:off x="548640" y="1508760"/>
            <a:ext cx="11064240" cy="128016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모듈 5 완성: 작성 → 제출 → 제출현황</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막히면 오류 메시지를 그대로 Claude Code에 붙여넣는다</a:t>
            </a:r>
            <a:endParaRPr lang="en-US" sz="2400" dirty="0"/>
          </a:p>
        </p:txBody>
      </p:sp>
      <p:sp>
        <p:nvSpPr>
          <p:cNvPr id="7" name="Text 4"/>
          <p:cNvSpPr/>
          <p:nvPr/>
        </p:nvSpPr>
        <p:spPr>
          <a:xfrm>
            <a:off x="548640" y="3017520"/>
            <a:ext cx="3566160" cy="1828800"/>
          </a:xfrm>
          <a:prstGeom prst="roundRect">
            <a:avLst>
              <a:gd name="adj" fmla="val 6000"/>
            </a:avLst>
          </a:prstGeom>
          <a:solidFill>
            <a:srgbClr val="FFFBF0"/>
          </a:solidFill>
          <a:ln w="25400">
            <a:solidFill>
              <a:srgbClr val="356E67"/>
            </a:solidFill>
          </a:ln>
        </p:spPr>
        <p:txBody>
          <a:bodyPr wrap="square" lIns="76200" tIns="76200" rIns="76200" bIns="76200" rtlCol="0" anchor="ctr"/>
          <a:lstStyle/>
          <a:p>
            <a:pPr marL="0" indent="0" algn="ctr">
              <a:buNone/>
            </a:pPr>
            <a:endParaRPr lang="en-US" sz="1800" dirty="0"/>
          </a:p>
        </p:txBody>
      </p:sp>
      <p:sp>
        <p:nvSpPr>
          <p:cNvPr id="8" name="Shape 5"/>
          <p:cNvSpPr/>
          <p:nvPr/>
        </p:nvSpPr>
        <p:spPr>
          <a:xfrm>
            <a:off x="731520" y="3200400"/>
            <a:ext cx="292608" cy="292608"/>
          </a:xfrm>
          <a:prstGeom prst="rect">
            <a:avLst/>
          </a:prstGeom>
          <a:solidFill>
            <a:srgbClr val="FFFBF0"/>
          </a:solidFill>
          <a:ln w="25400">
            <a:solidFill>
              <a:srgbClr val="B0402C"/>
            </a:solidFill>
            <a:prstDash val="solid"/>
          </a:ln>
        </p:spPr>
        <p:txBody>
          <a:bodyPr/>
          <a:lstStyle/>
          <a:p>
            <a:endParaRPr lang="ko-KR" altLang="en-US"/>
          </a:p>
        </p:txBody>
      </p:sp>
      <p:sp>
        <p:nvSpPr>
          <p:cNvPr id="9" name="Text 6"/>
          <p:cNvSpPr txBox="1"/>
          <p:nvPr/>
        </p:nvSpPr>
        <p:spPr>
          <a:xfrm>
            <a:off x="1143000" y="3108960"/>
            <a:ext cx="2834640" cy="457200"/>
          </a:xfrm>
          <a:prstGeom prst="rect">
            <a:avLst/>
          </a:prstGeom>
          <a:noFill/>
          <a:ln/>
        </p:spPr>
        <p:txBody>
          <a:bodyPr wrap="square" lIns="0" tIns="0" rIns="0" bIns="0" rtlCol="0" anchor="ctr"/>
          <a:lstStyle/>
          <a:p>
            <a:pPr marL="0" indent="0">
              <a:buNone/>
            </a:pPr>
            <a:r>
              <a:rPr lang="en-US" sz="2000" b="1" dirty="0">
                <a:solidFill>
                  <a:srgbClr val="2A2314"/>
                </a:solidFill>
                <a:latin typeface="Malgun Gothic" pitchFamily="34" charset="0"/>
                <a:ea typeface="Malgun Gothic" pitchFamily="34" charset="-122"/>
                <a:cs typeface="Malgun Gothic" pitchFamily="34" charset="-120"/>
              </a:rPr>
              <a:t>교사 학습지 작성</a:t>
            </a:r>
            <a:endParaRPr lang="en-US" sz="2000" dirty="0"/>
          </a:p>
        </p:txBody>
      </p:sp>
      <p:sp>
        <p:nvSpPr>
          <p:cNvPr id="10" name="Text 7"/>
          <p:cNvSpPr txBox="1"/>
          <p:nvPr/>
        </p:nvSpPr>
        <p:spPr>
          <a:xfrm>
            <a:off x="731520" y="3749040"/>
            <a:ext cx="3200400" cy="914400"/>
          </a:xfrm>
          <a:prstGeom prst="rect">
            <a:avLst/>
          </a:prstGeom>
          <a:noFill/>
          <a:ln/>
        </p:spPr>
        <p:txBody>
          <a:bodyPr wrap="square" lIns="0" tIns="0" rIns="0" bIns="0" rtlCol="0" anchor="t"/>
          <a:lstStyle/>
          <a:p>
            <a:pPr marL="0" indent="0">
              <a:buNone/>
            </a:pPr>
            <a:r>
              <a:rPr lang="en-US" sz="1600" dirty="0">
                <a:solidFill>
                  <a:srgbClr val="2A2314"/>
                </a:solidFill>
                <a:latin typeface="Malgun Gothic" pitchFamily="34" charset="0"/>
                <a:ea typeface="Malgun Gothic" pitchFamily="34" charset="-122"/>
                <a:cs typeface="Malgun Gothic" pitchFamily="34" charset="-120"/>
              </a:rPr>
              <a:t>콘솔에서 worksheets 문서 생성 확인</a:t>
            </a:r>
            <a:endParaRPr lang="en-US" sz="1600" dirty="0"/>
          </a:p>
        </p:txBody>
      </p:sp>
      <p:sp>
        <p:nvSpPr>
          <p:cNvPr id="11" name="Text 8"/>
          <p:cNvSpPr/>
          <p:nvPr/>
        </p:nvSpPr>
        <p:spPr>
          <a:xfrm>
            <a:off x="4297680" y="3017520"/>
            <a:ext cx="3566160" cy="1828800"/>
          </a:xfrm>
          <a:prstGeom prst="roundRect">
            <a:avLst>
              <a:gd name="adj" fmla="val 6000"/>
            </a:avLst>
          </a:prstGeom>
          <a:solidFill>
            <a:srgbClr val="FFFBF0"/>
          </a:solidFill>
          <a:ln w="25400">
            <a:solidFill>
              <a:srgbClr val="356E67"/>
            </a:solidFill>
          </a:ln>
        </p:spPr>
        <p:txBody>
          <a:bodyPr wrap="square" lIns="76200" tIns="76200" rIns="76200" bIns="76200" rtlCol="0" anchor="ctr"/>
          <a:lstStyle/>
          <a:p>
            <a:pPr marL="0" indent="0" algn="ctr">
              <a:buNone/>
            </a:pPr>
            <a:endParaRPr lang="en-US" sz="1800" dirty="0"/>
          </a:p>
        </p:txBody>
      </p:sp>
      <p:sp>
        <p:nvSpPr>
          <p:cNvPr id="12" name="Shape 9"/>
          <p:cNvSpPr/>
          <p:nvPr/>
        </p:nvSpPr>
        <p:spPr>
          <a:xfrm>
            <a:off x="4480560" y="3200400"/>
            <a:ext cx="292608" cy="292608"/>
          </a:xfrm>
          <a:prstGeom prst="rect">
            <a:avLst/>
          </a:prstGeom>
          <a:solidFill>
            <a:srgbClr val="FFFBF0"/>
          </a:solidFill>
          <a:ln w="25400">
            <a:solidFill>
              <a:srgbClr val="B0402C"/>
            </a:solidFill>
            <a:prstDash val="solid"/>
          </a:ln>
        </p:spPr>
        <p:txBody>
          <a:bodyPr/>
          <a:lstStyle/>
          <a:p>
            <a:endParaRPr lang="ko-KR" altLang="en-US"/>
          </a:p>
        </p:txBody>
      </p:sp>
      <p:sp>
        <p:nvSpPr>
          <p:cNvPr id="13" name="Text 10"/>
          <p:cNvSpPr txBox="1"/>
          <p:nvPr/>
        </p:nvSpPr>
        <p:spPr>
          <a:xfrm>
            <a:off x="4892040" y="3108960"/>
            <a:ext cx="2834640" cy="457200"/>
          </a:xfrm>
          <a:prstGeom prst="rect">
            <a:avLst/>
          </a:prstGeom>
          <a:noFill/>
          <a:ln/>
        </p:spPr>
        <p:txBody>
          <a:bodyPr wrap="square" lIns="0" tIns="0" rIns="0" bIns="0" rtlCol="0" anchor="ctr"/>
          <a:lstStyle/>
          <a:p>
            <a:pPr marL="0" indent="0">
              <a:buNone/>
            </a:pPr>
            <a:r>
              <a:rPr lang="en-US" sz="2000" b="1" dirty="0">
                <a:solidFill>
                  <a:srgbClr val="2A2314"/>
                </a:solidFill>
                <a:latin typeface="Malgun Gothic" pitchFamily="34" charset="0"/>
                <a:ea typeface="Malgun Gothic" pitchFamily="34" charset="-122"/>
                <a:cs typeface="Malgun Gothic" pitchFamily="34" charset="-120"/>
              </a:rPr>
              <a:t>학생 제출</a:t>
            </a:r>
            <a:endParaRPr lang="en-US" sz="2000" dirty="0"/>
          </a:p>
        </p:txBody>
      </p:sp>
      <p:sp>
        <p:nvSpPr>
          <p:cNvPr id="14" name="Text 11"/>
          <p:cNvSpPr txBox="1"/>
          <p:nvPr/>
        </p:nvSpPr>
        <p:spPr>
          <a:xfrm>
            <a:off x="4480560" y="3749040"/>
            <a:ext cx="3200400" cy="914400"/>
          </a:xfrm>
          <a:prstGeom prst="rect">
            <a:avLst/>
          </a:prstGeom>
          <a:noFill/>
          <a:ln/>
        </p:spPr>
        <p:txBody>
          <a:bodyPr wrap="square" lIns="0" tIns="0" rIns="0" bIns="0" rtlCol="0" anchor="t"/>
          <a:lstStyle/>
          <a:p>
            <a:pPr marL="0" indent="0">
              <a:buNone/>
            </a:pPr>
            <a:r>
              <a:rPr lang="en-US" sz="1600" dirty="0">
                <a:solidFill>
                  <a:srgbClr val="2A2314"/>
                </a:solidFill>
                <a:latin typeface="Malgun Gothic" pitchFamily="34" charset="0"/>
                <a:ea typeface="Malgun Gothic" pitchFamily="34" charset="-122"/>
                <a:cs typeface="Malgun Gothic" pitchFamily="34" charset="-120"/>
              </a:rPr>
              <a:t>콘솔에서 submissions/{내 uid} 문서 확인</a:t>
            </a:r>
            <a:endParaRPr lang="en-US" sz="1600" dirty="0"/>
          </a:p>
        </p:txBody>
      </p:sp>
      <p:sp>
        <p:nvSpPr>
          <p:cNvPr id="15" name="Text 12"/>
          <p:cNvSpPr/>
          <p:nvPr/>
        </p:nvSpPr>
        <p:spPr>
          <a:xfrm>
            <a:off x="8046720" y="3017520"/>
            <a:ext cx="3566160" cy="1828800"/>
          </a:xfrm>
          <a:prstGeom prst="roundRect">
            <a:avLst>
              <a:gd name="adj" fmla="val 6000"/>
            </a:avLst>
          </a:prstGeom>
          <a:solidFill>
            <a:srgbClr val="FFFBF0"/>
          </a:solidFill>
          <a:ln w="25400">
            <a:solidFill>
              <a:srgbClr val="356E67"/>
            </a:solidFill>
          </a:ln>
        </p:spPr>
        <p:txBody>
          <a:bodyPr wrap="square" lIns="76200" tIns="76200" rIns="76200" bIns="76200" rtlCol="0" anchor="ctr"/>
          <a:lstStyle/>
          <a:p>
            <a:pPr marL="0" indent="0" algn="ctr">
              <a:buNone/>
            </a:pPr>
            <a:endParaRPr lang="en-US" sz="1800" dirty="0"/>
          </a:p>
        </p:txBody>
      </p:sp>
      <p:sp>
        <p:nvSpPr>
          <p:cNvPr id="16" name="Shape 13"/>
          <p:cNvSpPr/>
          <p:nvPr/>
        </p:nvSpPr>
        <p:spPr>
          <a:xfrm>
            <a:off x="8229600" y="3200400"/>
            <a:ext cx="292608" cy="292608"/>
          </a:xfrm>
          <a:prstGeom prst="rect">
            <a:avLst/>
          </a:prstGeom>
          <a:solidFill>
            <a:srgbClr val="FFFBF0"/>
          </a:solidFill>
          <a:ln w="25400">
            <a:solidFill>
              <a:srgbClr val="B0402C"/>
            </a:solidFill>
            <a:prstDash val="solid"/>
          </a:ln>
        </p:spPr>
        <p:txBody>
          <a:bodyPr/>
          <a:lstStyle/>
          <a:p>
            <a:endParaRPr lang="ko-KR" altLang="en-US"/>
          </a:p>
        </p:txBody>
      </p:sp>
      <p:sp>
        <p:nvSpPr>
          <p:cNvPr id="17" name="Text 14"/>
          <p:cNvSpPr txBox="1"/>
          <p:nvPr/>
        </p:nvSpPr>
        <p:spPr>
          <a:xfrm>
            <a:off x="8641080" y="3108960"/>
            <a:ext cx="2834640" cy="457200"/>
          </a:xfrm>
          <a:prstGeom prst="rect">
            <a:avLst/>
          </a:prstGeom>
          <a:noFill/>
          <a:ln/>
        </p:spPr>
        <p:txBody>
          <a:bodyPr wrap="square" lIns="0" tIns="0" rIns="0" bIns="0" rtlCol="0" anchor="ctr"/>
          <a:lstStyle/>
          <a:p>
            <a:pPr marL="0" indent="0">
              <a:buNone/>
            </a:pPr>
            <a:r>
              <a:rPr lang="en-US" sz="2000" b="1" dirty="0">
                <a:solidFill>
                  <a:srgbClr val="2A2314"/>
                </a:solidFill>
                <a:latin typeface="Malgun Gothic" pitchFamily="34" charset="0"/>
                <a:ea typeface="Malgun Gothic" pitchFamily="34" charset="-122"/>
                <a:cs typeface="Malgun Gothic" pitchFamily="34" charset="-120"/>
              </a:rPr>
              <a:t>교사 제출현황</a:t>
            </a:r>
            <a:endParaRPr lang="en-US" sz="2000" dirty="0"/>
          </a:p>
        </p:txBody>
      </p:sp>
      <p:sp>
        <p:nvSpPr>
          <p:cNvPr id="18" name="Text 15"/>
          <p:cNvSpPr txBox="1"/>
          <p:nvPr/>
        </p:nvSpPr>
        <p:spPr>
          <a:xfrm>
            <a:off x="8229600" y="3749040"/>
            <a:ext cx="3200400" cy="914400"/>
          </a:xfrm>
          <a:prstGeom prst="rect">
            <a:avLst/>
          </a:prstGeom>
          <a:noFill/>
          <a:ln/>
        </p:spPr>
        <p:txBody>
          <a:bodyPr wrap="square" lIns="0" tIns="0" rIns="0" bIns="0" rtlCol="0" anchor="t"/>
          <a:lstStyle/>
          <a:p>
            <a:pPr marL="0" indent="0">
              <a:buNone/>
            </a:pPr>
            <a:r>
              <a:rPr lang="en-US" sz="1600" dirty="0">
                <a:solidFill>
                  <a:srgbClr val="2A2314"/>
                </a:solidFill>
                <a:latin typeface="Malgun Gothic" pitchFamily="34" charset="0"/>
                <a:ea typeface="Malgun Gothic" pitchFamily="34" charset="-122"/>
                <a:cs typeface="Malgun Gothic" pitchFamily="34" charset="-120"/>
              </a:rPr>
              <a:t>제출한 학생이 "제출"로 보이는지</a:t>
            </a:r>
            <a:endParaRPr lang="en-US" sz="1600" dirty="0"/>
          </a:p>
        </p:txBody>
      </p:sp>
      <p:sp>
        <p:nvSpPr>
          <p:cNvPr id="19" name="Text 16"/>
          <p:cNvSpPr txBox="1"/>
          <p:nvPr/>
        </p:nvSpPr>
        <p:spPr>
          <a:xfrm>
            <a:off x="548640" y="5074920"/>
            <a:ext cx="11064240" cy="457200"/>
          </a:xfrm>
          <a:prstGeom prst="rect">
            <a:avLst/>
          </a:prstGeom>
          <a:noFill/>
          <a:ln/>
        </p:spPr>
        <p:txBody>
          <a:bodyPr wrap="square" lIns="0" tIns="0" rIns="0" bIns="0" rtlCol="0" anchor="ctr"/>
          <a:lstStyle/>
          <a:p>
            <a:pPr marL="0" indent="0">
              <a:buNone/>
            </a:pPr>
            <a:r>
              <a:rPr lang="en-US" sz="1800" b="1" dirty="0">
                <a:solidFill>
                  <a:srgbClr val="B0402C"/>
                </a:solidFill>
                <a:latin typeface="Malgun Gothic" pitchFamily="34" charset="0"/>
                <a:ea typeface="Malgun Gothic" pitchFamily="34" charset="-122"/>
                <a:cs typeface="Malgun Gothic" pitchFamily="34" charset="-120"/>
              </a:rPr>
              <a:t>정답 비교가 모두 틀림 → 콘솔에서 answer가 0부터 센 숫자인지 확인</a:t>
            </a:r>
            <a:endParaRPr lang="en-US" sz="1800" dirty="0"/>
          </a:p>
        </p:txBody>
      </p:sp>
      <p:sp>
        <p:nvSpPr>
          <p:cNvPr id="20" name="Text 17"/>
          <p:cNvSpPr txBox="1"/>
          <p:nvPr/>
        </p:nvSpPr>
        <p:spPr>
          <a:xfrm>
            <a:off x="548640" y="5715000"/>
            <a:ext cx="1828800" cy="457200"/>
          </a:xfrm>
          <a:prstGeom prst="rect">
            <a:avLst/>
          </a:prstGeom>
          <a:noFill/>
          <a:ln/>
        </p:spPr>
        <p:txBody>
          <a:bodyPr wrap="square" lIns="0" tIns="0" rIns="0" bIns="0" rtlCol="0" anchor="ctr"/>
          <a:lstStyle/>
          <a:p>
            <a:pPr marL="0" indent="0">
              <a:buNone/>
            </a:pPr>
            <a:r>
              <a:rPr lang="en-US" sz="1800" dirty="0">
                <a:solidFill>
                  <a:srgbClr val="2A2314"/>
                </a:solidFill>
                <a:latin typeface="Malgun Gothic" pitchFamily="34" charset="0"/>
                <a:ea typeface="Malgun Gothic" pitchFamily="34" charset="-122"/>
                <a:cs typeface="Malgun Gothic" pitchFamily="34" charset="-120"/>
              </a:rPr>
              <a:t>그래도 막히면</a:t>
            </a:r>
            <a:endParaRPr lang="en-US" sz="1800" dirty="0"/>
          </a:p>
        </p:txBody>
      </p:sp>
      <p:sp>
        <p:nvSpPr>
          <p:cNvPr id="21" name="Text 18"/>
          <p:cNvSpPr/>
          <p:nvPr/>
        </p:nvSpPr>
        <p:spPr>
          <a:xfrm>
            <a:off x="2377440" y="5715000"/>
            <a:ext cx="2926080" cy="502920"/>
          </a:xfrm>
          <a:prstGeom prst="roundRect">
            <a:avLst>
              <a:gd name="adj" fmla="val 14545"/>
            </a:avLst>
          </a:prstGeom>
          <a:solidFill>
            <a:srgbClr val="FFF1CC"/>
          </a:solidFill>
          <a:ln w="19050">
            <a:solidFill>
              <a:srgbClr val="C9A24A"/>
            </a:solidFill>
          </a:ln>
        </p:spPr>
        <p:txBody>
          <a:bodyPr wrap="square" lIns="25400" tIns="25400" rIns="25400" bIns="25400" rtlCol="0" anchor="ctr"/>
          <a:lstStyle/>
          <a:p>
            <a:pPr marL="0" indent="0" algn="ctr">
              <a:buNone/>
            </a:pPr>
            <a:r>
              <a:rPr lang="en-US" sz="1600" b="1" dirty="0">
                <a:solidFill>
                  <a:srgbClr val="2A2314"/>
                </a:solidFill>
                <a:latin typeface="Consolas" pitchFamily="34" charset="0"/>
                <a:ea typeface="Consolas" pitchFamily="34" charset="-122"/>
                <a:cs typeface="Consolas" pitchFamily="34" charset="-120"/>
              </a:rPr>
              <a:t>checkpoint-m5</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6 · 개인별 맞춤 피드백</a:t>
            </a:r>
            <a:endParaRPr lang="en-US" sz="1600" dirty="0"/>
          </a:p>
        </p:txBody>
      </p:sp>
      <p:sp>
        <p:nvSpPr>
          <p:cNvPr id="3" name="Text 1"/>
          <p:cNvSpPr/>
          <p:nvPr/>
        </p:nvSpPr>
        <p:spPr>
          <a:xfrm>
            <a:off x="5394960" y="274320"/>
            <a:ext cx="822960" cy="329184"/>
          </a:xfrm>
          <a:prstGeom prst="roundRect">
            <a:avLst>
              <a:gd name="adj" fmla="val 50000"/>
            </a:avLst>
          </a:prstGeom>
          <a:solidFill>
            <a:srgbClr val="356E67"/>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개념</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맞춤 피드백, 세 단계로 만든다</a:t>
            </a:r>
            <a:endParaRPr lang="en-US" sz="3600" dirty="0"/>
          </a:p>
        </p:txBody>
      </p:sp>
      <p:sp>
        <p:nvSpPr>
          <p:cNvPr id="6" name="Text 3"/>
          <p:cNvSpPr txBox="1"/>
          <p:nvPr/>
        </p:nvSpPr>
        <p:spPr>
          <a:xfrm>
            <a:off x="548640" y="1554480"/>
            <a:ext cx="11064240" cy="192024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답안 읽기 → 초안 만들기 → 교사가 검토해 전달</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초안은 보조교사가, 최종 책임은 교사가</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학생에게는 교사가 저장한 피드백만 보인다</a:t>
            </a:r>
            <a:endParaRPr lang="en-US" sz="2400" dirty="0"/>
          </a:p>
        </p:txBody>
      </p:sp>
      <p:sp>
        <p:nvSpPr>
          <p:cNvPr id="7" name="Text 4"/>
          <p:cNvSpPr/>
          <p:nvPr/>
        </p:nvSpPr>
        <p:spPr>
          <a:xfrm>
            <a:off x="548640" y="3749040"/>
            <a:ext cx="3261360" cy="1737360"/>
          </a:xfrm>
          <a:prstGeom prst="roundRect">
            <a:avLst>
              <a:gd name="adj" fmla="val 6316"/>
            </a:avLst>
          </a:prstGeom>
          <a:solidFill>
            <a:srgbClr val="DCE9E5"/>
          </a:solidFill>
          <a:ln w="25400">
            <a:solidFill>
              <a:srgbClr val="356E67"/>
            </a:solidFill>
          </a:ln>
        </p:spPr>
        <p:txBody>
          <a:bodyPr wrap="square" lIns="76200" tIns="76200" rIns="76200" bIns="76200" rtlCol="0" anchor="ctr"/>
          <a:lstStyle/>
          <a:p>
            <a:pPr marL="0" indent="0" algn="ctr">
              <a:buNone/>
            </a:pPr>
            <a:r>
              <a:rPr lang="en-US" sz="2000" dirty="0">
                <a:solidFill>
                  <a:srgbClr val="2A2314"/>
                </a:solidFill>
                <a:latin typeface="Malgun Gothic" pitchFamily="34" charset="0"/>
                <a:ea typeface="Malgun Gothic" pitchFamily="34" charset="-122"/>
                <a:cs typeface="Malgun Gothic" pitchFamily="34" charset="-120"/>
              </a:rPr>
              <a:t>1 답안 읽기</a:t>
            </a:r>
            <a:endParaRPr lang="en-US" sz="2000" dirty="0"/>
          </a:p>
          <a:p>
            <a:pPr marL="0" indent="0" algn="ctr">
              <a:buNone/>
            </a:pPr>
            <a:r>
              <a:rPr lang="en-US" sz="2000" dirty="0">
                <a:solidFill>
                  <a:srgbClr val="2A2314"/>
                </a:solidFill>
                <a:latin typeface="Malgun Gothic" pitchFamily="34" charset="0"/>
                <a:ea typeface="Malgun Gothic" pitchFamily="34" charset="-122"/>
                <a:cs typeface="Malgun Gothic" pitchFamily="34" charset="-120"/>
              </a:rPr>
              <a:t>(학생 답안지</a:t>
            </a:r>
            <a:endParaRPr lang="en-US" sz="2000" dirty="0"/>
          </a:p>
          <a:p>
            <a:pPr marL="0" indent="0" algn="ctr">
              <a:buNone/>
            </a:pPr>
            <a:r>
              <a:rPr lang="en-US" sz="2000" dirty="0">
                <a:solidFill>
                  <a:srgbClr val="2A2314"/>
                </a:solidFill>
                <a:latin typeface="Malgun Gothic" pitchFamily="34" charset="0"/>
                <a:ea typeface="Malgun Gothic" pitchFamily="34" charset="-122"/>
                <a:cs typeface="Malgun Gothic" pitchFamily="34" charset="-120"/>
              </a:rPr>
              <a:t>submissions/{uid})</a:t>
            </a:r>
            <a:endParaRPr lang="en-US" sz="2000" dirty="0"/>
          </a:p>
        </p:txBody>
      </p:sp>
      <p:sp>
        <p:nvSpPr>
          <p:cNvPr id="8" name="Shape 5"/>
          <p:cNvSpPr/>
          <p:nvPr/>
        </p:nvSpPr>
        <p:spPr>
          <a:xfrm>
            <a:off x="3992880" y="447141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9" name="Text 6"/>
          <p:cNvSpPr/>
          <p:nvPr/>
        </p:nvSpPr>
        <p:spPr>
          <a:xfrm>
            <a:off x="4450080" y="3749040"/>
            <a:ext cx="3261360" cy="1737360"/>
          </a:xfrm>
          <a:prstGeom prst="roundRect">
            <a:avLst>
              <a:gd name="adj" fmla="val 6316"/>
            </a:avLst>
          </a:prstGeom>
          <a:solidFill>
            <a:srgbClr val="DCE9E5"/>
          </a:solidFill>
          <a:ln w="25400">
            <a:solidFill>
              <a:srgbClr val="356E67"/>
            </a:solidFill>
          </a:ln>
        </p:spPr>
        <p:txBody>
          <a:bodyPr wrap="square" lIns="76200" tIns="76200" rIns="76200" bIns="76200" rtlCol="0" anchor="ctr"/>
          <a:lstStyle/>
          <a:p>
            <a:pPr marL="0" indent="0" algn="ctr">
              <a:buNone/>
            </a:pPr>
            <a:r>
              <a:rPr lang="en-US" sz="2000" dirty="0">
                <a:solidFill>
                  <a:srgbClr val="2A2314"/>
                </a:solidFill>
                <a:latin typeface="Malgun Gothic" pitchFamily="34" charset="0"/>
                <a:ea typeface="Malgun Gothic" pitchFamily="34" charset="-122"/>
                <a:cs typeface="Malgun Gothic" pitchFamily="34" charset="-120"/>
              </a:rPr>
              <a:t>2 초안 만들기</a:t>
            </a:r>
            <a:endParaRPr lang="en-US" sz="2000" dirty="0"/>
          </a:p>
          <a:p>
            <a:pPr marL="0" indent="0" algn="ctr">
              <a:buNone/>
            </a:pPr>
            <a:r>
              <a:rPr lang="en-US" sz="2000" dirty="0">
                <a:solidFill>
                  <a:srgbClr val="2A2314"/>
                </a:solidFill>
                <a:latin typeface="Malgun Gothic" pitchFamily="34" charset="0"/>
                <a:ea typeface="Malgun Gothic" pitchFamily="34" charset="-122"/>
                <a:cs typeface="Malgun Gothic" pitchFamily="34" charset="-120"/>
              </a:rPr>
              <a:t>(정답 비교 +</a:t>
            </a:r>
            <a:endParaRPr lang="en-US" sz="2000" dirty="0"/>
          </a:p>
          <a:p>
            <a:pPr marL="0" indent="0" algn="ctr">
              <a:buNone/>
            </a:pPr>
            <a:r>
              <a:rPr lang="en-US" sz="2000" dirty="0">
                <a:solidFill>
                  <a:srgbClr val="2A2314"/>
                </a:solidFill>
                <a:latin typeface="Malgun Gothic" pitchFamily="34" charset="0"/>
                <a:ea typeface="Malgun Gothic" pitchFamily="34" charset="-122"/>
                <a:cs typeface="Malgun Gothic" pitchFamily="34" charset="-120"/>
              </a:rPr>
              <a:t>안내 문구)</a:t>
            </a:r>
            <a:endParaRPr lang="en-US" sz="2000" dirty="0"/>
          </a:p>
        </p:txBody>
      </p:sp>
      <p:sp>
        <p:nvSpPr>
          <p:cNvPr id="10" name="Shape 7"/>
          <p:cNvSpPr/>
          <p:nvPr/>
        </p:nvSpPr>
        <p:spPr>
          <a:xfrm>
            <a:off x="7894320" y="447141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1" name="Text 8"/>
          <p:cNvSpPr/>
          <p:nvPr/>
        </p:nvSpPr>
        <p:spPr>
          <a:xfrm>
            <a:off x="8351520" y="3749040"/>
            <a:ext cx="3261360" cy="1737360"/>
          </a:xfrm>
          <a:prstGeom prst="roundRect">
            <a:avLst>
              <a:gd name="adj" fmla="val 6316"/>
            </a:avLst>
          </a:prstGeom>
          <a:solidFill>
            <a:srgbClr val="F3DDD6"/>
          </a:solidFill>
          <a:ln w="25400">
            <a:solidFill>
              <a:srgbClr val="B0402C"/>
            </a:solidFill>
          </a:ln>
        </p:spPr>
        <p:txBody>
          <a:bodyPr wrap="square" lIns="76200" tIns="76200" rIns="76200" bIns="76200" rtlCol="0" anchor="ctr"/>
          <a:lstStyle/>
          <a:p>
            <a:pPr marL="0" indent="0" algn="ctr">
              <a:buNone/>
            </a:pPr>
            <a:r>
              <a:rPr lang="en-US" sz="2000" b="1" dirty="0">
                <a:solidFill>
                  <a:srgbClr val="2A2314"/>
                </a:solidFill>
                <a:latin typeface="Malgun Gothic" pitchFamily="34" charset="0"/>
                <a:ea typeface="Malgun Gothic" pitchFamily="34" charset="-122"/>
                <a:cs typeface="Malgun Gothic" pitchFamily="34" charset="-120"/>
              </a:rPr>
              <a:t>3 교사 검토·수정 후 저장</a:t>
            </a:r>
            <a:endParaRPr lang="en-US" sz="2000" dirty="0"/>
          </a:p>
          <a:p>
            <a:pPr marL="0" indent="0" algn="ctr">
              <a:buNone/>
            </a:pPr>
            <a:r>
              <a:rPr lang="en-US" sz="2000" b="1" dirty="0">
                <a:solidFill>
                  <a:srgbClr val="2A2314"/>
                </a:solidFill>
                <a:latin typeface="Malgun Gothic" pitchFamily="34" charset="0"/>
                <a:ea typeface="Malgun Gothic" pitchFamily="34" charset="-122"/>
                <a:cs typeface="Malgun Gothic" pitchFamily="34" charset="-120"/>
              </a:rPr>
              <a:t>(feedback)</a:t>
            </a:r>
            <a:endParaRPr lang="en-US" sz="2000" dirty="0"/>
          </a:p>
          <a:p>
            <a:pPr marL="0" indent="0" algn="ctr">
              <a:buNone/>
            </a:pPr>
            <a:r>
              <a:rPr lang="en-US" sz="2000" b="1" dirty="0">
                <a:solidFill>
                  <a:srgbClr val="2A2314"/>
                </a:solidFill>
                <a:latin typeface="Malgun Gothic" pitchFamily="34" charset="0"/>
                <a:ea typeface="Malgun Gothic" pitchFamily="34" charset="-122"/>
                <a:cs typeface="Malgun Gothic" pitchFamily="34" charset="-120"/>
              </a:rPr>
              <a:t>교사 확인</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6 · 개인별 맞춤 피드백</a:t>
            </a:r>
            <a:endParaRPr lang="en-US" sz="1600" dirty="0"/>
          </a:p>
        </p:txBody>
      </p:sp>
      <p:sp>
        <p:nvSpPr>
          <p:cNvPr id="3" name="Text 1"/>
          <p:cNvSpPr/>
          <p:nvPr/>
        </p:nvSpPr>
        <p:spPr>
          <a:xfrm>
            <a:off x="5394960" y="274320"/>
            <a:ext cx="822960" cy="329184"/>
          </a:xfrm>
          <a:prstGeom prst="roundRect">
            <a:avLst>
              <a:gd name="adj" fmla="val 50000"/>
            </a:avLst>
          </a:prstGeom>
          <a:solidFill>
            <a:srgbClr val="356E67"/>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개념</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비밀은 서버에, 피드백은 본인만</a:t>
            </a:r>
            <a:endParaRPr lang="en-US" sz="3600" dirty="0"/>
          </a:p>
        </p:txBody>
      </p:sp>
      <p:sp>
        <p:nvSpPr>
          <p:cNvPr id="6" name="Text 3"/>
          <p:cNvSpPr txBox="1"/>
          <p:nvPr/>
        </p:nvSpPr>
        <p:spPr>
          <a:xfrm>
            <a:off x="548640" y="1554480"/>
            <a:ext cx="11064240" cy="192024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AI 열쇠(API 키)를 브라우저에 두면 누구나 꺼내 쓴다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열쇠는 서버(Cloud Functions = 교무실 금고)에 둔다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피드백도 본인 답안지에 붙어 있어 본인만 본다</a:t>
            </a:r>
            <a:endParaRPr lang="en-US" sz="2400" dirty="0"/>
          </a:p>
        </p:txBody>
      </p:sp>
      <p:sp>
        <p:nvSpPr>
          <p:cNvPr id="7" name="Text 4"/>
          <p:cNvSpPr/>
          <p:nvPr/>
        </p:nvSpPr>
        <p:spPr>
          <a:xfrm>
            <a:off x="548640" y="3657600"/>
            <a:ext cx="5394960" cy="1554480"/>
          </a:xfrm>
          <a:prstGeom prst="roundRect">
            <a:avLst>
              <a:gd name="adj" fmla="val 7059"/>
            </a:avLst>
          </a:prstGeom>
          <a:solidFill>
            <a:srgbClr val="F3DDD6"/>
          </a:solidFill>
          <a:ln w="38100">
            <a:solidFill>
              <a:srgbClr val="B0402C"/>
            </a:solidFill>
          </a:ln>
        </p:spPr>
        <p:txBody>
          <a:bodyPr wrap="square" lIns="76200" tIns="76200" rIns="76200" bIns="76200" rtlCol="0" anchor="ctr"/>
          <a:lstStyle/>
          <a:p>
            <a:pPr marL="0" indent="0" algn="ctr">
              <a:buNone/>
            </a:pPr>
            <a:r>
              <a:rPr lang="en-US" sz="2000" dirty="0">
                <a:solidFill>
                  <a:srgbClr val="2A2314"/>
                </a:solidFill>
                <a:latin typeface="Malgun Gothic" pitchFamily="34" charset="0"/>
                <a:ea typeface="Malgun Gothic" pitchFamily="34" charset="-122"/>
                <a:cs typeface="Malgun Gothic" pitchFamily="34" charset="-120"/>
              </a:rPr>
              <a:t>X  브라우저에 키 보관</a:t>
            </a:r>
            <a:endParaRPr lang="en-US" sz="2000" dirty="0"/>
          </a:p>
          <a:p>
            <a:pPr marL="0" indent="0" algn="ctr">
              <a:buNone/>
            </a:pPr>
            <a:r>
              <a:rPr lang="en-US" sz="2000" dirty="0">
                <a:solidFill>
                  <a:srgbClr val="2A2314"/>
                </a:solidFill>
                <a:latin typeface="Malgun Gothic" pitchFamily="34" charset="0"/>
                <a:ea typeface="Malgun Gothic" pitchFamily="34" charset="-122"/>
                <a:cs typeface="Malgun Gothic" pitchFamily="34" charset="-120"/>
              </a:rPr>
              <a:t>학생이 개발자 도구(F12)로 열면 키가 보임</a:t>
            </a:r>
            <a:endParaRPr lang="en-US" sz="2000" dirty="0"/>
          </a:p>
        </p:txBody>
      </p:sp>
      <p:sp>
        <p:nvSpPr>
          <p:cNvPr id="8" name="Text 5"/>
          <p:cNvSpPr/>
          <p:nvPr/>
        </p:nvSpPr>
        <p:spPr>
          <a:xfrm>
            <a:off x="6217920" y="3657600"/>
            <a:ext cx="5394960" cy="1554480"/>
          </a:xfrm>
          <a:prstGeom prst="roundRect">
            <a:avLst>
              <a:gd name="adj" fmla="val 7059"/>
            </a:avLst>
          </a:prstGeom>
          <a:solidFill>
            <a:srgbClr val="DCE9E5"/>
          </a:solidFill>
          <a:ln w="38100">
            <a:solidFill>
              <a:srgbClr val="356E67"/>
            </a:solidFill>
          </a:ln>
        </p:spPr>
        <p:txBody>
          <a:bodyPr wrap="square" lIns="76200" tIns="76200" rIns="76200" bIns="76200" rtlCol="0" anchor="ctr"/>
          <a:lstStyle/>
          <a:p>
            <a:pPr marL="0" indent="0" algn="ctr">
              <a:buNone/>
            </a:pPr>
            <a:r>
              <a:rPr lang="en-US" sz="2000" dirty="0">
                <a:solidFill>
                  <a:srgbClr val="2A2314"/>
                </a:solidFill>
                <a:latin typeface="Malgun Gothic" pitchFamily="34" charset="0"/>
                <a:ea typeface="Malgun Gothic" pitchFamily="34" charset="-122"/>
                <a:cs typeface="Malgun Gothic" pitchFamily="34" charset="-120"/>
              </a:rPr>
              <a:t>O  서버(Cloud Functions)에 키 보관</a:t>
            </a:r>
            <a:endParaRPr lang="en-US" sz="2000" dirty="0"/>
          </a:p>
          <a:p>
            <a:pPr marL="0" indent="0" algn="ctr">
              <a:buNone/>
            </a:pPr>
            <a:r>
              <a:rPr lang="en-US" sz="2000" dirty="0">
                <a:solidFill>
                  <a:srgbClr val="2A2314"/>
                </a:solidFill>
                <a:latin typeface="Malgun Gothic" pitchFamily="34" charset="0"/>
                <a:ea typeface="Malgun Gothic" pitchFamily="34" charset="-122"/>
                <a:cs typeface="Malgun Gothic" pitchFamily="34" charset="-120"/>
              </a:rPr>
              <a:t>브라우저는 결과만 받음</a:t>
            </a:r>
            <a:endParaRPr lang="en-US" sz="2000" dirty="0"/>
          </a:p>
        </p:txBody>
      </p:sp>
      <p:sp>
        <p:nvSpPr>
          <p:cNvPr id="9" name="Text 6"/>
          <p:cNvSpPr/>
          <p:nvPr/>
        </p:nvSpPr>
        <p:spPr>
          <a:xfrm>
            <a:off x="548640" y="5486400"/>
            <a:ext cx="11064240" cy="548640"/>
          </a:xfrm>
          <a:prstGeom prst="roundRect">
            <a:avLst>
              <a:gd name="adj" fmla="val 16667"/>
            </a:avLst>
          </a:prstGeom>
          <a:solidFill>
            <a:srgbClr val="FFF1CC"/>
          </a:solidFill>
          <a:ln w="19050">
            <a:solidFill>
              <a:srgbClr val="C9A24A"/>
            </a:solidFill>
          </a:ln>
        </p:spPr>
        <p:txBody>
          <a:bodyPr wrap="square" lIns="76200" tIns="76200" rIns="76200" bIns="76200" rtlCol="0" anchor="ctr"/>
          <a:lstStyle/>
          <a:p>
            <a:pPr marL="0" indent="0" algn="ctr">
              <a:buNone/>
            </a:pPr>
            <a:r>
              <a:rPr lang="en-US" sz="1800" b="1" dirty="0">
                <a:solidFill>
                  <a:srgbClr val="2A2314"/>
                </a:solidFill>
                <a:latin typeface="Malgun Gothic" pitchFamily="34" charset="0"/>
                <a:ea typeface="Malgun Gothic" pitchFamily="34" charset="-122"/>
                <a:cs typeface="Malgun Gothic" pitchFamily="34" charset="-120"/>
              </a:rPr>
              <a:t>보안 원칙 2: 학생은 자기 제출물만 읽는다 (피드백도 제출물 안에 있다)</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6 · 개인별 맞춤 피드백</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정답 비교로 피드백 초안 만들기</a:t>
            </a:r>
            <a:endParaRPr lang="en-US" sz="3600" dirty="0"/>
          </a:p>
        </p:txBody>
      </p:sp>
      <p:sp>
        <p:nvSpPr>
          <p:cNvPr id="6" name="Text 3"/>
          <p:cNvSpPr txBox="1"/>
          <p:nvPr/>
        </p:nvSpPr>
        <p:spPr>
          <a:xfrm>
            <a:off x="548640" y="1508760"/>
            <a:ext cx="11064240" cy="128016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선택형은 정답과 비교해 "맞음 / 다시 보기"</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제출현황 표에 "피드백 초안 만들기" 버튼 추가</a:t>
            </a:r>
            <a:endParaRPr lang="en-US" sz="2400" dirty="0"/>
          </a:p>
        </p:txBody>
      </p:sp>
      <p:sp>
        <p:nvSpPr>
          <p:cNvPr id="7" name="Text 4"/>
          <p:cNvSpPr txBox="1"/>
          <p:nvPr/>
        </p:nvSpPr>
        <p:spPr>
          <a:xfrm>
            <a:off x="548640" y="2816352"/>
            <a:ext cx="11064240" cy="274320"/>
          </a:xfrm>
          <a:prstGeom prst="rect">
            <a:avLst/>
          </a:prstGeom>
          <a:noFill/>
          <a:ln/>
        </p:spPr>
        <p:txBody>
          <a:bodyPr wrap="square" lIns="0" tIns="0" rIns="0" bIns="0" rtlCol="0" anchor="ctr"/>
          <a:lstStyle/>
          <a:p>
            <a:pPr marL="0" indent="0">
              <a:buNone/>
            </a:pPr>
            <a:r>
              <a:rPr lang="en-US" sz="1400" dirty="0">
                <a:solidFill>
                  <a:srgbClr val="6B5E45"/>
                </a:solidFill>
                <a:latin typeface="Malgun Gothic" pitchFamily="34" charset="0"/>
                <a:ea typeface="Malgun Gothic" pitchFamily="34" charset="-122"/>
                <a:cs typeface="Malgun Gothic" pitchFamily="34" charset="-120"/>
              </a:rPr>
              <a:t>프롬프트 핵심 (전문은 발표자 노트)</a:t>
            </a:r>
            <a:endParaRPr lang="en-US" sz="1400" dirty="0"/>
          </a:p>
        </p:txBody>
      </p:sp>
      <p:sp>
        <p:nvSpPr>
          <p:cNvPr id="8" name="Shape 5"/>
          <p:cNvSpPr/>
          <p:nvPr/>
        </p:nvSpPr>
        <p:spPr>
          <a:xfrm>
            <a:off x="548640" y="3108960"/>
            <a:ext cx="11064240" cy="2148840"/>
          </a:xfrm>
          <a:prstGeom prst="roundRect">
            <a:avLst>
              <a:gd name="adj" fmla="val 4255"/>
            </a:avLst>
          </a:prstGeom>
          <a:solidFill>
            <a:srgbClr val="2A2314"/>
          </a:solidFill>
          <a:ln w="12700">
            <a:solidFill>
              <a:srgbClr val="2A2314"/>
            </a:solidFill>
            <a:prstDash val="solid"/>
          </a:ln>
        </p:spPr>
        <p:txBody>
          <a:bodyPr/>
          <a:lstStyle/>
          <a:p>
            <a:endParaRPr lang="ko-KR" altLang="en-US"/>
          </a:p>
        </p:txBody>
      </p:sp>
      <p:sp>
        <p:nvSpPr>
          <p:cNvPr id="9" name="Text 6"/>
          <p:cNvSpPr txBox="1"/>
          <p:nvPr/>
        </p:nvSpPr>
        <p:spPr>
          <a:xfrm>
            <a:off x="731520" y="3200400"/>
            <a:ext cx="10698480" cy="1965960"/>
          </a:xfrm>
          <a:prstGeom prst="rect">
            <a:avLst/>
          </a:prstGeom>
          <a:noFill/>
          <a:ln/>
        </p:spPr>
        <p:txBody>
          <a:bodyPr wrap="square" lIns="0" tIns="0" rIns="0" bIns="0" rtlCol="0" anchor="t"/>
          <a:lstStyle/>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학생 답안 화면에 "피드백 초안 만들기" 버튼을 추가해 줘. 누르면 입력칸에 채워 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1) 선택형: 정답(answer)과 비교 → "문항 N: 맞았어요" / "다시 한 번 살펴보세요"</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2) 교사가 문항마다 적은 "틀렸을 때 안내 문구"를 틀린 문항에 이어 붙인다</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3) 서술형: "문항 N: 선생님이 직접 읽고 코멘트를 남길게요"</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4) 마지막 줄: "총 N문항 중 M문항 맞았어요" (N은 선택형 문항 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AI는 부르지 말고, 아직 Firestore에 저장하지 마. 입력칸에 채우기만 해.</a:t>
            </a:r>
            <a:endParaRPr lang="en-US" sz="1500" dirty="0"/>
          </a:p>
        </p:txBody>
      </p:sp>
      <p:sp>
        <p:nvSpPr>
          <p:cNvPr id="10" name="Text 7"/>
          <p:cNvSpPr txBox="1"/>
          <p:nvPr/>
        </p:nvSpPr>
        <p:spPr>
          <a:xfrm>
            <a:off x="548640" y="5669280"/>
            <a:ext cx="11064240" cy="457200"/>
          </a:xfrm>
          <a:prstGeom prst="rect">
            <a:avLst/>
          </a:prstGeom>
          <a:noFill/>
          <a:ln/>
        </p:spPr>
        <p:txBody>
          <a:bodyPr wrap="square" lIns="0" tIns="0" rIns="0" bIns="0" rtlCol="0" anchor="ctr"/>
          <a:lstStyle/>
          <a:p>
            <a:pPr marL="0" indent="0">
              <a:buNone/>
            </a:pPr>
            <a:r>
              <a:rPr lang="en-US" sz="1600" b="1" dirty="0">
                <a:solidFill>
                  <a:srgbClr val="B0402C"/>
                </a:solidFill>
                <a:latin typeface="Malgun Gothic" pitchFamily="34" charset="0"/>
                <a:ea typeface="Malgun Gothic" pitchFamily="34" charset="-122"/>
                <a:cs typeface="Malgun Gothic" pitchFamily="34" charset="-120"/>
              </a:rPr>
              <a:t>막힐 때  </a:t>
            </a:r>
            <a:r>
              <a:rPr lang="en-US" sz="1600" dirty="0">
                <a:solidFill>
                  <a:srgbClr val="2A2314"/>
                </a:solidFill>
                <a:latin typeface="Malgun Gothic" pitchFamily="34" charset="0"/>
                <a:ea typeface="Malgun Gothic" pitchFamily="34" charset="-122"/>
                <a:cs typeface="Malgun Gothic" pitchFamily="34" charset="-120"/>
              </a:rPr>
              <a:t>모두 틀림으로 나오면 학습지의 정답 입력 확인. 버튼이 안 보이면 강력 새로고침</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6 · 개인별 맞춤 피드백</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고쳐서 저장하면 학생 화면에 도착</a:t>
            </a:r>
            <a:endParaRPr lang="en-US" sz="3600" dirty="0"/>
          </a:p>
        </p:txBody>
      </p:sp>
      <p:sp>
        <p:nvSpPr>
          <p:cNvPr id="6" name="Text 3"/>
          <p:cNvSpPr txBox="1"/>
          <p:nvPr/>
        </p:nvSpPr>
        <p:spPr>
          <a:xfrm>
            <a:off x="548640" y="1554480"/>
            <a:ext cx="11064240" cy="182880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교사가 초안을 마음대로 고친 뒤 "저장"</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저장 위치는 submissions/{uid}의 feedback</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학생 화면에 "선생님 피드백" 카드가 보인다</a:t>
            </a:r>
            <a:endParaRPr lang="en-US" sz="2400" dirty="0"/>
          </a:p>
        </p:txBody>
      </p:sp>
      <p:sp>
        <p:nvSpPr>
          <p:cNvPr id="7" name="Text 4"/>
          <p:cNvSpPr txBox="1"/>
          <p:nvPr/>
        </p:nvSpPr>
        <p:spPr>
          <a:xfrm>
            <a:off x="548640" y="3364992"/>
            <a:ext cx="11064240" cy="274320"/>
          </a:xfrm>
          <a:prstGeom prst="rect">
            <a:avLst/>
          </a:prstGeom>
          <a:noFill/>
          <a:ln/>
        </p:spPr>
        <p:txBody>
          <a:bodyPr wrap="square" lIns="0" tIns="0" rIns="0" bIns="0" rtlCol="0" anchor="ctr"/>
          <a:lstStyle/>
          <a:p>
            <a:pPr marL="0" indent="0">
              <a:buNone/>
            </a:pPr>
            <a:r>
              <a:rPr lang="en-US" sz="1400" dirty="0">
                <a:solidFill>
                  <a:srgbClr val="6B5E45"/>
                </a:solidFill>
                <a:latin typeface="Malgun Gothic" pitchFamily="34" charset="0"/>
                <a:ea typeface="Malgun Gothic" pitchFamily="34" charset="-122"/>
                <a:cs typeface="Malgun Gothic" pitchFamily="34" charset="-120"/>
              </a:rPr>
              <a:t>프롬프트 핵심 (전문은 발표자 노트)</a:t>
            </a:r>
            <a:endParaRPr lang="en-US" sz="1400" dirty="0"/>
          </a:p>
        </p:txBody>
      </p:sp>
      <p:sp>
        <p:nvSpPr>
          <p:cNvPr id="8" name="Shape 5"/>
          <p:cNvSpPr/>
          <p:nvPr/>
        </p:nvSpPr>
        <p:spPr>
          <a:xfrm>
            <a:off x="548640" y="3657600"/>
            <a:ext cx="11064240" cy="1783080"/>
          </a:xfrm>
          <a:prstGeom prst="roundRect">
            <a:avLst>
              <a:gd name="adj" fmla="val 5128"/>
            </a:avLst>
          </a:prstGeom>
          <a:solidFill>
            <a:srgbClr val="2A2314"/>
          </a:solidFill>
          <a:ln w="12700">
            <a:solidFill>
              <a:srgbClr val="2A2314"/>
            </a:solidFill>
            <a:prstDash val="solid"/>
          </a:ln>
        </p:spPr>
        <p:txBody>
          <a:bodyPr/>
          <a:lstStyle/>
          <a:p>
            <a:endParaRPr lang="ko-KR" altLang="en-US"/>
          </a:p>
        </p:txBody>
      </p:sp>
      <p:sp>
        <p:nvSpPr>
          <p:cNvPr id="9" name="Text 6"/>
          <p:cNvSpPr txBox="1"/>
          <p:nvPr/>
        </p:nvSpPr>
        <p:spPr>
          <a:xfrm>
            <a:off x="731520" y="3749040"/>
            <a:ext cx="10698480" cy="1600200"/>
          </a:xfrm>
          <a:prstGeom prst="rect">
            <a:avLst/>
          </a:prstGeom>
          <a:noFill/>
          <a:ln/>
        </p:spPr>
        <p:txBody>
          <a:bodyPr wrap="square" lIns="0" tIns="0" rIns="0" bIns="0" rtlCol="0" anchor="t"/>
          <a:lstStyle/>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입력칸 아래에 "피드백 저장" 버튼을 추가해 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submissions/{uid}의 feedback 필드에만 저장 (updateDoc, 다른 필드는 건드리지 마)</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이미 저장된 피드백이 있으면 다시 열 때 입력칸에 불러오기</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학생 화면: feedback이 있을 때만 "선생님 피드백" 카드, 없으면 "아직 피드백이 없어요"</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피드백 글은 HTML로 해석하지 말고 글자 그대로 출력</a:t>
            </a:r>
            <a:endParaRPr lang="en-US" sz="1500" dirty="0"/>
          </a:p>
        </p:txBody>
      </p:sp>
      <p:sp>
        <p:nvSpPr>
          <p:cNvPr id="10" name="Text 7"/>
          <p:cNvSpPr txBox="1"/>
          <p:nvPr/>
        </p:nvSpPr>
        <p:spPr>
          <a:xfrm>
            <a:off x="548640" y="5760720"/>
            <a:ext cx="11064240" cy="457200"/>
          </a:xfrm>
          <a:prstGeom prst="rect">
            <a:avLst/>
          </a:prstGeom>
          <a:noFill/>
          <a:ln/>
        </p:spPr>
        <p:txBody>
          <a:bodyPr wrap="square" lIns="0" tIns="0" rIns="0" bIns="0" rtlCol="0" anchor="ctr"/>
          <a:lstStyle/>
          <a:p>
            <a:pPr marL="0" indent="0">
              <a:buNone/>
            </a:pPr>
            <a:r>
              <a:rPr lang="en-US" sz="1600" b="1" dirty="0">
                <a:solidFill>
                  <a:srgbClr val="B0402C"/>
                </a:solidFill>
                <a:latin typeface="Malgun Gothic" pitchFamily="34" charset="0"/>
                <a:ea typeface="Malgun Gothic" pitchFamily="34" charset="-122"/>
                <a:cs typeface="Malgun Gothic" pitchFamily="34" charset="-120"/>
              </a:rPr>
              <a:t>막힐 때  </a:t>
            </a:r>
            <a:r>
              <a:rPr lang="en-US" sz="1600" dirty="0">
                <a:solidFill>
                  <a:srgbClr val="2A2314"/>
                </a:solidFill>
                <a:latin typeface="Malgun Gothic" pitchFamily="34" charset="0"/>
                <a:ea typeface="Malgun Gothic" pitchFamily="34" charset="-122"/>
                <a:cs typeface="Malgun Gothic" pitchFamily="34" charset="-120"/>
              </a:rPr>
              <a:t>권한 오류는 임시 규칙 확인. 카드가 안 보이면 학생이 가입·제출했는지 확인 후 새로고침</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6 · 개인별 맞춤 피드백</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확인: 제출부터 피드백 수신까지</a:t>
            </a:r>
            <a:endParaRPr lang="en-US" sz="3600" dirty="0"/>
          </a:p>
        </p:txBody>
      </p:sp>
      <p:sp>
        <p:nvSpPr>
          <p:cNvPr id="6" name="Text 3"/>
          <p:cNvSpPr txBox="1"/>
          <p:nvPr/>
        </p:nvSpPr>
        <p:spPr>
          <a:xfrm>
            <a:off x="548640" y="1508760"/>
            <a:ext cx="11064240" cy="128016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두 계정을 크롬 일반 창(교사)과 시크릿 창(학생)으로 나눠 쓴다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전체 한 바퀴가 되면 완료</a:t>
            </a:r>
            <a:endParaRPr lang="en-US" sz="2400" dirty="0"/>
          </a:p>
        </p:txBody>
      </p:sp>
      <p:sp>
        <p:nvSpPr>
          <p:cNvPr id="7" name="Text 4"/>
          <p:cNvSpPr/>
          <p:nvPr/>
        </p:nvSpPr>
        <p:spPr>
          <a:xfrm>
            <a:off x="548640" y="2852928"/>
            <a:ext cx="457200" cy="457200"/>
          </a:xfrm>
          <a:prstGeom prst="ellipse">
            <a:avLst/>
          </a:prstGeom>
          <a:solidFill>
            <a:srgbClr val="B0402C"/>
          </a:solidFill>
          <a:ln/>
        </p:spPr>
        <p:txBody>
          <a:bodyPr wrap="square" lIns="0" tIns="0" rIns="0" bIns="0" rtlCol="0" anchor="ctr"/>
          <a:lstStyle/>
          <a:p>
            <a:pPr marL="0" indent="0" algn="ctr">
              <a:buNone/>
            </a:pPr>
            <a:r>
              <a:rPr lang="en-US" sz="1800" b="1" dirty="0">
                <a:solidFill>
                  <a:srgbClr val="FFFFFF"/>
                </a:solidFill>
                <a:latin typeface="Malgun Gothic" pitchFamily="34" charset="0"/>
                <a:ea typeface="Malgun Gothic" pitchFamily="34" charset="-122"/>
                <a:cs typeface="Malgun Gothic" pitchFamily="34" charset="-120"/>
              </a:rPr>
              <a:t>1</a:t>
            </a:r>
            <a:endParaRPr lang="en-US" sz="1800" dirty="0"/>
          </a:p>
        </p:txBody>
      </p:sp>
      <p:sp>
        <p:nvSpPr>
          <p:cNvPr id="8" name="Text 5"/>
          <p:cNvSpPr txBox="1"/>
          <p:nvPr/>
        </p:nvSpPr>
        <p:spPr>
          <a:xfrm>
            <a:off x="1188720" y="2834640"/>
            <a:ext cx="10424160" cy="502920"/>
          </a:xfrm>
          <a:prstGeom prst="rect">
            <a:avLst/>
          </a:prstGeom>
          <a:noFill/>
          <a:ln/>
        </p:spPr>
        <p:txBody>
          <a:bodyPr wrap="square" lIns="0" tIns="0" rIns="0" bIns="0" rtlCol="0" anchor="ctr"/>
          <a:lstStyle/>
          <a:p>
            <a:pPr marL="0" indent="0">
              <a:buNone/>
            </a:pPr>
            <a:r>
              <a:rPr lang="en-US" sz="1800" dirty="0">
                <a:solidFill>
                  <a:srgbClr val="2A2314"/>
                </a:solidFill>
                <a:latin typeface="Malgun Gothic" pitchFamily="34" charset="0"/>
                <a:ea typeface="Malgun Gothic" pitchFamily="34" charset="-122"/>
                <a:cs typeface="Malgun Gothic" pitchFamily="34" charset="-120"/>
              </a:rPr>
              <a:t>시크릿 창: 학생 로그인 → 학습지 풀고 제출</a:t>
            </a:r>
            <a:endParaRPr lang="en-US" sz="1800" dirty="0"/>
          </a:p>
        </p:txBody>
      </p:sp>
      <p:sp>
        <p:nvSpPr>
          <p:cNvPr id="9" name="Text 6"/>
          <p:cNvSpPr/>
          <p:nvPr/>
        </p:nvSpPr>
        <p:spPr>
          <a:xfrm>
            <a:off x="548640" y="3401568"/>
            <a:ext cx="457200" cy="457200"/>
          </a:xfrm>
          <a:prstGeom prst="ellipse">
            <a:avLst/>
          </a:prstGeom>
          <a:solidFill>
            <a:srgbClr val="B0402C"/>
          </a:solidFill>
          <a:ln/>
        </p:spPr>
        <p:txBody>
          <a:bodyPr wrap="square" lIns="0" tIns="0" rIns="0" bIns="0" rtlCol="0" anchor="ctr"/>
          <a:lstStyle/>
          <a:p>
            <a:pPr marL="0" indent="0" algn="ctr">
              <a:buNone/>
            </a:pPr>
            <a:r>
              <a:rPr lang="en-US" sz="1800" b="1" dirty="0">
                <a:solidFill>
                  <a:srgbClr val="FFFFFF"/>
                </a:solidFill>
                <a:latin typeface="Malgun Gothic" pitchFamily="34" charset="0"/>
                <a:ea typeface="Malgun Gothic" pitchFamily="34" charset="-122"/>
                <a:cs typeface="Malgun Gothic" pitchFamily="34" charset="-120"/>
              </a:rPr>
              <a:t>2</a:t>
            </a:r>
            <a:endParaRPr lang="en-US" sz="1800" dirty="0"/>
          </a:p>
        </p:txBody>
      </p:sp>
      <p:sp>
        <p:nvSpPr>
          <p:cNvPr id="10" name="Text 7"/>
          <p:cNvSpPr txBox="1"/>
          <p:nvPr/>
        </p:nvSpPr>
        <p:spPr>
          <a:xfrm>
            <a:off x="1188720" y="3383280"/>
            <a:ext cx="10424160" cy="502920"/>
          </a:xfrm>
          <a:prstGeom prst="rect">
            <a:avLst/>
          </a:prstGeom>
          <a:noFill/>
          <a:ln/>
        </p:spPr>
        <p:txBody>
          <a:bodyPr wrap="square" lIns="0" tIns="0" rIns="0" bIns="0" rtlCol="0" anchor="ctr"/>
          <a:lstStyle/>
          <a:p>
            <a:pPr marL="0" indent="0">
              <a:buNone/>
            </a:pPr>
            <a:r>
              <a:rPr lang="en-US" sz="1800" dirty="0">
                <a:solidFill>
                  <a:srgbClr val="2A2314"/>
                </a:solidFill>
                <a:latin typeface="Malgun Gothic" pitchFamily="34" charset="0"/>
                <a:ea typeface="Malgun Gothic" pitchFamily="34" charset="-122"/>
                <a:cs typeface="Malgun Gothic" pitchFamily="34" charset="-120"/>
              </a:rPr>
              <a:t>일반 창: 교사 로그인 → 제출현황에서 학생 선택 → "피드백 초안 만들기"</a:t>
            </a:r>
            <a:endParaRPr lang="en-US" sz="1800" dirty="0"/>
          </a:p>
        </p:txBody>
      </p:sp>
      <p:sp>
        <p:nvSpPr>
          <p:cNvPr id="11" name="Text 8"/>
          <p:cNvSpPr/>
          <p:nvPr/>
        </p:nvSpPr>
        <p:spPr>
          <a:xfrm>
            <a:off x="548640" y="3950208"/>
            <a:ext cx="457200" cy="457200"/>
          </a:xfrm>
          <a:prstGeom prst="ellipse">
            <a:avLst/>
          </a:prstGeom>
          <a:solidFill>
            <a:srgbClr val="B0402C"/>
          </a:solidFill>
          <a:ln/>
        </p:spPr>
        <p:txBody>
          <a:bodyPr wrap="square" lIns="0" tIns="0" rIns="0" bIns="0" rtlCol="0" anchor="ctr"/>
          <a:lstStyle/>
          <a:p>
            <a:pPr marL="0" indent="0" algn="ctr">
              <a:buNone/>
            </a:pPr>
            <a:r>
              <a:rPr lang="en-US" sz="1800" b="1" dirty="0">
                <a:solidFill>
                  <a:srgbClr val="FFFFFF"/>
                </a:solidFill>
                <a:latin typeface="Malgun Gothic" pitchFamily="34" charset="0"/>
                <a:ea typeface="Malgun Gothic" pitchFamily="34" charset="-122"/>
                <a:cs typeface="Malgun Gothic" pitchFamily="34" charset="-120"/>
              </a:rPr>
              <a:t>3</a:t>
            </a:r>
            <a:endParaRPr lang="en-US" sz="1800" dirty="0"/>
          </a:p>
        </p:txBody>
      </p:sp>
      <p:sp>
        <p:nvSpPr>
          <p:cNvPr id="12" name="Text 9"/>
          <p:cNvSpPr txBox="1"/>
          <p:nvPr/>
        </p:nvSpPr>
        <p:spPr>
          <a:xfrm>
            <a:off x="1188720" y="3931920"/>
            <a:ext cx="10424160" cy="502920"/>
          </a:xfrm>
          <a:prstGeom prst="rect">
            <a:avLst/>
          </a:prstGeom>
          <a:noFill/>
          <a:ln/>
        </p:spPr>
        <p:txBody>
          <a:bodyPr wrap="square" lIns="0" tIns="0" rIns="0" bIns="0" rtlCol="0" anchor="ctr"/>
          <a:lstStyle/>
          <a:p>
            <a:pPr marL="0" indent="0">
              <a:buNone/>
            </a:pPr>
            <a:r>
              <a:rPr lang="en-US" sz="1800" dirty="0">
                <a:solidFill>
                  <a:srgbClr val="2A2314"/>
                </a:solidFill>
                <a:latin typeface="Malgun Gothic" pitchFamily="34" charset="0"/>
                <a:ea typeface="Malgun Gothic" pitchFamily="34" charset="-122"/>
                <a:cs typeface="Malgun Gothic" pitchFamily="34" charset="-120"/>
              </a:rPr>
              <a:t>초안 끝에 교사 한마디를 직접 써 넣고 "피드백 저장"</a:t>
            </a:r>
            <a:endParaRPr lang="en-US" sz="1800" dirty="0"/>
          </a:p>
        </p:txBody>
      </p:sp>
      <p:sp>
        <p:nvSpPr>
          <p:cNvPr id="13" name="Text 10"/>
          <p:cNvSpPr/>
          <p:nvPr/>
        </p:nvSpPr>
        <p:spPr>
          <a:xfrm>
            <a:off x="548640" y="4498848"/>
            <a:ext cx="457200" cy="457200"/>
          </a:xfrm>
          <a:prstGeom prst="ellipse">
            <a:avLst/>
          </a:prstGeom>
          <a:solidFill>
            <a:srgbClr val="B0402C"/>
          </a:solidFill>
          <a:ln/>
        </p:spPr>
        <p:txBody>
          <a:bodyPr wrap="square" lIns="0" tIns="0" rIns="0" bIns="0" rtlCol="0" anchor="ctr"/>
          <a:lstStyle/>
          <a:p>
            <a:pPr marL="0" indent="0" algn="ctr">
              <a:buNone/>
            </a:pPr>
            <a:r>
              <a:rPr lang="en-US" sz="1800" b="1" dirty="0">
                <a:solidFill>
                  <a:srgbClr val="FFFFFF"/>
                </a:solidFill>
                <a:latin typeface="Malgun Gothic" pitchFamily="34" charset="0"/>
                <a:ea typeface="Malgun Gothic" pitchFamily="34" charset="-122"/>
                <a:cs typeface="Malgun Gothic" pitchFamily="34" charset="-120"/>
              </a:rPr>
              <a:t>4</a:t>
            </a:r>
            <a:endParaRPr lang="en-US" sz="1800" dirty="0"/>
          </a:p>
        </p:txBody>
      </p:sp>
      <p:sp>
        <p:nvSpPr>
          <p:cNvPr id="14" name="Text 11"/>
          <p:cNvSpPr txBox="1"/>
          <p:nvPr/>
        </p:nvSpPr>
        <p:spPr>
          <a:xfrm>
            <a:off x="1188720" y="4480560"/>
            <a:ext cx="10424160" cy="502920"/>
          </a:xfrm>
          <a:prstGeom prst="rect">
            <a:avLst/>
          </a:prstGeom>
          <a:noFill/>
          <a:ln/>
        </p:spPr>
        <p:txBody>
          <a:bodyPr wrap="square" lIns="0" tIns="0" rIns="0" bIns="0" rtlCol="0" anchor="ctr"/>
          <a:lstStyle/>
          <a:p>
            <a:pPr marL="0" indent="0">
              <a:buNone/>
            </a:pPr>
            <a:r>
              <a:rPr lang="en-US" sz="1800" dirty="0">
                <a:solidFill>
                  <a:srgbClr val="2A2314"/>
                </a:solidFill>
                <a:latin typeface="Malgun Gothic" pitchFamily="34" charset="0"/>
                <a:ea typeface="Malgun Gothic" pitchFamily="34" charset="-122"/>
                <a:cs typeface="Malgun Gothic" pitchFamily="34" charset="-120"/>
              </a:rPr>
              <a:t>시크릿 창: 새로고침 → "선생님 피드백" 카드에 내 글이 보이는지</a:t>
            </a:r>
            <a:endParaRPr lang="en-US" sz="1800" dirty="0"/>
          </a:p>
        </p:txBody>
      </p:sp>
      <p:sp>
        <p:nvSpPr>
          <p:cNvPr id="15" name="Text 12"/>
          <p:cNvSpPr/>
          <p:nvPr/>
        </p:nvSpPr>
        <p:spPr>
          <a:xfrm>
            <a:off x="548640" y="5047488"/>
            <a:ext cx="457200" cy="457200"/>
          </a:xfrm>
          <a:prstGeom prst="ellipse">
            <a:avLst/>
          </a:prstGeom>
          <a:solidFill>
            <a:srgbClr val="6B5E45"/>
          </a:solidFill>
          <a:ln/>
        </p:spPr>
        <p:txBody>
          <a:bodyPr wrap="square" lIns="0" tIns="0" rIns="0" bIns="0" rtlCol="0" anchor="ctr"/>
          <a:lstStyle/>
          <a:p>
            <a:pPr marL="0" indent="0" algn="ctr">
              <a:buNone/>
            </a:pPr>
            <a:r>
              <a:rPr lang="en-US" sz="1800" b="1" dirty="0">
                <a:solidFill>
                  <a:srgbClr val="FFFFFF"/>
                </a:solidFill>
                <a:latin typeface="Malgun Gothic" pitchFamily="34" charset="0"/>
                <a:ea typeface="Malgun Gothic" pitchFamily="34" charset="-122"/>
                <a:cs typeface="Malgun Gothic" pitchFamily="34" charset="-120"/>
              </a:rPr>
              <a:t>5</a:t>
            </a:r>
            <a:endParaRPr lang="en-US" sz="1800" dirty="0"/>
          </a:p>
        </p:txBody>
      </p:sp>
      <p:sp>
        <p:nvSpPr>
          <p:cNvPr id="16" name="Text 13"/>
          <p:cNvSpPr txBox="1"/>
          <p:nvPr/>
        </p:nvSpPr>
        <p:spPr>
          <a:xfrm>
            <a:off x="1188720" y="5029200"/>
            <a:ext cx="10424160" cy="502920"/>
          </a:xfrm>
          <a:prstGeom prst="rect">
            <a:avLst/>
          </a:prstGeom>
          <a:noFill/>
          <a:ln/>
        </p:spPr>
        <p:txBody>
          <a:bodyPr wrap="square" lIns="0" tIns="0" rIns="0" bIns="0" rtlCol="0" anchor="ctr"/>
          <a:lstStyle/>
          <a:p>
            <a:pPr marL="0" indent="0">
              <a:buNone/>
            </a:pPr>
            <a:r>
              <a:rPr lang="en-US" sz="1800" dirty="0">
                <a:solidFill>
                  <a:srgbClr val="2A2314"/>
                </a:solidFill>
                <a:latin typeface="Malgun Gothic" pitchFamily="34" charset="0"/>
                <a:ea typeface="Malgun Gothic" pitchFamily="34" charset="-122"/>
                <a:cs typeface="Malgun Gothic" pitchFamily="34" charset="-120"/>
              </a:rPr>
              <a:t>(선택) 학생 답을 바꿔 다시 제출 → 초안을 다시 만들어 비교</a:t>
            </a:r>
            <a:endParaRPr lang="en-US" sz="1800" dirty="0"/>
          </a:p>
        </p:txBody>
      </p:sp>
      <p:sp>
        <p:nvSpPr>
          <p:cNvPr id="17" name="Text 14"/>
          <p:cNvSpPr txBox="1"/>
          <p:nvPr/>
        </p:nvSpPr>
        <p:spPr>
          <a:xfrm>
            <a:off x="548640" y="5806440"/>
            <a:ext cx="11064240" cy="457200"/>
          </a:xfrm>
          <a:prstGeom prst="rect">
            <a:avLst/>
          </a:prstGeom>
          <a:noFill/>
          <a:ln/>
        </p:spPr>
        <p:txBody>
          <a:bodyPr wrap="square" lIns="0" tIns="0" rIns="0" bIns="0" rtlCol="0" anchor="ctr"/>
          <a:lstStyle/>
          <a:p>
            <a:pPr marL="0" indent="0">
              <a:buNone/>
            </a:pPr>
            <a:r>
              <a:rPr lang="en-US" sz="1600" b="1" dirty="0">
                <a:solidFill>
                  <a:srgbClr val="B0402C"/>
                </a:solidFill>
                <a:latin typeface="Malgun Gothic" pitchFamily="34" charset="0"/>
                <a:ea typeface="Malgun Gothic" pitchFamily="34" charset="-122"/>
                <a:cs typeface="Malgun Gothic" pitchFamily="34" charset="-120"/>
              </a:rPr>
              <a:t>막힐 때  </a:t>
            </a:r>
            <a:r>
              <a:rPr lang="en-US" sz="1600" dirty="0">
                <a:solidFill>
                  <a:srgbClr val="2A2314"/>
                </a:solidFill>
                <a:latin typeface="Malgun Gothic" pitchFamily="34" charset="0"/>
                <a:ea typeface="Malgun Gothic" pitchFamily="34" charset="-122"/>
                <a:cs typeface="Malgun Gothic" pitchFamily="34" charset="-120"/>
              </a:rPr>
              <a:t>피드백이 사라졌다면 "재제출해도 feedback은 지우지 말고 병합 저장으로 바꿔 줘"</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6 · 개인별 맞춤 피드백</a:t>
            </a:r>
            <a:endParaRPr lang="en-US" sz="1600" dirty="0"/>
          </a:p>
        </p:txBody>
      </p:sp>
      <p:sp>
        <p:nvSpPr>
          <p:cNvPr id="3" name="Text 1"/>
          <p:cNvSpPr/>
          <p:nvPr/>
        </p:nvSpPr>
        <p:spPr>
          <a:xfrm>
            <a:off x="5394960" y="274320"/>
            <a:ext cx="822960" cy="329184"/>
          </a:xfrm>
          <a:prstGeom prst="roundRect">
            <a:avLst>
              <a:gd name="adj" fmla="val 50000"/>
            </a:avLst>
          </a:prstGeom>
          <a:solidFill>
            <a:srgbClr val="C9A24A"/>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데모</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심화: AI가 초안을 써 주는 피드백</a:t>
            </a:r>
            <a:endParaRPr lang="en-US" sz="3600" dirty="0"/>
          </a:p>
        </p:txBody>
      </p:sp>
      <p:sp>
        <p:nvSpPr>
          <p:cNvPr id="6" name="Shape 3"/>
          <p:cNvSpPr/>
          <p:nvPr/>
        </p:nvSpPr>
        <p:spPr>
          <a:xfrm>
            <a:off x="320040" y="1481328"/>
            <a:ext cx="11548872" cy="4846320"/>
          </a:xfrm>
          <a:prstGeom prst="roundRect">
            <a:avLst>
              <a:gd name="adj" fmla="val 1887"/>
            </a:avLst>
          </a:prstGeom>
          <a:solidFill>
            <a:srgbClr val="FFFFFF">
              <a:alpha val="0"/>
            </a:srgbClr>
          </a:solidFill>
          <a:ln w="38100">
            <a:solidFill>
              <a:srgbClr val="356E67"/>
            </a:solidFill>
            <a:prstDash val="dash"/>
          </a:ln>
        </p:spPr>
        <p:txBody>
          <a:bodyPr/>
          <a:lstStyle/>
          <a:p>
            <a:endParaRPr lang="ko-KR" altLang="en-US"/>
          </a:p>
        </p:txBody>
      </p:sp>
      <p:sp>
        <p:nvSpPr>
          <p:cNvPr id="7" name="Text 4"/>
          <p:cNvSpPr/>
          <p:nvPr/>
        </p:nvSpPr>
        <p:spPr>
          <a:xfrm>
            <a:off x="8229600" y="237744"/>
            <a:ext cx="3611880" cy="420624"/>
          </a:xfrm>
          <a:prstGeom prst="roundRect">
            <a:avLst>
              <a:gd name="adj" fmla="val 21739"/>
            </a:avLst>
          </a:prstGeom>
          <a:solidFill>
            <a:srgbClr val="356E67"/>
          </a:solidFill>
          <a:ln/>
        </p:spPr>
        <p:txBody>
          <a:bodyPr wrap="square" lIns="25400" tIns="25400" rIns="25400" bIns="25400" rtlCol="0" anchor="ctr"/>
          <a:lstStyle/>
          <a:p>
            <a:pPr marL="0" indent="0" algn="ctr">
              <a:buNone/>
            </a:pPr>
            <a:r>
              <a:rPr lang="en-US" sz="1800" b="1" dirty="0">
                <a:solidFill>
                  <a:srgbClr val="FFFFFF"/>
                </a:solidFill>
                <a:latin typeface="Malgun Gothic" pitchFamily="34" charset="0"/>
                <a:ea typeface="Malgun Gothic" pitchFamily="34" charset="-122"/>
                <a:cs typeface="Malgun Gothic" pitchFamily="34" charset="-120"/>
              </a:rPr>
              <a:t>심화 선택 · 시간 되는 분만</a:t>
            </a:r>
            <a:endParaRPr lang="en-US" sz="1800" dirty="0"/>
          </a:p>
        </p:txBody>
      </p:sp>
      <p:sp>
        <p:nvSpPr>
          <p:cNvPr id="8" name="Text 5"/>
          <p:cNvSpPr txBox="1"/>
          <p:nvPr/>
        </p:nvSpPr>
        <p:spPr>
          <a:xfrm>
            <a:off x="640080" y="1645920"/>
            <a:ext cx="10972800" cy="146304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선택 과정: 오늘은 강사 시연, 직접 만들기는 연수 후 과제</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AI 키는 서버에만. Functions 배포는 Blaze(종량제) 요금제가 필요하고 AI 비용도 든다</a:t>
            </a:r>
            <a:endParaRPr lang="en-US" sz="2400" dirty="0"/>
          </a:p>
        </p:txBody>
      </p:sp>
      <p:sp>
        <p:nvSpPr>
          <p:cNvPr id="9" name="Text 6"/>
          <p:cNvSpPr/>
          <p:nvPr/>
        </p:nvSpPr>
        <p:spPr>
          <a:xfrm>
            <a:off x="640080" y="3657600"/>
            <a:ext cx="1975104" cy="1463040"/>
          </a:xfrm>
          <a:prstGeom prst="roundRect">
            <a:avLst>
              <a:gd name="adj" fmla="val 7500"/>
            </a:avLst>
          </a:prstGeom>
          <a:solidFill>
            <a:srgbClr val="FFFBF0"/>
          </a:solidFill>
          <a:ln w="15875">
            <a:solidFill>
              <a:srgbClr val="D9CDB0"/>
            </a:solidFill>
          </a:ln>
        </p:spPr>
        <p:txBody>
          <a:bodyPr wrap="square" lIns="76200" tIns="76200" rIns="76200" bIns="76200" rtlCol="0" anchor="ctr"/>
          <a:lstStyle/>
          <a:p>
            <a:pPr marL="0" indent="0" algn="ctr">
              <a:buNone/>
            </a:pPr>
            <a:r>
              <a:rPr lang="en-US" sz="1500" dirty="0">
                <a:solidFill>
                  <a:srgbClr val="2A2314"/>
                </a:solidFill>
                <a:latin typeface="Malgun Gothic" pitchFamily="34" charset="0"/>
                <a:ea typeface="Malgun Gothic" pitchFamily="34" charset="-122"/>
                <a:cs typeface="Malgun Gothic" pitchFamily="34" charset="-120"/>
              </a:rPr>
              <a:t>브라우저</a:t>
            </a:r>
            <a:endParaRPr lang="en-US" sz="1500" dirty="0"/>
          </a:p>
          <a:p>
            <a:pPr marL="0" indent="0" algn="ctr">
              <a:buNone/>
            </a:pPr>
            <a:r>
              <a:rPr lang="en-US" sz="1500" dirty="0">
                <a:solidFill>
                  <a:srgbClr val="2A2314"/>
                </a:solidFill>
                <a:latin typeface="Malgun Gothic" pitchFamily="34" charset="0"/>
                <a:ea typeface="Malgun Gothic" pitchFamily="34" charset="-122"/>
                <a:cs typeface="Malgun Gothic" pitchFamily="34" charset="-120"/>
              </a:rPr>
              <a:t>(교사가 버튼 클릭)</a:t>
            </a:r>
            <a:endParaRPr lang="en-US" sz="1500" dirty="0"/>
          </a:p>
        </p:txBody>
      </p:sp>
      <p:sp>
        <p:nvSpPr>
          <p:cNvPr id="10" name="Shape 7"/>
          <p:cNvSpPr/>
          <p:nvPr/>
        </p:nvSpPr>
        <p:spPr>
          <a:xfrm>
            <a:off x="2615184" y="424281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1" name="Text 8"/>
          <p:cNvSpPr/>
          <p:nvPr/>
        </p:nvSpPr>
        <p:spPr>
          <a:xfrm>
            <a:off x="2889504" y="3657600"/>
            <a:ext cx="1975104" cy="1463040"/>
          </a:xfrm>
          <a:prstGeom prst="roundRect">
            <a:avLst>
              <a:gd name="adj" fmla="val 7500"/>
            </a:avLst>
          </a:prstGeom>
          <a:solidFill>
            <a:srgbClr val="FFFBF0"/>
          </a:solidFill>
          <a:ln w="15875">
            <a:solidFill>
              <a:srgbClr val="D9CDB0"/>
            </a:solidFill>
          </a:ln>
        </p:spPr>
        <p:txBody>
          <a:bodyPr wrap="square" lIns="76200" tIns="76200" rIns="76200" bIns="76200" rtlCol="0" anchor="ctr"/>
          <a:lstStyle/>
          <a:p>
            <a:pPr marL="0" indent="0" algn="ctr">
              <a:buNone/>
            </a:pPr>
            <a:r>
              <a:rPr lang="en-US" sz="1500" dirty="0">
                <a:solidFill>
                  <a:srgbClr val="2A2314"/>
                </a:solidFill>
                <a:latin typeface="Malgun Gothic" pitchFamily="34" charset="0"/>
                <a:ea typeface="Malgun Gothic" pitchFamily="34" charset="-122"/>
                <a:cs typeface="Malgun Gothic" pitchFamily="34" charset="-120"/>
              </a:rPr>
              <a:t>Cloud Functions</a:t>
            </a:r>
            <a:endParaRPr lang="en-US" sz="1500" dirty="0"/>
          </a:p>
          <a:p>
            <a:pPr marL="0" indent="0" algn="ctr">
              <a:buNone/>
            </a:pPr>
            <a:r>
              <a:rPr lang="en-US" sz="1500" dirty="0">
                <a:solidFill>
                  <a:srgbClr val="2A2314"/>
                </a:solidFill>
                <a:latin typeface="Malgun Gothic" pitchFamily="34" charset="0"/>
                <a:ea typeface="Malgun Gothic" pitchFamily="34" charset="-122"/>
                <a:cs typeface="Malgun Gothic" pitchFamily="34" charset="-120"/>
              </a:rPr>
              <a:t>(키 보관, 답안 전달)</a:t>
            </a:r>
            <a:endParaRPr lang="en-US" sz="1500" dirty="0"/>
          </a:p>
        </p:txBody>
      </p:sp>
      <p:sp>
        <p:nvSpPr>
          <p:cNvPr id="12" name="Shape 9"/>
          <p:cNvSpPr/>
          <p:nvPr/>
        </p:nvSpPr>
        <p:spPr>
          <a:xfrm>
            <a:off x="4864608" y="424281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3" name="Text 10"/>
          <p:cNvSpPr/>
          <p:nvPr/>
        </p:nvSpPr>
        <p:spPr>
          <a:xfrm>
            <a:off x="5138928" y="3657600"/>
            <a:ext cx="1975104" cy="1463040"/>
          </a:xfrm>
          <a:prstGeom prst="roundRect">
            <a:avLst>
              <a:gd name="adj" fmla="val 7500"/>
            </a:avLst>
          </a:prstGeom>
          <a:solidFill>
            <a:srgbClr val="FFFBF0"/>
          </a:solidFill>
          <a:ln w="15875">
            <a:solidFill>
              <a:srgbClr val="D9CDB0"/>
            </a:solidFill>
          </a:ln>
        </p:spPr>
        <p:txBody>
          <a:bodyPr wrap="square" lIns="76200" tIns="76200" rIns="76200" bIns="76200" rtlCol="0" anchor="ctr"/>
          <a:lstStyle/>
          <a:p>
            <a:pPr marL="0" indent="0" algn="ctr">
              <a:buNone/>
            </a:pPr>
            <a:r>
              <a:rPr lang="en-US" sz="1500" dirty="0">
                <a:solidFill>
                  <a:srgbClr val="2A2314"/>
                </a:solidFill>
                <a:latin typeface="Malgun Gothic" pitchFamily="34" charset="0"/>
                <a:ea typeface="Malgun Gothic" pitchFamily="34" charset="-122"/>
                <a:cs typeface="Malgun Gothic" pitchFamily="34" charset="-120"/>
              </a:rPr>
              <a:t>AI</a:t>
            </a:r>
            <a:endParaRPr lang="en-US" sz="1500" dirty="0"/>
          </a:p>
          <a:p>
            <a:pPr marL="0" indent="0" algn="ctr">
              <a:buNone/>
            </a:pPr>
            <a:r>
              <a:rPr lang="en-US" sz="1500" dirty="0">
                <a:solidFill>
                  <a:srgbClr val="2A2314"/>
                </a:solidFill>
                <a:latin typeface="Malgun Gothic" pitchFamily="34" charset="0"/>
                <a:ea typeface="Malgun Gothic" pitchFamily="34" charset="-122"/>
                <a:cs typeface="Malgun Gothic" pitchFamily="34" charset="-120"/>
              </a:rPr>
              <a:t>(초안 생성)</a:t>
            </a:r>
            <a:endParaRPr lang="en-US" sz="1500" dirty="0"/>
          </a:p>
        </p:txBody>
      </p:sp>
      <p:sp>
        <p:nvSpPr>
          <p:cNvPr id="14" name="Shape 11"/>
          <p:cNvSpPr/>
          <p:nvPr/>
        </p:nvSpPr>
        <p:spPr>
          <a:xfrm>
            <a:off x="7114032" y="424281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5" name="Text 12"/>
          <p:cNvSpPr/>
          <p:nvPr/>
        </p:nvSpPr>
        <p:spPr>
          <a:xfrm>
            <a:off x="7388352" y="3657600"/>
            <a:ext cx="1975104" cy="1463040"/>
          </a:xfrm>
          <a:prstGeom prst="roundRect">
            <a:avLst>
              <a:gd name="adj" fmla="val 7500"/>
            </a:avLst>
          </a:prstGeom>
          <a:solidFill>
            <a:srgbClr val="FFFBF0"/>
          </a:solidFill>
          <a:ln w="15875">
            <a:solidFill>
              <a:srgbClr val="D9CDB0"/>
            </a:solidFill>
          </a:ln>
        </p:spPr>
        <p:txBody>
          <a:bodyPr wrap="square" lIns="76200" tIns="76200" rIns="76200" bIns="76200" rtlCol="0" anchor="ctr"/>
          <a:lstStyle/>
          <a:p>
            <a:pPr marL="0" indent="0" algn="ctr">
              <a:buNone/>
            </a:pPr>
            <a:r>
              <a:rPr lang="en-US" sz="1500" dirty="0">
                <a:solidFill>
                  <a:srgbClr val="2A2314"/>
                </a:solidFill>
                <a:latin typeface="Malgun Gothic" pitchFamily="34" charset="0"/>
                <a:ea typeface="Malgun Gothic" pitchFamily="34" charset="-122"/>
                <a:cs typeface="Malgun Gothic" pitchFamily="34" charset="-120"/>
              </a:rPr>
              <a:t>교사 화면 입력칸</a:t>
            </a:r>
            <a:endParaRPr lang="en-US" sz="1500" dirty="0"/>
          </a:p>
          <a:p>
            <a:pPr marL="0" indent="0" algn="ctr">
              <a:buNone/>
            </a:pPr>
            <a:r>
              <a:rPr lang="en-US" sz="1500" dirty="0">
                <a:solidFill>
                  <a:srgbClr val="2A2314"/>
                </a:solidFill>
                <a:latin typeface="Malgun Gothic" pitchFamily="34" charset="0"/>
                <a:ea typeface="Malgun Gothic" pitchFamily="34" charset="-122"/>
                <a:cs typeface="Malgun Gothic" pitchFamily="34" charset="-120"/>
              </a:rPr>
              <a:t>(초안만 돌려줌,</a:t>
            </a:r>
            <a:endParaRPr lang="en-US" sz="1500" dirty="0"/>
          </a:p>
          <a:p>
            <a:pPr marL="0" indent="0" algn="ctr">
              <a:buNone/>
            </a:pPr>
            <a:r>
              <a:rPr lang="en-US" sz="1500" dirty="0">
                <a:solidFill>
                  <a:srgbClr val="2A2314"/>
                </a:solidFill>
                <a:latin typeface="Malgun Gothic" pitchFamily="34" charset="0"/>
                <a:ea typeface="Malgun Gothic" pitchFamily="34" charset="-122"/>
                <a:cs typeface="Malgun Gothic" pitchFamily="34" charset="-120"/>
              </a:rPr>
              <a:t>저장 안 함)</a:t>
            </a:r>
            <a:endParaRPr lang="en-US" sz="1500" dirty="0"/>
          </a:p>
        </p:txBody>
      </p:sp>
      <p:sp>
        <p:nvSpPr>
          <p:cNvPr id="16" name="Shape 13"/>
          <p:cNvSpPr/>
          <p:nvPr/>
        </p:nvSpPr>
        <p:spPr>
          <a:xfrm>
            <a:off x="9363456" y="4242816"/>
            <a:ext cx="274320" cy="292608"/>
          </a:xfrm>
          <a:prstGeom prst="rightArrow">
            <a:avLst/>
          </a:prstGeom>
          <a:solidFill>
            <a:srgbClr val="6B5E45"/>
          </a:solidFill>
          <a:ln w="12700">
            <a:solidFill>
              <a:srgbClr val="6B5E45"/>
            </a:solidFill>
            <a:prstDash val="solid"/>
          </a:ln>
        </p:spPr>
        <p:txBody>
          <a:bodyPr/>
          <a:lstStyle/>
          <a:p>
            <a:endParaRPr lang="ko-KR" altLang="en-US"/>
          </a:p>
        </p:txBody>
      </p:sp>
      <p:sp>
        <p:nvSpPr>
          <p:cNvPr id="17" name="Text 14"/>
          <p:cNvSpPr/>
          <p:nvPr/>
        </p:nvSpPr>
        <p:spPr>
          <a:xfrm>
            <a:off x="9637776" y="3657600"/>
            <a:ext cx="1975104" cy="1463040"/>
          </a:xfrm>
          <a:prstGeom prst="roundRect">
            <a:avLst>
              <a:gd name="adj" fmla="val 7500"/>
            </a:avLst>
          </a:prstGeom>
          <a:solidFill>
            <a:srgbClr val="F3DDD6"/>
          </a:solidFill>
          <a:ln w="25400">
            <a:solidFill>
              <a:srgbClr val="B0402C"/>
            </a:solidFill>
          </a:ln>
        </p:spPr>
        <p:txBody>
          <a:bodyPr wrap="square" lIns="76200" tIns="76200" rIns="76200" bIns="76200" rtlCol="0" anchor="ctr"/>
          <a:lstStyle/>
          <a:p>
            <a:pPr marL="0" indent="0" algn="ctr">
              <a:buNone/>
            </a:pPr>
            <a:r>
              <a:rPr lang="en-US" sz="1500" b="1" dirty="0">
                <a:solidFill>
                  <a:srgbClr val="2A2314"/>
                </a:solidFill>
                <a:latin typeface="Malgun Gothic" pitchFamily="34" charset="0"/>
                <a:ea typeface="Malgun Gothic" pitchFamily="34" charset="-122"/>
                <a:cs typeface="Malgun Gothic" pitchFamily="34" charset="-120"/>
              </a:rPr>
              <a:t>교사가 검토 후 저장</a:t>
            </a:r>
            <a:endParaRPr lang="en-US" sz="1500" dirty="0"/>
          </a:p>
          <a:p>
            <a:pPr marL="0" indent="0" algn="ctr">
              <a:buNone/>
            </a:pPr>
            <a:r>
              <a:rPr lang="en-US" sz="1500" b="1" dirty="0">
                <a:solidFill>
                  <a:srgbClr val="2A2314"/>
                </a:solidFill>
                <a:latin typeface="Malgun Gothic" pitchFamily="34" charset="0"/>
                <a:ea typeface="Malgun Gothic" pitchFamily="34" charset="-122"/>
                <a:cs typeface="Malgun Gothic" pitchFamily="34" charset="-120"/>
              </a:rPr>
              <a:t>(Firestore feedback)</a:t>
            </a:r>
            <a:endParaRPr lang="en-US" sz="1500" dirty="0"/>
          </a:p>
          <a:p>
            <a:pPr marL="0" indent="0" algn="ctr">
              <a:buNone/>
            </a:pPr>
            <a:r>
              <a:rPr lang="en-US" sz="1500" b="1" dirty="0">
                <a:solidFill>
                  <a:srgbClr val="2A2314"/>
                </a:solidFill>
                <a:latin typeface="Malgun Gothic" pitchFamily="34" charset="0"/>
                <a:ea typeface="Malgun Gothic" pitchFamily="34" charset="-122"/>
                <a:cs typeface="Malgun Gothic" pitchFamily="34" charset="-120"/>
              </a:rPr>
              <a:t>교사 확인</a:t>
            </a:r>
            <a:endParaRPr lang="en-US" sz="1500" dirty="0"/>
          </a:p>
        </p:txBody>
      </p:sp>
      <p:sp>
        <p:nvSpPr>
          <p:cNvPr id="18" name="Text 15"/>
          <p:cNvSpPr/>
          <p:nvPr/>
        </p:nvSpPr>
        <p:spPr>
          <a:xfrm>
            <a:off x="2880360" y="3246120"/>
            <a:ext cx="2194560" cy="365760"/>
          </a:xfrm>
          <a:prstGeom prst="roundRect">
            <a:avLst>
              <a:gd name="adj" fmla="val 25000"/>
            </a:avLst>
          </a:prstGeom>
          <a:solidFill>
            <a:srgbClr val="2A2314"/>
          </a:solidFill>
          <a:ln/>
        </p:spPr>
        <p:txBody>
          <a:bodyPr wrap="square" lIns="25400" tIns="25400" rIns="25400" bIns="2540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API 키는 여기만</a:t>
            </a:r>
            <a:endParaRPr lang="en-US" sz="1400" dirty="0"/>
          </a:p>
        </p:txBody>
      </p:sp>
      <p:sp>
        <p:nvSpPr>
          <p:cNvPr id="19" name="Text 16"/>
          <p:cNvSpPr txBox="1"/>
          <p:nvPr/>
        </p:nvSpPr>
        <p:spPr>
          <a:xfrm>
            <a:off x="640080" y="5349240"/>
            <a:ext cx="7315200" cy="457200"/>
          </a:xfrm>
          <a:prstGeom prst="rect">
            <a:avLst/>
          </a:prstGeom>
          <a:noFill/>
          <a:ln/>
        </p:spPr>
        <p:txBody>
          <a:bodyPr wrap="square" lIns="0" tIns="0" rIns="0" bIns="0" rtlCol="0" anchor="ctr"/>
          <a:lstStyle/>
          <a:p>
            <a:pPr marL="0" indent="0">
              <a:buNone/>
            </a:pPr>
            <a:r>
              <a:rPr lang="en-US" sz="1800" b="1" dirty="0">
                <a:solidFill>
                  <a:srgbClr val="2A2314"/>
                </a:solidFill>
                <a:latin typeface="Malgun Gothic" pitchFamily="34" charset="0"/>
                <a:ea typeface="Malgun Gothic" pitchFamily="34" charset="-122"/>
                <a:cs typeface="Malgun Gothic" pitchFamily="34" charset="-120"/>
              </a:rPr>
              <a:t>함수는 Firestore에 직접 쓰지 않는다</a:t>
            </a:r>
            <a:endParaRPr lang="en-US" sz="1800" dirty="0"/>
          </a:p>
        </p:txBody>
      </p:sp>
      <p:sp>
        <p:nvSpPr>
          <p:cNvPr id="20" name="Text 17"/>
          <p:cNvSpPr/>
          <p:nvPr/>
        </p:nvSpPr>
        <p:spPr>
          <a:xfrm>
            <a:off x="8412480" y="5303520"/>
            <a:ext cx="3108960" cy="868680"/>
          </a:xfrm>
          <a:prstGeom prst="rect">
            <a:avLst/>
          </a:prstGeom>
          <a:solidFill>
            <a:srgbClr val="FFF1CC"/>
          </a:solidFill>
          <a:ln w="25400">
            <a:solidFill>
              <a:srgbClr val="B0402C"/>
            </a:solidFill>
            <a:prstDash val="dash"/>
          </a:ln>
        </p:spPr>
        <p:txBody>
          <a:bodyPr wrap="square" lIns="76200" tIns="76200" rIns="76200" bIns="76200" rtlCol="0" anchor="ctr"/>
          <a:lstStyle/>
          <a:p>
            <a:pPr marL="0" indent="0" algn="ctr">
              <a:buNone/>
            </a:pPr>
            <a:r>
              <a:rPr lang="en-US" sz="1400" b="1" dirty="0">
                <a:solidFill>
                  <a:srgbClr val="B0402C"/>
                </a:solidFill>
                <a:latin typeface="Malgun Gothic" pitchFamily="34" charset="0"/>
                <a:ea typeface="Malgun Gothic" pitchFamily="34" charset="-122"/>
                <a:cs typeface="Malgun Gothic" pitchFamily="34" charset="-120"/>
              </a:rPr>
              <a:t>[QR/링크 자리: 연수 후 과제 프롬프트]</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6 · 개인별 맞춤 피드백</a:t>
            </a:r>
            <a:endParaRPr lang="en-US" sz="1600" dirty="0"/>
          </a:p>
        </p:txBody>
      </p:sp>
      <p:sp>
        <p:nvSpPr>
          <p:cNvPr id="3" name="Text 1"/>
          <p:cNvSpPr/>
          <p:nvPr/>
        </p:nvSpPr>
        <p:spPr>
          <a:xfrm>
            <a:off x="5394960" y="274320"/>
            <a:ext cx="822960" cy="329184"/>
          </a:xfrm>
          <a:prstGeom prst="roundRect">
            <a:avLst>
              <a:gd name="adj" fmla="val 50000"/>
            </a:avLst>
          </a:prstGeom>
          <a:solidFill>
            <a:srgbClr val="6B5E45"/>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정리</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AI를 쓸 때 지킬 것, 그리고 복구 지점</a:t>
            </a:r>
            <a:endParaRPr lang="en-US" sz="3600" dirty="0"/>
          </a:p>
        </p:txBody>
      </p:sp>
      <p:sp>
        <p:nvSpPr>
          <p:cNvPr id="6" name="Text 3"/>
          <p:cNvSpPr txBox="1"/>
          <p:nvPr/>
        </p:nvSpPr>
        <p:spPr>
          <a:xfrm>
            <a:off x="548640" y="1554480"/>
            <a:ext cx="11064240" cy="192024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교사가 반드시 검토한 뒤 전달한다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학생 이름·이메일 등 개인정보는 최소한만 AI에 보낸다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막혔다면 checkpoint-m6에서 이어가기</a:t>
            </a:r>
            <a:endParaRPr lang="en-US" sz="2400" dirty="0"/>
          </a:p>
        </p:txBody>
      </p:sp>
      <p:sp>
        <p:nvSpPr>
          <p:cNvPr id="7" name="Shape 4"/>
          <p:cNvSpPr/>
          <p:nvPr/>
        </p:nvSpPr>
        <p:spPr>
          <a:xfrm>
            <a:off x="548640" y="3913632"/>
            <a:ext cx="292608" cy="292608"/>
          </a:xfrm>
          <a:prstGeom prst="rect">
            <a:avLst/>
          </a:prstGeom>
          <a:solidFill>
            <a:srgbClr val="FFFBF0"/>
          </a:solidFill>
          <a:ln w="25400">
            <a:solidFill>
              <a:srgbClr val="B0402C"/>
            </a:solidFill>
            <a:prstDash val="solid"/>
          </a:ln>
        </p:spPr>
        <p:txBody>
          <a:bodyPr/>
          <a:lstStyle/>
          <a:p>
            <a:endParaRPr lang="ko-KR" altLang="en-US"/>
          </a:p>
        </p:txBody>
      </p:sp>
      <p:sp>
        <p:nvSpPr>
          <p:cNvPr id="8" name="Text 5"/>
          <p:cNvSpPr txBox="1"/>
          <p:nvPr/>
        </p:nvSpPr>
        <p:spPr>
          <a:xfrm>
            <a:off x="960120" y="3840480"/>
            <a:ext cx="6903720" cy="457200"/>
          </a:xfrm>
          <a:prstGeom prst="rect">
            <a:avLst/>
          </a:prstGeom>
          <a:noFill/>
          <a:ln/>
        </p:spPr>
        <p:txBody>
          <a:bodyPr wrap="square" lIns="0" tIns="0" rIns="0" bIns="0" rtlCol="0" anchor="ctr"/>
          <a:lstStyle/>
          <a:p>
            <a:pPr marL="0" indent="0">
              <a:buNone/>
            </a:pPr>
            <a:r>
              <a:rPr lang="en-US" sz="2200" dirty="0">
                <a:solidFill>
                  <a:srgbClr val="2A2314"/>
                </a:solidFill>
                <a:latin typeface="Malgun Gothic" pitchFamily="34" charset="0"/>
                <a:ea typeface="Malgun Gothic" pitchFamily="34" charset="-122"/>
                <a:cs typeface="Malgun Gothic" pitchFamily="34" charset="-120"/>
              </a:rPr>
              <a:t>교사 검토 필수</a:t>
            </a:r>
            <a:endParaRPr lang="en-US" sz="2200" dirty="0"/>
          </a:p>
        </p:txBody>
      </p:sp>
      <p:sp>
        <p:nvSpPr>
          <p:cNvPr id="9" name="Shape 6"/>
          <p:cNvSpPr/>
          <p:nvPr/>
        </p:nvSpPr>
        <p:spPr>
          <a:xfrm>
            <a:off x="548640" y="4599432"/>
            <a:ext cx="292608" cy="292608"/>
          </a:xfrm>
          <a:prstGeom prst="rect">
            <a:avLst/>
          </a:prstGeom>
          <a:solidFill>
            <a:srgbClr val="FFFBF0"/>
          </a:solidFill>
          <a:ln w="25400">
            <a:solidFill>
              <a:srgbClr val="B0402C"/>
            </a:solidFill>
            <a:prstDash val="solid"/>
          </a:ln>
        </p:spPr>
        <p:txBody>
          <a:bodyPr/>
          <a:lstStyle/>
          <a:p>
            <a:endParaRPr lang="ko-KR" altLang="en-US"/>
          </a:p>
        </p:txBody>
      </p:sp>
      <p:sp>
        <p:nvSpPr>
          <p:cNvPr id="10" name="Text 7"/>
          <p:cNvSpPr txBox="1"/>
          <p:nvPr/>
        </p:nvSpPr>
        <p:spPr>
          <a:xfrm>
            <a:off x="960120" y="4526280"/>
            <a:ext cx="6903720" cy="457200"/>
          </a:xfrm>
          <a:prstGeom prst="rect">
            <a:avLst/>
          </a:prstGeom>
          <a:noFill/>
          <a:ln/>
        </p:spPr>
        <p:txBody>
          <a:bodyPr wrap="square" lIns="0" tIns="0" rIns="0" bIns="0" rtlCol="0" anchor="ctr"/>
          <a:lstStyle/>
          <a:p>
            <a:pPr marL="0" indent="0">
              <a:buNone/>
            </a:pPr>
            <a:r>
              <a:rPr lang="en-US" sz="2200" dirty="0">
                <a:solidFill>
                  <a:srgbClr val="2A2314"/>
                </a:solidFill>
                <a:latin typeface="Malgun Gothic" pitchFamily="34" charset="0"/>
                <a:ea typeface="Malgun Gothic" pitchFamily="34" charset="-122"/>
                <a:cs typeface="Malgun Gothic" pitchFamily="34" charset="-120"/>
              </a:rPr>
              <a:t>개인정보 최소 전달 (이름 대신 번호 등)</a:t>
            </a:r>
            <a:endParaRPr lang="en-US" sz="2200" dirty="0"/>
          </a:p>
        </p:txBody>
      </p:sp>
      <p:sp>
        <p:nvSpPr>
          <p:cNvPr id="11" name="Shape 8"/>
          <p:cNvSpPr/>
          <p:nvPr/>
        </p:nvSpPr>
        <p:spPr>
          <a:xfrm>
            <a:off x="548640" y="5285232"/>
            <a:ext cx="292608" cy="292608"/>
          </a:xfrm>
          <a:prstGeom prst="rect">
            <a:avLst/>
          </a:prstGeom>
          <a:solidFill>
            <a:srgbClr val="FFFBF0"/>
          </a:solidFill>
          <a:ln w="25400">
            <a:solidFill>
              <a:srgbClr val="B0402C"/>
            </a:solidFill>
            <a:prstDash val="solid"/>
          </a:ln>
        </p:spPr>
        <p:txBody>
          <a:bodyPr/>
          <a:lstStyle/>
          <a:p>
            <a:endParaRPr lang="ko-KR" altLang="en-US"/>
          </a:p>
        </p:txBody>
      </p:sp>
      <p:sp>
        <p:nvSpPr>
          <p:cNvPr id="12" name="Text 9"/>
          <p:cNvSpPr txBox="1"/>
          <p:nvPr/>
        </p:nvSpPr>
        <p:spPr>
          <a:xfrm>
            <a:off x="960120" y="5212080"/>
            <a:ext cx="6903720" cy="457200"/>
          </a:xfrm>
          <a:prstGeom prst="rect">
            <a:avLst/>
          </a:prstGeom>
          <a:noFill/>
          <a:ln/>
        </p:spPr>
        <p:txBody>
          <a:bodyPr wrap="square" lIns="0" tIns="0" rIns="0" bIns="0" rtlCol="0" anchor="ctr"/>
          <a:lstStyle/>
          <a:p>
            <a:pPr marL="0" indent="0">
              <a:buNone/>
            </a:pPr>
            <a:r>
              <a:rPr lang="en-US" sz="2200" dirty="0">
                <a:solidFill>
                  <a:srgbClr val="2A2314"/>
                </a:solidFill>
                <a:latin typeface="Malgun Gothic" pitchFamily="34" charset="0"/>
                <a:ea typeface="Malgun Gothic" pitchFamily="34" charset="-122"/>
                <a:cs typeface="Malgun Gothic" pitchFamily="34" charset="-120"/>
              </a:rPr>
              <a:t>기관 지침 확인</a:t>
            </a:r>
            <a:endParaRPr lang="en-US" sz="2200" dirty="0"/>
          </a:p>
        </p:txBody>
      </p:sp>
      <p:sp>
        <p:nvSpPr>
          <p:cNvPr id="13" name="Text 10"/>
          <p:cNvSpPr/>
          <p:nvPr/>
        </p:nvSpPr>
        <p:spPr>
          <a:xfrm>
            <a:off x="8503920" y="4023360"/>
            <a:ext cx="3108960" cy="685800"/>
          </a:xfrm>
          <a:prstGeom prst="roundRect">
            <a:avLst>
              <a:gd name="adj" fmla="val 10667"/>
            </a:avLst>
          </a:prstGeom>
          <a:solidFill>
            <a:srgbClr val="FFF1CC"/>
          </a:solidFill>
          <a:ln w="19050">
            <a:solidFill>
              <a:srgbClr val="C9A24A"/>
            </a:solidFill>
          </a:ln>
        </p:spPr>
        <p:txBody>
          <a:bodyPr wrap="square" lIns="25400" tIns="25400" rIns="25400" bIns="25400" rtlCol="0" anchor="ctr"/>
          <a:lstStyle/>
          <a:p>
            <a:pPr marL="0" indent="0" algn="ctr">
              <a:buNone/>
            </a:pPr>
            <a:r>
              <a:rPr lang="en-US" sz="1600" b="1" dirty="0">
                <a:solidFill>
                  <a:srgbClr val="2A2314"/>
                </a:solidFill>
                <a:latin typeface="Consolas" pitchFamily="34" charset="0"/>
                <a:ea typeface="Consolas" pitchFamily="34" charset="-122"/>
                <a:cs typeface="Consolas" pitchFamily="34" charset="-120"/>
              </a:rPr>
              <a:t>checkpoint-m6</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7 · 배포·보안 규칙·마무리</a:t>
            </a:r>
            <a:endParaRPr lang="en-US" sz="1600" dirty="0"/>
          </a:p>
        </p:txBody>
      </p:sp>
      <p:sp>
        <p:nvSpPr>
          <p:cNvPr id="3" name="Text 1"/>
          <p:cNvSpPr/>
          <p:nvPr/>
        </p:nvSpPr>
        <p:spPr>
          <a:xfrm>
            <a:off x="5394960" y="274320"/>
            <a:ext cx="822960" cy="329184"/>
          </a:xfrm>
          <a:prstGeom prst="roundRect">
            <a:avLst>
              <a:gd name="adj" fmla="val 50000"/>
            </a:avLst>
          </a:prstGeom>
          <a:solidFill>
            <a:srgbClr val="356E67"/>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개념</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보안 규칙 = 교무실 출입 규칙</a:t>
            </a:r>
            <a:endParaRPr lang="en-US" sz="3600" dirty="0"/>
          </a:p>
        </p:txBody>
      </p:sp>
      <p:sp>
        <p:nvSpPr>
          <p:cNvPr id="6" name="Text 3"/>
          <p:cNvSpPr txBox="1"/>
          <p:nvPr/>
        </p:nvSpPr>
        <p:spPr>
          <a:xfrm>
            <a:off x="548640" y="1508760"/>
            <a:ext cx="11064240" cy="182880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누가 어떤 서류함을 열 수 있는지 규칙이 정한다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지금까지의 5가지 원칙을 오늘 한 번에 걸어 잠근다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화면 버튼을 숨기는 것은 안전이 아니다</a:t>
            </a:r>
            <a:endParaRPr lang="en-US" sz="24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3200400"/>
          <a:ext cx="11064240" cy="914400"/>
        </p:xfrm>
        <a:graphic>
          <a:graphicData uri="http://schemas.openxmlformats.org/drawingml/2006/table">
            <a:tbl>
              <a:tblPr/>
              <a:tblGrid>
                <a:gridCol w="51206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420624">
                <a:tc>
                  <a:txBody>
                    <a:bodyPr/>
                    <a:lstStyle/>
                    <a:p>
                      <a:pPr marL="0" indent="0" algn="l">
                        <a:buNone/>
                      </a:pPr>
                      <a:r>
                        <a:rPr lang="en-US" sz="1500" b="1" dirty="0">
                          <a:solidFill>
                            <a:srgbClr val="FFFFFF"/>
                          </a:solidFill>
                          <a:latin typeface="Malgun Gothic" pitchFamily="34" charset="0"/>
                          <a:ea typeface="Malgun Gothic" pitchFamily="34" charset="-122"/>
                          <a:cs typeface="Malgun Gothic" pitchFamily="34" charset="-120"/>
                        </a:rPr>
                        <a:t>원칙</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356E67"/>
                    </a:solidFill>
                  </a:tcPr>
                </a:tc>
                <a:tc>
                  <a:txBody>
                    <a:bodyPr/>
                    <a:lstStyle/>
                    <a:p>
                      <a:pPr marL="0" indent="0" algn="l">
                        <a:buNone/>
                      </a:pPr>
                      <a:r>
                        <a:rPr lang="en-US" sz="1500" b="1" dirty="0">
                          <a:solidFill>
                            <a:srgbClr val="FFFFFF"/>
                          </a:solidFill>
                          <a:latin typeface="Malgun Gothic" pitchFamily="34" charset="0"/>
                          <a:ea typeface="Malgun Gothic" pitchFamily="34" charset="-122"/>
                          <a:cs typeface="Malgun Gothic" pitchFamily="34" charset="-120"/>
                        </a:rPr>
                        <a:t>한 줄 뜻</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356E67"/>
                    </a:solidFill>
                  </a:tcPr>
                </a:tc>
                <a:tc>
                  <a:txBody>
                    <a:bodyPr/>
                    <a:lstStyle/>
                    <a:p>
                      <a:pPr marL="0" indent="0" algn="l">
                        <a:buNone/>
                      </a:pPr>
                      <a:r>
                        <a:rPr lang="en-US" sz="1500" b="1" dirty="0">
                          <a:solidFill>
                            <a:srgbClr val="FFFFFF"/>
                          </a:solidFill>
                          <a:latin typeface="Malgun Gothic" pitchFamily="34" charset="0"/>
                          <a:ea typeface="Malgun Gothic" pitchFamily="34" charset="-122"/>
                          <a:cs typeface="Malgun Gothic" pitchFamily="34" charset="-120"/>
                        </a:rPr>
                        <a:t>처음 만난 곳</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356E67"/>
                    </a:solidFill>
                  </a:tcPr>
                </a:tc>
                <a:extLst>
                  <a:ext uri="{0D108BD9-81ED-4DB2-BD59-A6C34878D82A}">
                    <a16:rowId xmlns:a16="http://schemas.microsoft.com/office/drawing/2014/main" val="10000"/>
                  </a:ext>
                </a:extLst>
              </a:tr>
              <a:tr h="420624">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1 가입한 수업 자료만 읽는다</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열쇠 없으면 교실 못 들어감</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슬라이드 28</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extLst>
                  <a:ext uri="{0D108BD9-81ED-4DB2-BD59-A6C34878D82A}">
                    <a16:rowId xmlns:a16="http://schemas.microsoft.com/office/drawing/2014/main" val="10001"/>
                  </a:ext>
                </a:extLst>
              </a:tr>
              <a:tr h="420624">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2 내 제출물만 읽고 쓴다</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내 답안지만 열람</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슬라이드 34, 41</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extLst>
                  <a:ext uri="{0D108BD9-81ED-4DB2-BD59-A6C34878D82A}">
                    <a16:rowId xmlns:a16="http://schemas.microsoft.com/office/drawing/2014/main" val="10002"/>
                  </a:ext>
                </a:extLst>
              </a:tr>
              <a:tr h="420624">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3 수업·자료·학습지 작성은 그 수업 교사만</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교사만 교실을 꾸밈</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슬라이드 20</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extLst>
                  <a:ext uri="{0D108BD9-81ED-4DB2-BD59-A6C34878D82A}">
                    <a16:rowId xmlns:a16="http://schemas.microsoft.com/office/drawing/2014/main" val="10003"/>
                  </a:ext>
                </a:extLst>
              </a:tr>
              <a:tr h="420624">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4 수업코드를 아는 사람만 1건, 전체 목록은 못 본다</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열쇠로 문 하나만 열기</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슬라이드 20</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extLst>
                  <a:ext uri="{0D108BD9-81ED-4DB2-BD59-A6C34878D82A}">
                    <a16:rowId xmlns:a16="http://schemas.microsoft.com/office/drawing/2014/main" val="10004"/>
                  </a:ext>
                </a:extLst>
              </a:tr>
              <a:tr h="420624">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5 교사 HTML은 sandbox iframe으로</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유리 진열장</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슬라이드 28</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extLst>
                  <a:ext uri="{0D108BD9-81ED-4DB2-BD59-A6C34878D82A}">
                    <a16:rowId xmlns:a16="http://schemas.microsoft.com/office/drawing/2014/main" val="10005"/>
                  </a:ext>
                </a:extLst>
              </a:tr>
            </a:tbl>
          </a:graphicData>
        </a:graphic>
      </p:graphicFrame>
      <p:sp>
        <p:nvSpPr>
          <p:cNvPr id="8" name="Text 4"/>
          <p:cNvSpPr txBox="1"/>
          <p:nvPr/>
        </p:nvSpPr>
        <p:spPr>
          <a:xfrm>
            <a:off x="548640" y="5943600"/>
            <a:ext cx="11064240" cy="365760"/>
          </a:xfrm>
          <a:prstGeom prst="rect">
            <a:avLst/>
          </a:prstGeom>
          <a:noFill/>
          <a:ln/>
        </p:spPr>
        <p:txBody>
          <a:bodyPr wrap="square" lIns="0" tIns="0" rIns="0" bIns="0" rtlCol="0" anchor="ctr"/>
          <a:lstStyle/>
          <a:p>
            <a:pPr marL="0" indent="0">
              <a:buNone/>
            </a:pPr>
            <a:r>
              <a:rPr lang="en-US" sz="1600" b="1" dirty="0">
                <a:solidFill>
                  <a:srgbClr val="B0402C"/>
                </a:solidFill>
                <a:latin typeface="Malgun Gothic" pitchFamily="34" charset="0"/>
                <a:ea typeface="Malgun Gothic" pitchFamily="34" charset="-122"/>
                <a:cs typeface="Malgun Gothic" pitchFamily="34" charset="-120"/>
              </a:rPr>
              <a:t>원칙 1–4는 규칙(서버 쪽)이, 원칙 5는 화면(iframe)이 지킨다</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7 · 배포·보안 규칙·마무리</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5원칙을 문장으로 주고 규칙 파일 만들기</a:t>
            </a:r>
            <a:endParaRPr lang="en-US" sz="3600" dirty="0"/>
          </a:p>
        </p:txBody>
      </p:sp>
      <p:sp>
        <p:nvSpPr>
          <p:cNvPr id="6" name="Text 3"/>
          <p:cNvSpPr txBox="1"/>
          <p:nvPr/>
        </p:nvSpPr>
        <p:spPr>
          <a:xfrm>
            <a:off x="548640" y="1508760"/>
            <a:ext cx="11064240" cy="137160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보안 규칙 파일(firestore.rules)도 Claude Code가 쓴다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줄마다 몇 번 원칙인지 설명을 요청한다. 경로는 데이터 모델과 같아야 한다</a:t>
            </a:r>
            <a:endParaRPr lang="en-US" sz="2400" dirty="0"/>
          </a:p>
        </p:txBody>
      </p:sp>
      <p:sp>
        <p:nvSpPr>
          <p:cNvPr id="7" name="Text 4"/>
          <p:cNvSpPr txBox="1"/>
          <p:nvPr/>
        </p:nvSpPr>
        <p:spPr>
          <a:xfrm>
            <a:off x="548640" y="2770632"/>
            <a:ext cx="11064240" cy="274320"/>
          </a:xfrm>
          <a:prstGeom prst="rect">
            <a:avLst/>
          </a:prstGeom>
          <a:noFill/>
          <a:ln/>
        </p:spPr>
        <p:txBody>
          <a:bodyPr wrap="square" lIns="0" tIns="0" rIns="0" bIns="0" rtlCol="0" anchor="ctr"/>
          <a:lstStyle/>
          <a:p>
            <a:pPr marL="0" indent="0">
              <a:buNone/>
            </a:pPr>
            <a:r>
              <a:rPr lang="en-US" sz="1400" dirty="0">
                <a:solidFill>
                  <a:srgbClr val="6B5E45"/>
                </a:solidFill>
                <a:latin typeface="Malgun Gothic" pitchFamily="34" charset="0"/>
                <a:ea typeface="Malgun Gothic" pitchFamily="34" charset="-122"/>
                <a:cs typeface="Malgun Gothic" pitchFamily="34" charset="-120"/>
              </a:rPr>
              <a:t>프롬프트 핵심 (전문은 발표자 노트)</a:t>
            </a:r>
            <a:endParaRPr lang="en-US" sz="1400" dirty="0"/>
          </a:p>
        </p:txBody>
      </p:sp>
      <p:sp>
        <p:nvSpPr>
          <p:cNvPr id="8" name="Shape 5"/>
          <p:cNvSpPr/>
          <p:nvPr/>
        </p:nvSpPr>
        <p:spPr>
          <a:xfrm>
            <a:off x="548640" y="3063240"/>
            <a:ext cx="11064240" cy="2606040"/>
          </a:xfrm>
          <a:prstGeom prst="roundRect">
            <a:avLst>
              <a:gd name="adj" fmla="val 3509"/>
            </a:avLst>
          </a:prstGeom>
          <a:solidFill>
            <a:srgbClr val="2A2314"/>
          </a:solidFill>
          <a:ln w="12700">
            <a:solidFill>
              <a:srgbClr val="2A2314"/>
            </a:solidFill>
            <a:prstDash val="solid"/>
          </a:ln>
        </p:spPr>
        <p:txBody>
          <a:bodyPr/>
          <a:lstStyle/>
          <a:p>
            <a:endParaRPr lang="ko-KR" altLang="en-US"/>
          </a:p>
        </p:txBody>
      </p:sp>
      <p:sp>
        <p:nvSpPr>
          <p:cNvPr id="9" name="Text 6"/>
          <p:cNvSpPr txBox="1"/>
          <p:nvPr/>
        </p:nvSpPr>
        <p:spPr>
          <a:xfrm>
            <a:off x="731520" y="3154680"/>
            <a:ext cx="10698480" cy="2423160"/>
          </a:xfrm>
          <a:prstGeom prst="rect">
            <a:avLst/>
          </a:prstGeom>
          <a:noFill/>
          <a:ln/>
        </p:spPr>
        <p:txBody>
          <a:bodyPr wrap="square" lIns="0" tIns="0" rIns="0" bIns="0" rtlCol="0" anchor="t"/>
          <a:lstStyle/>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firestore.rules를 새로 작성해 줘. 기존 임시 규칙은 지우고, 기본은 모두 거부.</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경로는 이 이름 그대로: users, classes, members, materials, worksheets, submissions</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원칙 1  가입한 수업의 자료·학습지만 읽는다</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원칙 2  내 제출물만 읽고 쓴다 (학생은 feedback을 못 고침)</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원칙 3  작성은 그 수업의 teacherUid만 (role은 수업을 만들 때만 확인)</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원칙 4  목록은 내 수업만, 코드를 알면 1건 get과 가입은 허용</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원칙 5  규칙이 아니라 화면 일: iframe의 sandbox 확인만</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각 줄 위에 "이 줄은 원칙 N번" 주석 + 마지막에 대응표</a:t>
            </a:r>
            <a:endParaRPr lang="en-US" sz="1500" dirty="0"/>
          </a:p>
        </p:txBody>
      </p:sp>
      <p:sp>
        <p:nvSpPr>
          <p:cNvPr id="10" name="Text 7"/>
          <p:cNvSpPr txBox="1"/>
          <p:nvPr/>
        </p:nvSpPr>
        <p:spPr>
          <a:xfrm>
            <a:off x="548640" y="5852160"/>
            <a:ext cx="11064240" cy="457200"/>
          </a:xfrm>
          <a:prstGeom prst="rect">
            <a:avLst/>
          </a:prstGeom>
          <a:noFill/>
          <a:ln/>
        </p:spPr>
        <p:txBody>
          <a:bodyPr wrap="square" lIns="0" tIns="0" rIns="0" bIns="0" rtlCol="0" anchor="ctr"/>
          <a:lstStyle/>
          <a:p>
            <a:pPr marL="0" indent="0">
              <a:buNone/>
            </a:pPr>
            <a:r>
              <a:rPr lang="en-US" sz="1600" b="1" dirty="0">
                <a:solidFill>
                  <a:srgbClr val="B0402C"/>
                </a:solidFill>
                <a:latin typeface="Malgun Gothic" pitchFamily="34" charset="0"/>
                <a:ea typeface="Malgun Gothic" pitchFamily="34" charset="-122"/>
                <a:cs typeface="Malgun Gothic" pitchFamily="34" charset="-120"/>
              </a:rPr>
              <a:t>막힐 때  </a:t>
            </a:r>
            <a:r>
              <a:rPr lang="en-US" sz="1600" dirty="0">
                <a:solidFill>
                  <a:srgbClr val="2A2314"/>
                </a:solidFill>
                <a:latin typeface="Malgun Gothic" pitchFamily="34" charset="0"/>
                <a:ea typeface="Malgun Gothic" pitchFamily="34" charset="-122"/>
                <a:cs typeface="Malgun Gothic" pitchFamily="34" charset="-120"/>
              </a:rPr>
              <a:t>role == teacher 줄이 수업 만들기 말고 다른 곳에 있으면 "권한은 teacherUid로 판단하도록 고쳐 줘"</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7 · 배포·보안 규칙·마무리</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규칙과 웹사이트를 인터넷에 올리기</a:t>
            </a:r>
            <a:endParaRPr lang="en-US" sz="3600" dirty="0"/>
          </a:p>
        </p:txBody>
      </p:sp>
      <p:sp>
        <p:nvSpPr>
          <p:cNvPr id="6" name="Text 3"/>
          <p:cNvSpPr txBox="1"/>
          <p:nvPr/>
        </p:nvSpPr>
        <p:spPr>
          <a:xfrm>
            <a:off x="548640" y="1554480"/>
            <a:ext cx="11064240" cy="182880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규칙 배포 = 출입 규칙을 교무실 문에 붙이는 일</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Hosting 배포 = 우리 클래스룸을 학교 게시판에 올리는 일</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끝나면 누구나 열 수 있는 공개 주소가 생긴다</a:t>
            </a:r>
            <a:endParaRPr lang="en-US" sz="2400" dirty="0"/>
          </a:p>
        </p:txBody>
      </p:sp>
      <p:sp>
        <p:nvSpPr>
          <p:cNvPr id="7" name="Text 4"/>
          <p:cNvSpPr txBox="1"/>
          <p:nvPr/>
        </p:nvSpPr>
        <p:spPr>
          <a:xfrm>
            <a:off x="548640" y="3364992"/>
            <a:ext cx="11064240" cy="274320"/>
          </a:xfrm>
          <a:prstGeom prst="rect">
            <a:avLst/>
          </a:prstGeom>
          <a:noFill/>
          <a:ln/>
        </p:spPr>
        <p:txBody>
          <a:bodyPr wrap="square" lIns="0" tIns="0" rIns="0" bIns="0" rtlCol="0" anchor="ctr"/>
          <a:lstStyle/>
          <a:p>
            <a:pPr marL="0" indent="0">
              <a:buNone/>
            </a:pPr>
            <a:r>
              <a:rPr lang="en-US" sz="1400" dirty="0">
                <a:solidFill>
                  <a:srgbClr val="6B5E45"/>
                </a:solidFill>
                <a:latin typeface="Malgun Gothic" pitchFamily="34" charset="0"/>
                <a:ea typeface="Malgun Gothic" pitchFamily="34" charset="-122"/>
                <a:cs typeface="Malgun Gothic" pitchFamily="34" charset="-120"/>
              </a:rPr>
              <a:t>프롬프트 핵심 (전문은 발표자 노트)</a:t>
            </a:r>
            <a:endParaRPr lang="en-US" sz="1400" dirty="0"/>
          </a:p>
        </p:txBody>
      </p:sp>
      <p:sp>
        <p:nvSpPr>
          <p:cNvPr id="8" name="Shape 5"/>
          <p:cNvSpPr/>
          <p:nvPr/>
        </p:nvSpPr>
        <p:spPr>
          <a:xfrm>
            <a:off x="548640" y="3657600"/>
            <a:ext cx="11064240" cy="1920240"/>
          </a:xfrm>
          <a:prstGeom prst="roundRect">
            <a:avLst>
              <a:gd name="adj" fmla="val 4762"/>
            </a:avLst>
          </a:prstGeom>
          <a:solidFill>
            <a:srgbClr val="2A2314"/>
          </a:solidFill>
          <a:ln w="12700">
            <a:solidFill>
              <a:srgbClr val="2A2314"/>
            </a:solidFill>
            <a:prstDash val="solid"/>
          </a:ln>
        </p:spPr>
        <p:txBody>
          <a:bodyPr/>
          <a:lstStyle/>
          <a:p>
            <a:endParaRPr lang="ko-KR" altLang="en-US"/>
          </a:p>
        </p:txBody>
      </p:sp>
      <p:sp>
        <p:nvSpPr>
          <p:cNvPr id="9" name="Text 6"/>
          <p:cNvSpPr txBox="1"/>
          <p:nvPr/>
        </p:nvSpPr>
        <p:spPr>
          <a:xfrm>
            <a:off x="731520" y="3749040"/>
            <a:ext cx="10698480" cy="1737360"/>
          </a:xfrm>
          <a:prstGeom prst="rect">
            <a:avLst/>
          </a:prstGeom>
          <a:noFill/>
          <a:ln/>
        </p:spPr>
        <p:txBody>
          <a:bodyPr wrap="square" lIns="0" tIns="0" rIns="0" bIns="0" rtlCol="0" anchor="t"/>
          <a:lstStyle/>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firestore.rules를 배포하고, 이어서 Hosting에도 배포해 줘.</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1. firebase.json에 규칙·색인·hosting(현재 폴더)이 맞게 있는지 확인</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   (규칙·색인·README·samples·functions·숨김 파일은 공개 제외)</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2. 프로젝트 ID는 firebase-config.js의 projectId</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3. 규칙·색인 먼저, 이어서 Hosting 배포</a:t>
            </a:r>
            <a:endParaRPr lang="en-US" sz="1500" dirty="0"/>
          </a:p>
          <a:p>
            <a:pPr marL="0" indent="0">
              <a:spcAft>
                <a:spcPts val="200"/>
              </a:spcAft>
              <a:buNone/>
            </a:pPr>
            <a:r>
              <a:rPr lang="en-US" sz="1500" dirty="0">
                <a:solidFill>
                  <a:srgbClr val="F8F2E4"/>
                </a:solidFill>
                <a:latin typeface="Consolas" pitchFamily="34" charset="0"/>
                <a:ea typeface="Consolas" pitchFamily="34" charset="-122"/>
                <a:cs typeface="Consolas" pitchFamily="34" charset="-120"/>
              </a:rPr>
              <a:t>4. 끝나면 공개 주소(Hosting URL)를 알려 줘</a:t>
            </a:r>
            <a:endParaRPr lang="en-US" sz="1500" dirty="0"/>
          </a:p>
        </p:txBody>
      </p:sp>
      <p:sp>
        <p:nvSpPr>
          <p:cNvPr id="10" name="Text 7"/>
          <p:cNvSpPr txBox="1"/>
          <p:nvPr/>
        </p:nvSpPr>
        <p:spPr>
          <a:xfrm>
            <a:off x="548640" y="5760720"/>
            <a:ext cx="11064240" cy="457200"/>
          </a:xfrm>
          <a:prstGeom prst="rect">
            <a:avLst/>
          </a:prstGeom>
          <a:noFill/>
          <a:ln/>
        </p:spPr>
        <p:txBody>
          <a:bodyPr wrap="square" lIns="0" tIns="0" rIns="0" bIns="0" rtlCol="0" anchor="ctr"/>
          <a:lstStyle/>
          <a:p>
            <a:pPr marL="0" indent="0">
              <a:buNone/>
            </a:pPr>
            <a:r>
              <a:rPr lang="en-US" sz="1600" b="1" dirty="0">
                <a:solidFill>
                  <a:srgbClr val="B0402C"/>
                </a:solidFill>
                <a:latin typeface="Malgun Gothic" pitchFamily="34" charset="0"/>
                <a:ea typeface="Malgun Gothic" pitchFamily="34" charset="-122"/>
                <a:cs typeface="Malgun Gothic" pitchFamily="34" charset="-120"/>
              </a:rPr>
              <a:t>막힐 때  </a:t>
            </a:r>
            <a:r>
              <a:rPr lang="en-US" sz="1600" dirty="0">
                <a:solidFill>
                  <a:srgbClr val="2A2314"/>
                </a:solidFill>
                <a:latin typeface="Malgun Gothic" pitchFamily="34" charset="0"/>
                <a:ea typeface="Malgun Gothic" pitchFamily="34" charset="-122"/>
                <a:cs typeface="Malgun Gothic" pitchFamily="34" charset="-120"/>
              </a:rPr>
              <a:t>로그인 오류면 안내받은 firebase login을 내가 직접 실행. "콘솔에만 있는 색인을 지울까요?"는 N</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7 · 배포·보안 규칙·마무리</a:t>
            </a:r>
            <a:endParaRPr lang="en-US" sz="1600" dirty="0"/>
          </a:p>
        </p:txBody>
      </p:sp>
      <p:sp>
        <p:nvSpPr>
          <p:cNvPr id="3" name="Text 1"/>
          <p:cNvSpPr/>
          <p:nvPr/>
        </p:nvSpPr>
        <p:spPr>
          <a:xfrm>
            <a:off x="5394960" y="274320"/>
            <a:ext cx="822960" cy="329184"/>
          </a:xfrm>
          <a:prstGeom prst="roundRect">
            <a:avLst>
              <a:gd name="adj" fmla="val 50000"/>
            </a:avLst>
          </a:prstGeom>
          <a:solidFill>
            <a:srgbClr val="B0402C"/>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실습</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막히는지 직접 눈으로 확인하기</a:t>
            </a:r>
            <a:endParaRPr lang="en-US" sz="3600" dirty="0"/>
          </a:p>
        </p:txBody>
      </p:sp>
      <p:sp>
        <p:nvSpPr>
          <p:cNvPr id="6" name="Text 3"/>
          <p:cNvSpPr txBox="1"/>
          <p:nvPr/>
        </p:nvSpPr>
        <p:spPr>
          <a:xfrm>
            <a:off x="548640" y="1463040"/>
            <a:ext cx="11064240" cy="640080"/>
          </a:xfrm>
          <a:prstGeom prst="rect">
            <a:avLst/>
          </a:prstGeom>
          <a:noFill/>
          <a:ln/>
        </p:spPr>
        <p:txBody>
          <a:bodyPr wrap="square" lIns="0" tIns="0" rIns="0" bIns="0" rtlCol="0" anchor="ctr"/>
          <a:lstStyle/>
          <a:p>
            <a:pPr marL="0" indent="0">
              <a:buNone/>
            </a:pPr>
            <a:r>
              <a:rPr lang="en-US" sz="1800" b="1" dirty="0">
                <a:solidFill>
                  <a:srgbClr val="B0402C"/>
                </a:solidFill>
                <a:latin typeface="Malgun Gothic" pitchFamily="34" charset="0"/>
                <a:ea typeface="Malgun Gothic" pitchFamily="34" charset="-122"/>
                <a:cs typeface="Malgun Gothic" pitchFamily="34" charset="-120"/>
              </a:rPr>
              <a:t>rules-check.html 점검: 막힘 6개 + 열림 2개가 나오면 성공 · 준비: 수업 A, B 만들기 / 학생은 B에만 가입</a:t>
            </a:r>
            <a:endParaRPr lang="en-US" sz="18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11064240" cy="914400"/>
        </p:xfrm>
        <a:graphic>
          <a:graphicData uri="http://schemas.openxmlformats.org/drawingml/2006/table">
            <a:tbl>
              <a:tblPr/>
              <a:tblGrid>
                <a:gridCol w="118872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347472">
                <a:tc>
                  <a:txBody>
                    <a:bodyPr/>
                    <a:lstStyle/>
                    <a:p>
                      <a:pPr marL="0" indent="0" algn="l">
                        <a:buNone/>
                      </a:pPr>
                      <a:r>
                        <a:rPr lang="en-US" sz="1500" b="1" dirty="0">
                          <a:solidFill>
                            <a:srgbClr val="FFFFFF"/>
                          </a:solidFill>
                          <a:latin typeface="Malgun Gothic" pitchFamily="34" charset="0"/>
                          <a:ea typeface="Malgun Gothic" pitchFamily="34" charset="-122"/>
                          <a:cs typeface="Malgun Gothic" pitchFamily="34" charset="-120"/>
                        </a:rPr>
                        <a:t>버튼</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356E67"/>
                    </a:solidFill>
                  </a:tcPr>
                </a:tc>
                <a:tc>
                  <a:txBody>
                    <a:bodyPr/>
                    <a:lstStyle/>
                    <a:p>
                      <a:pPr marL="0" indent="0" algn="l">
                        <a:buNone/>
                      </a:pPr>
                      <a:r>
                        <a:rPr lang="en-US" sz="1500" b="1" dirty="0">
                          <a:solidFill>
                            <a:srgbClr val="FFFFFF"/>
                          </a:solidFill>
                          <a:latin typeface="Malgun Gothic" pitchFamily="34" charset="0"/>
                          <a:ea typeface="Malgun Gothic" pitchFamily="34" charset="-122"/>
                          <a:cs typeface="Malgun Gothic" pitchFamily="34" charset="-120"/>
                        </a:rPr>
                        <a:t>시도</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356E67"/>
                    </a:solidFill>
                  </a:tcPr>
                </a:tc>
                <a:tc>
                  <a:txBody>
                    <a:bodyPr/>
                    <a:lstStyle/>
                    <a:p>
                      <a:pPr marL="0" indent="0" algn="l">
                        <a:buNone/>
                      </a:pPr>
                      <a:r>
                        <a:rPr lang="en-US" sz="1500" b="1" dirty="0">
                          <a:solidFill>
                            <a:srgbClr val="FFFFFF"/>
                          </a:solidFill>
                          <a:latin typeface="Malgun Gothic" pitchFamily="34" charset="0"/>
                          <a:ea typeface="Malgun Gothic" pitchFamily="34" charset="-122"/>
                          <a:cs typeface="Malgun Gothic" pitchFamily="34" charset="-120"/>
                        </a:rPr>
                        <a:t>기대</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356E67"/>
                    </a:solidFill>
                  </a:tcPr>
                </a:tc>
                <a:tc>
                  <a:txBody>
                    <a:bodyPr/>
                    <a:lstStyle/>
                    <a:p>
                      <a:pPr marL="0" indent="0" algn="l">
                        <a:buNone/>
                      </a:pPr>
                      <a:r>
                        <a:rPr lang="en-US" sz="1500" b="1" dirty="0">
                          <a:solidFill>
                            <a:srgbClr val="FFFFFF"/>
                          </a:solidFill>
                          <a:latin typeface="Malgun Gothic" pitchFamily="34" charset="0"/>
                          <a:ea typeface="Malgun Gothic" pitchFamily="34" charset="-122"/>
                          <a:cs typeface="Malgun Gothic" pitchFamily="34" charset="-120"/>
                        </a:rPr>
                        <a:t>원칙</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356E67"/>
                    </a:solidFill>
                  </a:tcPr>
                </a:tc>
                <a:extLst>
                  <a:ext uri="{0D108BD9-81ED-4DB2-BD59-A6C34878D82A}">
                    <a16:rowId xmlns:a16="http://schemas.microsoft.com/office/drawing/2014/main" val="10000"/>
                  </a:ext>
                </a:extLst>
              </a:tr>
              <a:tr h="347472">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1</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가입하지 않은 수업(A) 자료 읽기</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막힘</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1</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extLst>
                  <a:ext uri="{0D108BD9-81ED-4DB2-BD59-A6C34878D82A}">
                    <a16:rowId xmlns:a16="http://schemas.microsoft.com/office/drawing/2014/main" val="10001"/>
                  </a:ext>
                </a:extLst>
              </a:tr>
              <a:tr h="347472">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2</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제출물 목록 읽기 / 다른 학생 제출물 읽기</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막힘</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2</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extLst>
                  <a:ext uri="{0D108BD9-81ED-4DB2-BD59-A6C34878D82A}">
                    <a16:rowId xmlns:a16="http://schemas.microsoft.com/office/drawing/2014/main" val="10002"/>
                  </a:ext>
                </a:extLst>
              </a:tr>
              <a:tr h="347472">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3</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학생 계정으로 수업 만들기</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막힘</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3</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extLst>
                  <a:ext uri="{0D108BD9-81ED-4DB2-BD59-A6C34878D82A}">
                    <a16:rowId xmlns:a16="http://schemas.microsoft.com/office/drawing/2014/main" val="10003"/>
                  </a:ext>
                </a:extLst>
              </a:tr>
              <a:tr h="347472">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4</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수업 전체 목록 읽기</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막힘</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4</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extLst>
                  <a:ext uri="{0D108BD9-81ED-4DB2-BD59-A6C34878D82A}">
                    <a16:rowId xmlns:a16="http://schemas.microsoft.com/office/drawing/2014/main" val="10004"/>
                  </a:ext>
                </a:extLst>
              </a:tr>
              <a:tr h="347472">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5</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내 제출물의 feedback 고치기</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막힘</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2</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extLst>
                  <a:ext uri="{0D108BD9-81ED-4DB2-BD59-A6C34878D82A}">
                    <a16:rowId xmlns:a16="http://schemas.microsoft.com/office/drawing/2014/main" val="10005"/>
                  </a:ext>
                </a:extLst>
              </a:tr>
              <a:tr h="347472">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6</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가입한 수업(B)에 자료 1건 쓰기</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막힘</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3</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extLst>
                  <a:ext uri="{0D108BD9-81ED-4DB2-BD59-A6C34878D82A}">
                    <a16:rowId xmlns:a16="http://schemas.microsoft.com/office/drawing/2014/main" val="10006"/>
                  </a:ext>
                </a:extLst>
              </a:tr>
              <a:tr h="347472">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가입한 수업 자료 읽기 + 내 제출물 읽기</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열림 2개</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500" dirty="0">
                          <a:solidFill>
                            <a:srgbClr val="2A2314"/>
                          </a:solidFill>
                          <a:latin typeface="Malgun Gothic" pitchFamily="34" charset="0"/>
                          <a:ea typeface="Malgun Gothic" pitchFamily="34" charset="-122"/>
                          <a:cs typeface="Malgun Gothic" pitchFamily="34" charset="-120"/>
                        </a:rPr>
                        <a:t>1, 2</a:t>
                      </a:r>
                      <a:endParaRPr lang="en-US" sz="15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extLst>
                  <a:ext uri="{0D108BD9-81ED-4DB2-BD59-A6C34878D82A}">
                    <a16:rowId xmlns:a16="http://schemas.microsoft.com/office/drawing/2014/main" val="10007"/>
                  </a:ext>
                </a:extLst>
              </a:tr>
            </a:tbl>
          </a:graphicData>
        </a:graphic>
      </p:graphicFrame>
      <p:sp>
        <p:nvSpPr>
          <p:cNvPr id="8" name="Text 4"/>
          <p:cNvSpPr txBox="1"/>
          <p:nvPr/>
        </p:nvSpPr>
        <p:spPr>
          <a:xfrm>
            <a:off x="548640" y="5468112"/>
            <a:ext cx="11064240" cy="274320"/>
          </a:xfrm>
          <a:prstGeom prst="rect">
            <a:avLst/>
          </a:prstGeom>
          <a:noFill/>
          <a:ln/>
        </p:spPr>
        <p:txBody>
          <a:bodyPr wrap="square" lIns="0" tIns="0" rIns="0" bIns="0" rtlCol="0" anchor="ctr"/>
          <a:lstStyle/>
          <a:p>
            <a:pPr marL="0" indent="0">
              <a:buNone/>
            </a:pPr>
            <a:r>
              <a:rPr lang="en-US" sz="1400" dirty="0">
                <a:solidFill>
                  <a:srgbClr val="6B5E45"/>
                </a:solidFill>
                <a:latin typeface="Malgun Gothic" pitchFamily="34" charset="0"/>
                <a:ea typeface="Malgun Gothic" pitchFamily="34" charset="-122"/>
                <a:cs typeface="Malgun Gothic" pitchFamily="34" charset="-120"/>
              </a:rPr>
              <a:t>점검 페이지가 없는 분만</a:t>
            </a:r>
            <a:endParaRPr lang="en-US" sz="1400" dirty="0"/>
          </a:p>
        </p:txBody>
      </p:sp>
      <p:sp>
        <p:nvSpPr>
          <p:cNvPr id="9" name="Shape 5"/>
          <p:cNvSpPr/>
          <p:nvPr/>
        </p:nvSpPr>
        <p:spPr>
          <a:xfrm>
            <a:off x="548640" y="5760720"/>
            <a:ext cx="11064240" cy="502920"/>
          </a:xfrm>
          <a:prstGeom prst="roundRect">
            <a:avLst>
              <a:gd name="adj" fmla="val 18182"/>
            </a:avLst>
          </a:prstGeom>
          <a:solidFill>
            <a:srgbClr val="2A2314"/>
          </a:solidFill>
          <a:ln w="12700">
            <a:solidFill>
              <a:srgbClr val="2A2314"/>
            </a:solidFill>
            <a:prstDash val="solid"/>
          </a:ln>
        </p:spPr>
        <p:txBody>
          <a:bodyPr/>
          <a:lstStyle/>
          <a:p>
            <a:endParaRPr lang="ko-KR" altLang="en-US"/>
          </a:p>
        </p:txBody>
      </p:sp>
      <p:sp>
        <p:nvSpPr>
          <p:cNvPr id="10" name="Text 6"/>
          <p:cNvSpPr txBox="1"/>
          <p:nvPr/>
        </p:nvSpPr>
        <p:spPr>
          <a:xfrm>
            <a:off x="731520" y="5852160"/>
            <a:ext cx="10698480" cy="320040"/>
          </a:xfrm>
          <a:prstGeom prst="rect">
            <a:avLst/>
          </a:prstGeom>
          <a:noFill/>
          <a:ln/>
        </p:spPr>
        <p:txBody>
          <a:bodyPr wrap="square" lIns="0" tIns="0" rIns="0" bIns="0" rtlCol="0" anchor="t"/>
          <a:lstStyle/>
          <a:p>
            <a:pPr marL="0" indent="0">
              <a:spcAft>
                <a:spcPts val="200"/>
              </a:spcAft>
              <a:buNone/>
            </a:pPr>
            <a:r>
              <a:rPr lang="en-US" sz="1400" dirty="0">
                <a:solidFill>
                  <a:srgbClr val="F8F2E4"/>
                </a:solidFill>
                <a:latin typeface="Consolas" pitchFamily="34" charset="0"/>
                <a:ea typeface="Consolas" pitchFamily="34" charset="-122"/>
                <a:cs typeface="Consolas" pitchFamily="34" charset="-120"/>
              </a:rPr>
              <a:t>checkpoint-final의 rules-check.html, rules-check.js를 이 폴더에 복사하고 Hosting을 다시 배포해 줘.</a:t>
            </a:r>
            <a:endParaRPr lang="en-US" sz="1400" dirty="0"/>
          </a:p>
        </p:txBody>
      </p:sp>
      <p:sp>
        <p:nvSpPr>
          <p:cNvPr id="11" name="Text 7"/>
          <p:cNvSpPr txBox="1"/>
          <p:nvPr/>
        </p:nvSpPr>
        <p:spPr>
          <a:xfrm>
            <a:off x="548640" y="5074920"/>
            <a:ext cx="11064240" cy="365760"/>
          </a:xfrm>
          <a:prstGeom prst="rect">
            <a:avLst/>
          </a:prstGeom>
          <a:noFill/>
          <a:ln/>
        </p:spPr>
        <p:txBody>
          <a:bodyPr wrap="square" lIns="0" tIns="0" rIns="0" bIns="0" rtlCol="0" anchor="ctr"/>
          <a:lstStyle/>
          <a:p>
            <a:pPr marL="0" indent="0">
              <a:buNone/>
            </a:pPr>
            <a:r>
              <a:rPr lang="en-US" sz="1600" b="1" dirty="0">
                <a:solidFill>
                  <a:srgbClr val="B0402C"/>
                </a:solidFill>
                <a:latin typeface="Malgun Gothic" pitchFamily="34" charset="0"/>
                <a:ea typeface="Malgun Gothic" pitchFamily="34" charset="-122"/>
                <a:cs typeface="Malgun Gothic" pitchFamily="34" charset="-120"/>
              </a:rPr>
              <a:t>안 막히면 규칙이 틀린 것 → 슬라이드 48로</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7 · 배포·보안 규칙·마무리</a:t>
            </a:r>
            <a:endParaRPr lang="en-US" sz="1600" dirty="0"/>
          </a:p>
        </p:txBody>
      </p:sp>
      <p:sp>
        <p:nvSpPr>
          <p:cNvPr id="3" name="Text 1"/>
          <p:cNvSpPr/>
          <p:nvPr/>
        </p:nvSpPr>
        <p:spPr>
          <a:xfrm>
            <a:off x="5394960" y="274320"/>
            <a:ext cx="822960" cy="329184"/>
          </a:xfrm>
          <a:prstGeom prst="roundRect">
            <a:avLst>
              <a:gd name="adj" fmla="val 50000"/>
            </a:avLst>
          </a:prstGeom>
          <a:solidFill>
            <a:srgbClr val="6B5E45"/>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정리</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검증 체크리스트 5항목</a:t>
            </a:r>
            <a:endParaRPr lang="en-US" sz="3600" dirty="0"/>
          </a:p>
        </p:txBody>
      </p:sp>
      <p:sp>
        <p:nvSpPr>
          <p:cNvPr id="6" name="Text 3"/>
          <p:cNvSpPr txBox="1"/>
          <p:nvPr/>
        </p:nvSpPr>
        <p:spPr>
          <a:xfrm>
            <a:off x="548640" y="1508760"/>
            <a:ext cx="11064240" cy="54864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원칙 1–5를 하나씩 확인하고 O, X로 기록한다</a:t>
            </a:r>
            <a:endParaRPr lang="en-US" sz="24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64240" cy="914400"/>
        </p:xfrm>
        <a:graphic>
          <a:graphicData uri="http://schemas.openxmlformats.org/drawingml/2006/table">
            <a:tbl>
              <a:tblPr/>
              <a:tblGrid>
                <a:gridCol w="438912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502920">
                <a:tc>
                  <a:txBody>
                    <a:bodyPr/>
                    <a:lstStyle/>
                    <a:p>
                      <a:pPr marL="0" indent="0" algn="l">
                        <a:buNone/>
                      </a:pPr>
                      <a:r>
                        <a:rPr lang="en-US" sz="1600" b="1" dirty="0">
                          <a:solidFill>
                            <a:srgbClr val="FFFFFF"/>
                          </a:solidFill>
                          <a:latin typeface="Malgun Gothic" pitchFamily="34" charset="0"/>
                          <a:ea typeface="Malgun Gothic" pitchFamily="34" charset="-122"/>
                          <a:cs typeface="Malgun Gothic" pitchFamily="34" charset="-120"/>
                        </a:rPr>
                        <a:t>원칙</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356E67"/>
                    </a:solidFill>
                  </a:tcPr>
                </a:tc>
                <a:tc>
                  <a:txBody>
                    <a:bodyPr/>
                    <a:lstStyle/>
                    <a:p>
                      <a:pPr marL="0" indent="0" algn="l">
                        <a:buNone/>
                      </a:pPr>
                      <a:r>
                        <a:rPr lang="en-US" sz="1600" b="1" dirty="0">
                          <a:solidFill>
                            <a:srgbClr val="FFFFFF"/>
                          </a:solidFill>
                          <a:latin typeface="Malgun Gothic" pitchFamily="34" charset="0"/>
                          <a:ea typeface="Malgun Gothic" pitchFamily="34" charset="-122"/>
                          <a:cs typeface="Malgun Gothic" pitchFamily="34" charset="-120"/>
                        </a:rPr>
                        <a:t>확인 방법</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356E67"/>
                    </a:solidFill>
                  </a:tcPr>
                </a:tc>
                <a:tc>
                  <a:txBody>
                    <a:bodyPr/>
                    <a:lstStyle/>
                    <a:p>
                      <a:pPr marL="0" indent="0" algn="l">
                        <a:buNone/>
                      </a:pPr>
                      <a:r>
                        <a:rPr lang="en-US" sz="1600" b="1" dirty="0">
                          <a:solidFill>
                            <a:srgbClr val="FFFFFF"/>
                          </a:solidFill>
                          <a:latin typeface="Malgun Gothic" pitchFamily="34" charset="0"/>
                          <a:ea typeface="Malgun Gothic" pitchFamily="34" charset="-122"/>
                          <a:cs typeface="Malgun Gothic" pitchFamily="34" charset="-120"/>
                        </a:rPr>
                        <a:t>결과</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356E67"/>
                    </a:solidFill>
                  </a:tcPr>
                </a:tc>
                <a:extLst>
                  <a:ext uri="{0D108BD9-81ED-4DB2-BD59-A6C34878D82A}">
                    <a16:rowId xmlns:a16="http://schemas.microsoft.com/office/drawing/2014/main" val="10000"/>
                  </a:ext>
                </a:extLst>
              </a:tr>
              <a:tr h="502920">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1 가입한 수업 자료만 읽는다</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버튼 1 막힘, 확인 버튼 열림</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extLst>
                  <a:ext uri="{0D108BD9-81ED-4DB2-BD59-A6C34878D82A}">
                    <a16:rowId xmlns:a16="http://schemas.microsoft.com/office/drawing/2014/main" val="10001"/>
                  </a:ext>
                </a:extLst>
              </a:tr>
              <a:tr h="502920">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2 내 제출물만 읽고 쓴다</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버튼 2·5 막힘, 내 제출물 열림</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extLst>
                  <a:ext uri="{0D108BD9-81ED-4DB2-BD59-A6C34878D82A}">
                    <a16:rowId xmlns:a16="http://schemas.microsoft.com/office/drawing/2014/main" val="10002"/>
                  </a:ext>
                </a:extLst>
              </a:tr>
              <a:tr h="502920">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3 작성은 그 수업 교사만</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버튼 3·6 막힘</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extLst>
                  <a:ext uri="{0D108BD9-81ED-4DB2-BD59-A6C34878D82A}">
                    <a16:rowId xmlns:a16="http://schemas.microsoft.com/office/drawing/2014/main" val="10003"/>
                  </a:ext>
                </a:extLst>
              </a:tr>
              <a:tr h="502920">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4 코드로 1건만, 전체 목록 불가</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버튼 4 막힘, 코드로 가입은 정상</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1E8D2"/>
                    </a:solidFill>
                  </a:tcPr>
                </a:tc>
                <a:extLst>
                  <a:ext uri="{0D108BD9-81ED-4DB2-BD59-A6C34878D82A}">
                    <a16:rowId xmlns:a16="http://schemas.microsoft.com/office/drawing/2014/main" val="10004"/>
                  </a:ext>
                </a:extLst>
              </a:tr>
              <a:tr h="502920">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5 자료는 sandbox iframe</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Claude Code에게 확인 요청</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tc>
                  <a:txBody>
                    <a:bodyPr/>
                    <a:lstStyle/>
                    <a:p>
                      <a:pPr marL="0" indent="0" algn="l">
                        <a:buNone/>
                      </a:pPr>
                      <a:r>
                        <a:rPr lang="en-US" sz="1600" dirty="0">
                          <a:solidFill>
                            <a:srgbClr val="2A2314"/>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marT="36576" marB="36576" anchor="ctr">
                    <a:lnL w="12700" cap="flat" cmpd="sng" algn="ctr">
                      <a:solidFill>
                        <a:srgbClr val="D9CDB0"/>
                      </a:solidFill>
                      <a:prstDash val="solid"/>
                      <a:round/>
                      <a:headEnd type="none" w="med" len="med"/>
                      <a:tailEnd type="none" w="med" len="med"/>
                    </a:lnL>
                    <a:lnR w="12700" cap="flat" cmpd="sng" algn="ctr">
                      <a:solidFill>
                        <a:srgbClr val="D9CDB0"/>
                      </a:solidFill>
                      <a:prstDash val="solid"/>
                      <a:round/>
                      <a:headEnd type="none" w="med" len="med"/>
                      <a:tailEnd type="none" w="med" len="med"/>
                    </a:lnR>
                    <a:lnT w="12700" cap="flat" cmpd="sng" algn="ctr">
                      <a:solidFill>
                        <a:srgbClr val="D9CDB0"/>
                      </a:solidFill>
                      <a:prstDash val="solid"/>
                      <a:round/>
                      <a:headEnd type="none" w="med" len="med"/>
                      <a:tailEnd type="none" w="med" len="med"/>
                    </a:lnT>
                    <a:lnB w="12700" cap="flat" cmpd="sng" algn="ctr">
                      <a:solidFill>
                        <a:srgbClr val="D9CDB0"/>
                      </a:solidFill>
                      <a:prstDash val="solid"/>
                      <a:round/>
                      <a:headEnd type="none" w="med" len="med"/>
                      <a:tailEnd type="none" w="med" len="med"/>
                    </a:lnB>
                    <a:solidFill>
                      <a:srgbClr val="FFFBF0"/>
                    </a:solidFill>
                  </a:tcPr>
                </a:tc>
                <a:extLst>
                  <a:ext uri="{0D108BD9-81ED-4DB2-BD59-A6C34878D82A}">
                    <a16:rowId xmlns:a16="http://schemas.microsoft.com/office/drawing/2014/main" val="10005"/>
                  </a:ext>
                </a:extLst>
              </a:tr>
            </a:tbl>
          </a:graphicData>
        </a:graphic>
      </p:graphicFrame>
      <p:sp>
        <p:nvSpPr>
          <p:cNvPr id="8" name="Text 4"/>
          <p:cNvSpPr/>
          <p:nvPr/>
        </p:nvSpPr>
        <p:spPr>
          <a:xfrm>
            <a:off x="548640" y="5440680"/>
            <a:ext cx="11064240" cy="685800"/>
          </a:xfrm>
          <a:prstGeom prst="roundRect">
            <a:avLst>
              <a:gd name="adj" fmla="val 16000"/>
            </a:avLst>
          </a:prstGeom>
          <a:solidFill>
            <a:srgbClr val="FFF1CC"/>
          </a:solidFill>
          <a:ln w="19050">
            <a:solidFill>
              <a:srgbClr val="C9A24A"/>
            </a:solidFill>
          </a:ln>
        </p:spPr>
        <p:txBody>
          <a:bodyPr wrap="square" lIns="76200" tIns="76200" rIns="76200" bIns="76200" rtlCol="0" anchor="ctr"/>
          <a:lstStyle/>
          <a:p>
            <a:pPr marL="0" indent="0" algn="ctr">
              <a:buNone/>
            </a:pPr>
            <a:r>
              <a:rPr lang="en-US" sz="1600" dirty="0">
                <a:solidFill>
                  <a:srgbClr val="2A2314"/>
                </a:solidFill>
                <a:latin typeface="Malgun Gothic" pitchFamily="34" charset="0"/>
                <a:ea typeface="Malgun Gothic" pitchFamily="34" charset="-122"/>
                <a:cs typeface="Malgun Gothic" pitchFamily="34" charset="-120"/>
              </a:rPr>
              <a:t>로그인이 안 되면: 콘솔 보안 &gt; Authentication &gt; 설정 탭 &gt; 승인된 도메인에 내 배포 주소(프로젝트ID.web.app) 추가</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7 · 배포·보안 규칙·마무리</a:t>
            </a:r>
            <a:endParaRPr lang="en-US" sz="1600" dirty="0"/>
          </a:p>
        </p:txBody>
      </p:sp>
      <p:sp>
        <p:nvSpPr>
          <p:cNvPr id="3" name="Text 1"/>
          <p:cNvSpPr/>
          <p:nvPr/>
        </p:nvSpPr>
        <p:spPr>
          <a:xfrm>
            <a:off x="5394960" y="274320"/>
            <a:ext cx="822960" cy="329184"/>
          </a:xfrm>
          <a:prstGeom prst="roundRect">
            <a:avLst>
              <a:gd name="adj" fmla="val 50000"/>
            </a:avLst>
          </a:prstGeom>
          <a:solidFill>
            <a:srgbClr val="6B5E45"/>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정리</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오늘 만든 것: 7개 모듈 회고</a:t>
            </a:r>
            <a:endParaRPr lang="en-US" sz="3600" dirty="0"/>
          </a:p>
        </p:txBody>
      </p:sp>
      <p:sp>
        <p:nvSpPr>
          <p:cNvPr id="6" name="Text 3"/>
          <p:cNvSpPr txBox="1"/>
          <p:nvPr/>
        </p:nvSpPr>
        <p:spPr>
          <a:xfrm>
            <a:off x="548640" y="1508760"/>
            <a:ext cx="11064240" cy="137160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마무리 5분. 오늘 만든 것을 한 장으로 돌아본다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내 주소로 누구나 들어올 수 있는 클래스룸이 생겼다</a:t>
            </a:r>
            <a:endParaRPr lang="en-US" sz="2400" dirty="0"/>
          </a:p>
        </p:txBody>
      </p:sp>
      <p:sp>
        <p:nvSpPr>
          <p:cNvPr id="7" name="Text 4"/>
          <p:cNvSpPr/>
          <p:nvPr/>
        </p:nvSpPr>
        <p:spPr>
          <a:xfrm>
            <a:off x="548640" y="3200400"/>
            <a:ext cx="1481328" cy="548640"/>
          </a:xfrm>
          <a:prstGeom prst="roundRect">
            <a:avLst>
              <a:gd name="adj" fmla="val 20000"/>
            </a:avLst>
          </a:prstGeom>
          <a:solidFill>
            <a:srgbClr val="356E67"/>
          </a:solidFill>
          <a:ln/>
        </p:spPr>
        <p:txBody>
          <a:bodyPr wrap="square" lIns="50800" tIns="50800" rIns="50800" bIns="50800" rtlCol="0" anchor="ctr"/>
          <a:lstStyle/>
          <a:p>
            <a:pPr marL="0" indent="0" algn="ctr">
              <a:buNone/>
            </a:pPr>
            <a:r>
              <a:rPr lang="en-US" sz="1600" b="1" dirty="0">
                <a:solidFill>
                  <a:srgbClr val="FFFFFF"/>
                </a:solidFill>
                <a:latin typeface="Malgun Gothic" pitchFamily="34" charset="0"/>
                <a:ea typeface="Malgun Gothic" pitchFamily="34" charset="-122"/>
                <a:cs typeface="Malgun Gothic" pitchFamily="34" charset="-120"/>
              </a:rPr>
              <a:t>1 도입</a:t>
            </a:r>
            <a:endParaRPr lang="en-US" sz="1600" dirty="0"/>
          </a:p>
        </p:txBody>
      </p:sp>
      <p:sp>
        <p:nvSpPr>
          <p:cNvPr id="8" name="Text 5"/>
          <p:cNvSpPr/>
          <p:nvPr/>
        </p:nvSpPr>
        <p:spPr>
          <a:xfrm>
            <a:off x="548640" y="3840480"/>
            <a:ext cx="1481328" cy="1280160"/>
          </a:xfrm>
          <a:prstGeom prst="roundRect">
            <a:avLst>
              <a:gd name="adj" fmla="val 8571"/>
            </a:avLst>
          </a:prstGeom>
          <a:solidFill>
            <a:srgbClr val="FFFBF0"/>
          </a:solidFill>
          <a:ln w="25400">
            <a:solidFill>
              <a:srgbClr val="356E67"/>
            </a:solidFill>
          </a:ln>
        </p:spPr>
        <p:txBody>
          <a:bodyPr wrap="square" lIns="76200" tIns="76200" rIns="76200" bIns="76200" rtlCol="0" anchor="ctr"/>
          <a:lstStyle/>
          <a:p>
            <a:pPr marL="0" indent="0" algn="ctr">
              <a:buNone/>
            </a:pPr>
            <a:r>
              <a:rPr lang="en-US" sz="1500" dirty="0">
                <a:solidFill>
                  <a:srgbClr val="2A2314"/>
                </a:solidFill>
                <a:latin typeface="Malgun Gothic" pitchFamily="34" charset="0"/>
                <a:ea typeface="Malgun Gothic" pitchFamily="34" charset="-122"/>
                <a:cs typeface="Malgun Gothic" pitchFamily="34" charset="-120"/>
              </a:rPr>
              <a:t>빈 폴더 +</a:t>
            </a:r>
            <a:endParaRPr lang="en-US" sz="1500" dirty="0"/>
          </a:p>
          <a:p>
            <a:pPr marL="0" indent="0" algn="ctr">
              <a:buNone/>
            </a:pPr>
            <a:r>
              <a:rPr lang="en-US" sz="1500" dirty="0">
                <a:solidFill>
                  <a:srgbClr val="2A2314"/>
                </a:solidFill>
                <a:latin typeface="Malgun Gothic" pitchFamily="34" charset="0"/>
                <a:ea typeface="Malgun Gothic" pitchFamily="34" charset="-122"/>
                <a:cs typeface="Malgun Gothic" pitchFamily="34" charset="-120"/>
              </a:rPr>
              <a:t>"환영합니다"</a:t>
            </a:r>
            <a:endParaRPr lang="en-US" sz="1500" dirty="0"/>
          </a:p>
        </p:txBody>
      </p:sp>
      <p:sp>
        <p:nvSpPr>
          <p:cNvPr id="9" name="Text 6"/>
          <p:cNvSpPr/>
          <p:nvPr/>
        </p:nvSpPr>
        <p:spPr>
          <a:xfrm>
            <a:off x="2146097" y="3200400"/>
            <a:ext cx="1481328" cy="548640"/>
          </a:xfrm>
          <a:prstGeom prst="roundRect">
            <a:avLst>
              <a:gd name="adj" fmla="val 20000"/>
            </a:avLst>
          </a:prstGeom>
          <a:solidFill>
            <a:srgbClr val="356E67"/>
          </a:solidFill>
          <a:ln/>
        </p:spPr>
        <p:txBody>
          <a:bodyPr wrap="square" lIns="50800" tIns="50800" rIns="50800" bIns="50800" rtlCol="0" anchor="ctr"/>
          <a:lstStyle/>
          <a:p>
            <a:pPr marL="0" indent="0" algn="ctr">
              <a:buNone/>
            </a:pPr>
            <a:r>
              <a:rPr lang="en-US" sz="1600" b="1" dirty="0">
                <a:solidFill>
                  <a:srgbClr val="FFFFFF"/>
                </a:solidFill>
                <a:latin typeface="Malgun Gothic" pitchFamily="34" charset="0"/>
                <a:ea typeface="Malgun Gothic" pitchFamily="34" charset="-122"/>
                <a:cs typeface="Malgun Gothic" pitchFamily="34" charset="-120"/>
              </a:rPr>
              <a:t>2 로그인</a:t>
            </a:r>
            <a:endParaRPr lang="en-US" sz="1600" dirty="0"/>
          </a:p>
        </p:txBody>
      </p:sp>
      <p:sp>
        <p:nvSpPr>
          <p:cNvPr id="10" name="Text 7"/>
          <p:cNvSpPr/>
          <p:nvPr/>
        </p:nvSpPr>
        <p:spPr>
          <a:xfrm>
            <a:off x="2146097" y="3840480"/>
            <a:ext cx="1481328" cy="1280160"/>
          </a:xfrm>
          <a:prstGeom prst="roundRect">
            <a:avLst>
              <a:gd name="adj" fmla="val 8571"/>
            </a:avLst>
          </a:prstGeom>
          <a:solidFill>
            <a:srgbClr val="FFFBF0"/>
          </a:solidFill>
          <a:ln w="25400">
            <a:solidFill>
              <a:srgbClr val="356E67"/>
            </a:solidFill>
          </a:ln>
        </p:spPr>
        <p:txBody>
          <a:bodyPr wrap="square" lIns="76200" tIns="76200" rIns="76200" bIns="76200" rtlCol="0" anchor="ctr"/>
          <a:lstStyle/>
          <a:p>
            <a:pPr marL="0" indent="0" algn="ctr">
              <a:buNone/>
            </a:pPr>
            <a:r>
              <a:rPr lang="en-US" sz="1500" dirty="0">
                <a:solidFill>
                  <a:srgbClr val="2A2314"/>
                </a:solidFill>
                <a:latin typeface="Malgun Gothic" pitchFamily="34" charset="0"/>
                <a:ea typeface="Malgun Gothic" pitchFamily="34" charset="-122"/>
                <a:cs typeface="Malgun Gothic" pitchFamily="34" charset="-120"/>
              </a:rPr>
              <a:t>구글 로그인 +</a:t>
            </a:r>
            <a:endParaRPr lang="en-US" sz="1500" dirty="0"/>
          </a:p>
          <a:p>
            <a:pPr marL="0" indent="0" algn="ctr">
              <a:buNone/>
            </a:pPr>
            <a:r>
              <a:rPr lang="en-US" sz="1500" dirty="0">
                <a:solidFill>
                  <a:srgbClr val="2A2314"/>
                </a:solidFill>
                <a:latin typeface="Malgun Gothic" pitchFamily="34" charset="0"/>
                <a:ea typeface="Malgun Gothic" pitchFamily="34" charset="-122"/>
                <a:cs typeface="Malgun Gothic" pitchFamily="34" charset="-120"/>
              </a:rPr>
              <a:t>역할 저장</a:t>
            </a:r>
            <a:endParaRPr lang="en-US" sz="1500" dirty="0"/>
          </a:p>
        </p:txBody>
      </p:sp>
      <p:sp>
        <p:nvSpPr>
          <p:cNvPr id="11" name="Text 8"/>
          <p:cNvSpPr/>
          <p:nvPr/>
        </p:nvSpPr>
        <p:spPr>
          <a:xfrm>
            <a:off x="3743554" y="3200400"/>
            <a:ext cx="1481328" cy="548640"/>
          </a:xfrm>
          <a:prstGeom prst="roundRect">
            <a:avLst>
              <a:gd name="adj" fmla="val 20000"/>
            </a:avLst>
          </a:prstGeom>
          <a:solidFill>
            <a:srgbClr val="356E67"/>
          </a:solidFill>
          <a:ln/>
        </p:spPr>
        <p:txBody>
          <a:bodyPr wrap="square" lIns="50800" tIns="50800" rIns="50800" bIns="50800" rtlCol="0" anchor="ctr"/>
          <a:lstStyle/>
          <a:p>
            <a:pPr marL="0" indent="0" algn="ctr">
              <a:buNone/>
            </a:pPr>
            <a:r>
              <a:rPr lang="en-US" sz="1600" b="1" dirty="0">
                <a:solidFill>
                  <a:srgbClr val="FFFFFF"/>
                </a:solidFill>
                <a:latin typeface="Malgun Gothic" pitchFamily="34" charset="0"/>
                <a:ea typeface="Malgun Gothic" pitchFamily="34" charset="-122"/>
                <a:cs typeface="Malgun Gothic" pitchFamily="34" charset="-120"/>
              </a:rPr>
              <a:t>3 수업코드</a:t>
            </a:r>
            <a:endParaRPr lang="en-US" sz="1600" dirty="0"/>
          </a:p>
        </p:txBody>
      </p:sp>
      <p:sp>
        <p:nvSpPr>
          <p:cNvPr id="12" name="Text 9"/>
          <p:cNvSpPr/>
          <p:nvPr/>
        </p:nvSpPr>
        <p:spPr>
          <a:xfrm>
            <a:off x="3743554" y="3840480"/>
            <a:ext cx="1481328" cy="1280160"/>
          </a:xfrm>
          <a:prstGeom prst="roundRect">
            <a:avLst>
              <a:gd name="adj" fmla="val 8571"/>
            </a:avLst>
          </a:prstGeom>
          <a:solidFill>
            <a:srgbClr val="FFFBF0"/>
          </a:solidFill>
          <a:ln w="25400">
            <a:solidFill>
              <a:srgbClr val="356E67"/>
            </a:solidFill>
          </a:ln>
        </p:spPr>
        <p:txBody>
          <a:bodyPr wrap="square" lIns="76200" tIns="76200" rIns="76200" bIns="76200" rtlCol="0" anchor="ctr"/>
          <a:lstStyle/>
          <a:p>
            <a:pPr marL="0" indent="0" algn="ctr">
              <a:buNone/>
            </a:pPr>
            <a:r>
              <a:rPr lang="en-US" sz="1500" dirty="0">
                <a:solidFill>
                  <a:srgbClr val="2A2314"/>
                </a:solidFill>
                <a:latin typeface="Malgun Gothic" pitchFamily="34" charset="0"/>
                <a:ea typeface="Malgun Gothic" pitchFamily="34" charset="-122"/>
                <a:cs typeface="Malgun Gothic" pitchFamily="34" charset="-120"/>
              </a:rPr>
              <a:t>수업 만들기 +</a:t>
            </a:r>
            <a:endParaRPr lang="en-US" sz="1500" dirty="0"/>
          </a:p>
          <a:p>
            <a:pPr marL="0" indent="0" algn="ctr">
              <a:buNone/>
            </a:pPr>
            <a:r>
              <a:rPr lang="en-US" sz="1500" dirty="0">
                <a:solidFill>
                  <a:srgbClr val="2A2314"/>
                </a:solidFill>
                <a:latin typeface="Malgun Gothic" pitchFamily="34" charset="0"/>
                <a:ea typeface="Malgun Gothic" pitchFamily="34" charset="-122"/>
                <a:cs typeface="Malgun Gothic" pitchFamily="34" charset="-120"/>
              </a:rPr>
              <a:t>코드 가입</a:t>
            </a:r>
            <a:endParaRPr lang="en-US" sz="1500" dirty="0"/>
          </a:p>
        </p:txBody>
      </p:sp>
      <p:sp>
        <p:nvSpPr>
          <p:cNvPr id="13" name="Text 10"/>
          <p:cNvSpPr/>
          <p:nvPr/>
        </p:nvSpPr>
        <p:spPr>
          <a:xfrm>
            <a:off x="5341010" y="3200400"/>
            <a:ext cx="1481328" cy="548640"/>
          </a:xfrm>
          <a:prstGeom prst="roundRect">
            <a:avLst>
              <a:gd name="adj" fmla="val 20000"/>
            </a:avLst>
          </a:prstGeom>
          <a:solidFill>
            <a:srgbClr val="356E67"/>
          </a:solidFill>
          <a:ln/>
        </p:spPr>
        <p:txBody>
          <a:bodyPr wrap="square" lIns="50800" tIns="50800" rIns="50800" bIns="50800" rtlCol="0" anchor="ctr"/>
          <a:lstStyle/>
          <a:p>
            <a:pPr marL="0" indent="0" algn="ctr">
              <a:buNone/>
            </a:pPr>
            <a:r>
              <a:rPr lang="en-US" sz="1600" b="1" dirty="0">
                <a:solidFill>
                  <a:srgbClr val="FFFFFF"/>
                </a:solidFill>
                <a:latin typeface="Malgun Gothic" pitchFamily="34" charset="0"/>
                <a:ea typeface="Malgun Gothic" pitchFamily="34" charset="-122"/>
                <a:cs typeface="Malgun Gothic" pitchFamily="34" charset="-120"/>
              </a:rPr>
              <a:t>4 자료</a:t>
            </a:r>
            <a:endParaRPr lang="en-US" sz="1600" dirty="0"/>
          </a:p>
        </p:txBody>
      </p:sp>
      <p:sp>
        <p:nvSpPr>
          <p:cNvPr id="14" name="Text 11"/>
          <p:cNvSpPr/>
          <p:nvPr/>
        </p:nvSpPr>
        <p:spPr>
          <a:xfrm>
            <a:off x="5341010" y="3840480"/>
            <a:ext cx="1481328" cy="1280160"/>
          </a:xfrm>
          <a:prstGeom prst="roundRect">
            <a:avLst>
              <a:gd name="adj" fmla="val 8571"/>
            </a:avLst>
          </a:prstGeom>
          <a:solidFill>
            <a:srgbClr val="FFFBF0"/>
          </a:solidFill>
          <a:ln w="25400">
            <a:solidFill>
              <a:srgbClr val="356E67"/>
            </a:solidFill>
          </a:ln>
        </p:spPr>
        <p:txBody>
          <a:bodyPr wrap="square" lIns="76200" tIns="76200" rIns="76200" bIns="76200" rtlCol="0" anchor="ctr"/>
          <a:lstStyle/>
          <a:p>
            <a:pPr marL="0" indent="0" algn="ctr">
              <a:buNone/>
            </a:pPr>
            <a:r>
              <a:rPr lang="en-US" sz="1500" dirty="0">
                <a:solidFill>
                  <a:srgbClr val="2A2314"/>
                </a:solidFill>
                <a:latin typeface="Malgun Gothic" pitchFamily="34" charset="0"/>
                <a:ea typeface="Malgun Gothic" pitchFamily="34" charset="-122"/>
                <a:cs typeface="Malgun Gothic" pitchFamily="34" charset="-120"/>
              </a:rPr>
              <a:t>HTML 자료 +</a:t>
            </a:r>
            <a:endParaRPr lang="en-US" sz="1500" dirty="0"/>
          </a:p>
          <a:p>
            <a:pPr marL="0" indent="0" algn="ctr">
              <a:buNone/>
            </a:pPr>
            <a:r>
              <a:rPr lang="en-US" sz="1500" dirty="0">
                <a:solidFill>
                  <a:srgbClr val="2A2314"/>
                </a:solidFill>
                <a:latin typeface="Malgun Gothic" pitchFamily="34" charset="0"/>
                <a:ea typeface="Malgun Gothic" pitchFamily="34" charset="-122"/>
                <a:cs typeface="Malgun Gothic" pitchFamily="34" charset="-120"/>
              </a:rPr>
              <a:t>sandbox 열람</a:t>
            </a:r>
            <a:endParaRPr lang="en-US" sz="1500" dirty="0"/>
          </a:p>
        </p:txBody>
      </p:sp>
      <p:sp>
        <p:nvSpPr>
          <p:cNvPr id="15" name="Text 12"/>
          <p:cNvSpPr/>
          <p:nvPr/>
        </p:nvSpPr>
        <p:spPr>
          <a:xfrm>
            <a:off x="6938467" y="3200400"/>
            <a:ext cx="1481328" cy="548640"/>
          </a:xfrm>
          <a:prstGeom prst="roundRect">
            <a:avLst>
              <a:gd name="adj" fmla="val 20000"/>
            </a:avLst>
          </a:prstGeom>
          <a:solidFill>
            <a:srgbClr val="356E67"/>
          </a:solidFill>
          <a:ln/>
        </p:spPr>
        <p:txBody>
          <a:bodyPr wrap="square" lIns="50800" tIns="50800" rIns="50800" bIns="50800" rtlCol="0" anchor="ctr"/>
          <a:lstStyle/>
          <a:p>
            <a:pPr marL="0" indent="0" algn="ctr">
              <a:buNone/>
            </a:pPr>
            <a:r>
              <a:rPr lang="en-US" sz="1600" b="1" dirty="0">
                <a:solidFill>
                  <a:srgbClr val="FFFFFF"/>
                </a:solidFill>
                <a:latin typeface="Malgun Gothic" pitchFamily="34" charset="0"/>
                <a:ea typeface="Malgun Gothic" pitchFamily="34" charset="-122"/>
                <a:cs typeface="Malgun Gothic" pitchFamily="34" charset="-120"/>
              </a:rPr>
              <a:t>5 학습지</a:t>
            </a:r>
            <a:endParaRPr lang="en-US" sz="1600" dirty="0"/>
          </a:p>
        </p:txBody>
      </p:sp>
      <p:sp>
        <p:nvSpPr>
          <p:cNvPr id="16" name="Text 13"/>
          <p:cNvSpPr/>
          <p:nvPr/>
        </p:nvSpPr>
        <p:spPr>
          <a:xfrm>
            <a:off x="6938467" y="3840480"/>
            <a:ext cx="1481328" cy="1280160"/>
          </a:xfrm>
          <a:prstGeom prst="roundRect">
            <a:avLst>
              <a:gd name="adj" fmla="val 8571"/>
            </a:avLst>
          </a:prstGeom>
          <a:solidFill>
            <a:srgbClr val="FFFBF0"/>
          </a:solidFill>
          <a:ln w="25400">
            <a:solidFill>
              <a:srgbClr val="356E67"/>
            </a:solidFill>
          </a:ln>
        </p:spPr>
        <p:txBody>
          <a:bodyPr wrap="square" lIns="76200" tIns="76200" rIns="76200" bIns="76200" rtlCol="0" anchor="ctr"/>
          <a:lstStyle/>
          <a:p>
            <a:pPr marL="0" indent="0" algn="ctr">
              <a:buNone/>
            </a:pPr>
            <a:r>
              <a:rPr lang="en-US" sz="1500" dirty="0">
                <a:solidFill>
                  <a:srgbClr val="2A2314"/>
                </a:solidFill>
                <a:latin typeface="Malgun Gothic" pitchFamily="34" charset="0"/>
                <a:ea typeface="Malgun Gothic" pitchFamily="34" charset="-122"/>
                <a:cs typeface="Malgun Gothic" pitchFamily="34" charset="-120"/>
              </a:rPr>
              <a:t>작성·제출·</a:t>
            </a:r>
            <a:endParaRPr lang="en-US" sz="1500" dirty="0"/>
          </a:p>
          <a:p>
            <a:pPr marL="0" indent="0" algn="ctr">
              <a:buNone/>
            </a:pPr>
            <a:r>
              <a:rPr lang="en-US" sz="1500" dirty="0">
                <a:solidFill>
                  <a:srgbClr val="2A2314"/>
                </a:solidFill>
                <a:latin typeface="Malgun Gothic" pitchFamily="34" charset="0"/>
                <a:ea typeface="Malgun Gothic" pitchFamily="34" charset="-122"/>
                <a:cs typeface="Malgun Gothic" pitchFamily="34" charset="-120"/>
              </a:rPr>
              <a:t>제출현황</a:t>
            </a:r>
            <a:endParaRPr lang="en-US" sz="1500" dirty="0"/>
          </a:p>
        </p:txBody>
      </p:sp>
      <p:sp>
        <p:nvSpPr>
          <p:cNvPr id="17" name="Text 14"/>
          <p:cNvSpPr/>
          <p:nvPr/>
        </p:nvSpPr>
        <p:spPr>
          <a:xfrm>
            <a:off x="8535924" y="3200400"/>
            <a:ext cx="1481328" cy="548640"/>
          </a:xfrm>
          <a:prstGeom prst="roundRect">
            <a:avLst>
              <a:gd name="adj" fmla="val 20000"/>
            </a:avLst>
          </a:prstGeom>
          <a:solidFill>
            <a:srgbClr val="356E67"/>
          </a:solidFill>
          <a:ln/>
        </p:spPr>
        <p:txBody>
          <a:bodyPr wrap="square" lIns="50800" tIns="50800" rIns="50800" bIns="50800" rtlCol="0" anchor="ctr"/>
          <a:lstStyle/>
          <a:p>
            <a:pPr marL="0" indent="0" algn="ctr">
              <a:buNone/>
            </a:pPr>
            <a:r>
              <a:rPr lang="en-US" sz="1600" b="1" dirty="0">
                <a:solidFill>
                  <a:srgbClr val="FFFFFF"/>
                </a:solidFill>
                <a:latin typeface="Malgun Gothic" pitchFamily="34" charset="0"/>
                <a:ea typeface="Malgun Gothic" pitchFamily="34" charset="-122"/>
                <a:cs typeface="Malgun Gothic" pitchFamily="34" charset="-120"/>
              </a:rPr>
              <a:t>6 피드백</a:t>
            </a:r>
            <a:endParaRPr lang="en-US" sz="1600" dirty="0"/>
          </a:p>
        </p:txBody>
      </p:sp>
      <p:sp>
        <p:nvSpPr>
          <p:cNvPr id="18" name="Text 15"/>
          <p:cNvSpPr/>
          <p:nvPr/>
        </p:nvSpPr>
        <p:spPr>
          <a:xfrm>
            <a:off x="8535924" y="3840480"/>
            <a:ext cx="1481328" cy="1280160"/>
          </a:xfrm>
          <a:prstGeom prst="roundRect">
            <a:avLst>
              <a:gd name="adj" fmla="val 8571"/>
            </a:avLst>
          </a:prstGeom>
          <a:solidFill>
            <a:srgbClr val="FFFBF0"/>
          </a:solidFill>
          <a:ln w="25400">
            <a:solidFill>
              <a:srgbClr val="356E67"/>
            </a:solidFill>
          </a:ln>
        </p:spPr>
        <p:txBody>
          <a:bodyPr wrap="square" lIns="76200" tIns="76200" rIns="76200" bIns="76200" rtlCol="0" anchor="ctr"/>
          <a:lstStyle/>
          <a:p>
            <a:pPr marL="0" indent="0" algn="ctr">
              <a:buNone/>
            </a:pPr>
            <a:r>
              <a:rPr lang="en-US" sz="1500" dirty="0">
                <a:solidFill>
                  <a:srgbClr val="2A2314"/>
                </a:solidFill>
                <a:latin typeface="Malgun Gothic" pitchFamily="34" charset="0"/>
                <a:ea typeface="Malgun Gothic" pitchFamily="34" charset="-122"/>
                <a:cs typeface="Malgun Gothic" pitchFamily="34" charset="-120"/>
              </a:rPr>
              <a:t>초안·수정·</a:t>
            </a:r>
            <a:endParaRPr lang="en-US" sz="1500" dirty="0"/>
          </a:p>
          <a:p>
            <a:pPr marL="0" indent="0" algn="ctr">
              <a:buNone/>
            </a:pPr>
            <a:r>
              <a:rPr lang="en-US" sz="1500" dirty="0">
                <a:solidFill>
                  <a:srgbClr val="2A2314"/>
                </a:solidFill>
                <a:latin typeface="Malgun Gothic" pitchFamily="34" charset="0"/>
                <a:ea typeface="Malgun Gothic" pitchFamily="34" charset="-122"/>
                <a:cs typeface="Malgun Gothic" pitchFamily="34" charset="-120"/>
              </a:rPr>
              <a:t>학생 열람</a:t>
            </a:r>
            <a:endParaRPr lang="en-US" sz="1500" dirty="0"/>
          </a:p>
        </p:txBody>
      </p:sp>
      <p:sp>
        <p:nvSpPr>
          <p:cNvPr id="19" name="Text 16"/>
          <p:cNvSpPr/>
          <p:nvPr/>
        </p:nvSpPr>
        <p:spPr>
          <a:xfrm>
            <a:off x="10133381" y="3200400"/>
            <a:ext cx="1481328" cy="548640"/>
          </a:xfrm>
          <a:prstGeom prst="roundRect">
            <a:avLst>
              <a:gd name="adj" fmla="val 20000"/>
            </a:avLst>
          </a:prstGeom>
          <a:solidFill>
            <a:srgbClr val="B0402C"/>
          </a:solidFill>
          <a:ln/>
        </p:spPr>
        <p:txBody>
          <a:bodyPr wrap="square" lIns="50800" tIns="50800" rIns="50800" bIns="50800" rtlCol="0" anchor="ctr"/>
          <a:lstStyle/>
          <a:p>
            <a:pPr marL="0" indent="0" algn="ctr">
              <a:buNone/>
            </a:pPr>
            <a:r>
              <a:rPr lang="en-US" sz="1600" b="1" dirty="0">
                <a:solidFill>
                  <a:srgbClr val="FFFFFF"/>
                </a:solidFill>
                <a:latin typeface="Malgun Gothic" pitchFamily="34" charset="0"/>
                <a:ea typeface="Malgun Gothic" pitchFamily="34" charset="-122"/>
                <a:cs typeface="Malgun Gothic" pitchFamily="34" charset="-120"/>
              </a:rPr>
              <a:t>7 배포</a:t>
            </a:r>
            <a:endParaRPr lang="en-US" sz="1600" dirty="0"/>
          </a:p>
        </p:txBody>
      </p:sp>
      <p:sp>
        <p:nvSpPr>
          <p:cNvPr id="20" name="Text 17"/>
          <p:cNvSpPr/>
          <p:nvPr/>
        </p:nvSpPr>
        <p:spPr>
          <a:xfrm>
            <a:off x="10133381" y="3840480"/>
            <a:ext cx="1481328" cy="1280160"/>
          </a:xfrm>
          <a:prstGeom prst="roundRect">
            <a:avLst>
              <a:gd name="adj" fmla="val 8571"/>
            </a:avLst>
          </a:prstGeom>
          <a:solidFill>
            <a:srgbClr val="FFFBF0"/>
          </a:solidFill>
          <a:ln w="25400">
            <a:solidFill>
              <a:srgbClr val="B0402C"/>
            </a:solidFill>
          </a:ln>
        </p:spPr>
        <p:txBody>
          <a:bodyPr wrap="square" lIns="76200" tIns="76200" rIns="76200" bIns="76200" rtlCol="0" anchor="ctr"/>
          <a:lstStyle/>
          <a:p>
            <a:pPr marL="0" indent="0" algn="ctr">
              <a:buNone/>
            </a:pPr>
            <a:r>
              <a:rPr lang="en-US" sz="1500" dirty="0">
                <a:solidFill>
                  <a:srgbClr val="2A2314"/>
                </a:solidFill>
                <a:latin typeface="Malgun Gothic" pitchFamily="34" charset="0"/>
                <a:ea typeface="Malgun Gothic" pitchFamily="34" charset="-122"/>
                <a:cs typeface="Malgun Gothic" pitchFamily="34" charset="-120"/>
              </a:rPr>
              <a:t>보안 규칙 +</a:t>
            </a:r>
            <a:endParaRPr lang="en-US" sz="1500" dirty="0"/>
          </a:p>
          <a:p>
            <a:pPr marL="0" indent="0" algn="ctr">
              <a:buNone/>
            </a:pPr>
            <a:r>
              <a:rPr lang="en-US" sz="1500" dirty="0">
                <a:solidFill>
                  <a:srgbClr val="2A2314"/>
                </a:solidFill>
                <a:latin typeface="Malgun Gothic" pitchFamily="34" charset="0"/>
                <a:ea typeface="Malgun Gothic" pitchFamily="34" charset="-122"/>
                <a:cs typeface="Malgun Gothic" pitchFamily="34" charset="-120"/>
              </a:rPr>
              <a:t>공개 주소</a:t>
            </a:r>
            <a:endParaRPr lang="en-US" sz="1500" dirty="0"/>
          </a:p>
        </p:txBody>
      </p:sp>
      <p:sp>
        <p:nvSpPr>
          <p:cNvPr id="21" name="Text 18"/>
          <p:cNvSpPr txBox="1"/>
          <p:nvPr/>
        </p:nvSpPr>
        <p:spPr>
          <a:xfrm>
            <a:off x="548640" y="5440680"/>
            <a:ext cx="11064240" cy="548640"/>
          </a:xfrm>
          <a:prstGeom prst="rect">
            <a:avLst/>
          </a:prstGeom>
          <a:noFill/>
          <a:ln/>
        </p:spPr>
        <p:txBody>
          <a:bodyPr wrap="square" lIns="0" tIns="0" rIns="0" bIns="0" rtlCol="0" anchor="ctr"/>
          <a:lstStyle/>
          <a:p>
            <a:pPr marL="0" indent="0">
              <a:buNone/>
            </a:pPr>
            <a:r>
              <a:rPr lang="en-US" sz="2400" b="1" dirty="0">
                <a:solidFill>
                  <a:srgbClr val="B0402C"/>
                </a:solidFill>
                <a:latin typeface="Malgun Gothic" pitchFamily="34" charset="0"/>
                <a:ea typeface="Malgun Gothic" pitchFamily="34" charset="-122"/>
                <a:cs typeface="Malgun Gothic" pitchFamily="34" charset="-120"/>
              </a:rPr>
              <a:t>오늘의 최종 산출물: 내 클래스룸 공개 주소</a:t>
            </a:r>
            <a:endParaRPr lang="en-US" sz="2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7 · 배포·보안 규칙·마무리</a:t>
            </a:r>
            <a:endParaRPr lang="en-US" sz="1600" dirty="0"/>
          </a:p>
        </p:txBody>
      </p:sp>
      <p:sp>
        <p:nvSpPr>
          <p:cNvPr id="3" name="Text 1"/>
          <p:cNvSpPr/>
          <p:nvPr/>
        </p:nvSpPr>
        <p:spPr>
          <a:xfrm>
            <a:off x="5394960" y="274320"/>
            <a:ext cx="822960" cy="329184"/>
          </a:xfrm>
          <a:prstGeom prst="roundRect">
            <a:avLst>
              <a:gd name="adj" fmla="val 50000"/>
            </a:avLst>
          </a:prstGeom>
          <a:solidFill>
            <a:srgbClr val="6B5E45"/>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정리</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우리 학교에서 쓰기 전에 확인할 3가지</a:t>
            </a:r>
            <a:endParaRPr lang="en-US" sz="3600" dirty="0"/>
          </a:p>
        </p:txBody>
      </p:sp>
      <p:sp>
        <p:nvSpPr>
          <p:cNvPr id="6" name="Text 3"/>
          <p:cNvSpPr txBox="1"/>
          <p:nvPr/>
        </p:nvSpPr>
        <p:spPr>
          <a:xfrm>
            <a:off x="548640" y="1554480"/>
            <a:ext cx="11064240" cy="265176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개인정보: 학생 이름·이메일은 꼭 필요한 것만. 기관 지침을 따른다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정리: 오늘 쓴 테스트 계정과 테스트 데이터는 지운다</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요금: Firebase 요금제와 무료 한도를 확인한다. AI 피드백(Functions)은 Blaze가 필요하다</a:t>
            </a:r>
            <a:endParaRPr lang="en-US" sz="2400" dirty="0"/>
          </a:p>
        </p:txBody>
      </p:sp>
      <p:sp>
        <p:nvSpPr>
          <p:cNvPr id="7" name="Text 4"/>
          <p:cNvSpPr/>
          <p:nvPr/>
        </p:nvSpPr>
        <p:spPr>
          <a:xfrm>
            <a:off x="548640" y="4389120"/>
            <a:ext cx="1005840" cy="1005840"/>
          </a:xfrm>
          <a:prstGeom prst="ellipse">
            <a:avLst/>
          </a:prstGeom>
          <a:solidFill>
            <a:srgbClr val="356E67"/>
          </a:solidFill>
          <a:ln/>
        </p:spPr>
        <p:txBody>
          <a:bodyPr wrap="square" lIns="0" tIns="0" rIns="0" bIns="0" rtlCol="0" anchor="ctr"/>
          <a:lstStyle/>
          <a:p>
            <a:pPr marL="0" indent="0" algn="ctr">
              <a:buNone/>
            </a:pPr>
            <a:r>
              <a:rPr lang="en-US" sz="1800" b="1" dirty="0">
                <a:solidFill>
                  <a:srgbClr val="FFFFFF"/>
                </a:solidFill>
                <a:latin typeface="Malgun Gothic" pitchFamily="34" charset="0"/>
                <a:ea typeface="Malgun Gothic" pitchFamily="34" charset="-122"/>
                <a:cs typeface="Malgun Gothic" pitchFamily="34" charset="-120"/>
              </a:rPr>
              <a:t>방패</a:t>
            </a:r>
            <a:endParaRPr lang="en-US" sz="1800" dirty="0"/>
          </a:p>
        </p:txBody>
      </p:sp>
      <p:sp>
        <p:nvSpPr>
          <p:cNvPr id="8" name="Shape 5"/>
          <p:cNvSpPr/>
          <p:nvPr/>
        </p:nvSpPr>
        <p:spPr>
          <a:xfrm>
            <a:off x="1737360" y="4754880"/>
            <a:ext cx="310896" cy="310896"/>
          </a:xfrm>
          <a:prstGeom prst="rect">
            <a:avLst/>
          </a:prstGeom>
          <a:solidFill>
            <a:srgbClr val="FFFBF0"/>
          </a:solidFill>
          <a:ln w="25400">
            <a:solidFill>
              <a:srgbClr val="B0402C"/>
            </a:solidFill>
            <a:prstDash val="solid"/>
          </a:ln>
        </p:spPr>
        <p:txBody>
          <a:bodyPr/>
          <a:lstStyle/>
          <a:p>
            <a:endParaRPr lang="ko-KR" altLang="en-US"/>
          </a:p>
        </p:txBody>
      </p:sp>
      <p:sp>
        <p:nvSpPr>
          <p:cNvPr id="9" name="Text 6"/>
          <p:cNvSpPr txBox="1"/>
          <p:nvPr/>
        </p:nvSpPr>
        <p:spPr>
          <a:xfrm>
            <a:off x="2194560" y="4617720"/>
            <a:ext cx="1920240" cy="594360"/>
          </a:xfrm>
          <a:prstGeom prst="rect">
            <a:avLst/>
          </a:prstGeom>
          <a:noFill/>
          <a:ln/>
        </p:spPr>
        <p:txBody>
          <a:bodyPr wrap="square" lIns="0" tIns="0" rIns="0" bIns="0" rtlCol="0" anchor="ctr"/>
          <a:lstStyle/>
          <a:p>
            <a:pPr marL="0" indent="0">
              <a:buNone/>
            </a:pPr>
            <a:r>
              <a:rPr lang="en-US" sz="2000" b="1" dirty="0">
                <a:solidFill>
                  <a:srgbClr val="2A2314"/>
                </a:solidFill>
                <a:latin typeface="Malgun Gothic" pitchFamily="34" charset="0"/>
                <a:ea typeface="Malgun Gothic" pitchFamily="34" charset="-122"/>
                <a:cs typeface="Malgun Gothic" pitchFamily="34" charset="-120"/>
              </a:rPr>
              <a:t>개인정보 확인</a:t>
            </a:r>
            <a:endParaRPr lang="en-US" sz="2000" dirty="0"/>
          </a:p>
        </p:txBody>
      </p:sp>
      <p:sp>
        <p:nvSpPr>
          <p:cNvPr id="10" name="Text 7"/>
          <p:cNvSpPr/>
          <p:nvPr/>
        </p:nvSpPr>
        <p:spPr>
          <a:xfrm>
            <a:off x="4297680" y="4389120"/>
            <a:ext cx="1005840" cy="1005840"/>
          </a:xfrm>
          <a:prstGeom prst="ellipse">
            <a:avLst/>
          </a:prstGeom>
          <a:solidFill>
            <a:srgbClr val="6B5E45"/>
          </a:solidFill>
          <a:ln/>
        </p:spPr>
        <p:txBody>
          <a:bodyPr wrap="square" lIns="0" tIns="0" rIns="0" bIns="0" rtlCol="0" anchor="ctr"/>
          <a:lstStyle/>
          <a:p>
            <a:pPr marL="0" indent="0" algn="ctr">
              <a:buNone/>
            </a:pPr>
            <a:r>
              <a:rPr lang="en-US" sz="1800" b="1" dirty="0">
                <a:solidFill>
                  <a:srgbClr val="FFFFFF"/>
                </a:solidFill>
                <a:latin typeface="Malgun Gothic" pitchFamily="34" charset="0"/>
                <a:ea typeface="Malgun Gothic" pitchFamily="34" charset="-122"/>
                <a:cs typeface="Malgun Gothic" pitchFamily="34" charset="-120"/>
              </a:rPr>
              <a:t>빗자루</a:t>
            </a:r>
            <a:endParaRPr lang="en-US" sz="1800" dirty="0"/>
          </a:p>
        </p:txBody>
      </p:sp>
      <p:sp>
        <p:nvSpPr>
          <p:cNvPr id="11" name="Shape 8"/>
          <p:cNvSpPr/>
          <p:nvPr/>
        </p:nvSpPr>
        <p:spPr>
          <a:xfrm>
            <a:off x="5486400" y="4754880"/>
            <a:ext cx="310896" cy="310896"/>
          </a:xfrm>
          <a:prstGeom prst="rect">
            <a:avLst/>
          </a:prstGeom>
          <a:solidFill>
            <a:srgbClr val="FFFBF0"/>
          </a:solidFill>
          <a:ln w="25400">
            <a:solidFill>
              <a:srgbClr val="B0402C"/>
            </a:solidFill>
            <a:prstDash val="solid"/>
          </a:ln>
        </p:spPr>
        <p:txBody>
          <a:bodyPr/>
          <a:lstStyle/>
          <a:p>
            <a:endParaRPr lang="ko-KR" altLang="en-US"/>
          </a:p>
        </p:txBody>
      </p:sp>
      <p:sp>
        <p:nvSpPr>
          <p:cNvPr id="12" name="Text 9"/>
          <p:cNvSpPr txBox="1"/>
          <p:nvPr/>
        </p:nvSpPr>
        <p:spPr>
          <a:xfrm>
            <a:off x="5943600" y="4617720"/>
            <a:ext cx="1920240" cy="594360"/>
          </a:xfrm>
          <a:prstGeom prst="rect">
            <a:avLst/>
          </a:prstGeom>
          <a:noFill/>
          <a:ln/>
        </p:spPr>
        <p:txBody>
          <a:bodyPr wrap="square" lIns="0" tIns="0" rIns="0" bIns="0" rtlCol="0" anchor="ctr"/>
          <a:lstStyle/>
          <a:p>
            <a:pPr marL="0" indent="0">
              <a:buNone/>
            </a:pPr>
            <a:r>
              <a:rPr lang="en-US" sz="2000" b="1" dirty="0">
                <a:solidFill>
                  <a:srgbClr val="2A2314"/>
                </a:solidFill>
                <a:latin typeface="Malgun Gothic" pitchFamily="34" charset="0"/>
                <a:ea typeface="Malgun Gothic" pitchFamily="34" charset="-122"/>
                <a:cs typeface="Malgun Gothic" pitchFamily="34" charset="-120"/>
              </a:rPr>
              <a:t>정리 확인</a:t>
            </a:r>
            <a:endParaRPr lang="en-US" sz="2000" dirty="0"/>
          </a:p>
        </p:txBody>
      </p:sp>
      <p:sp>
        <p:nvSpPr>
          <p:cNvPr id="13" name="Text 10"/>
          <p:cNvSpPr/>
          <p:nvPr/>
        </p:nvSpPr>
        <p:spPr>
          <a:xfrm>
            <a:off x="8046720" y="4389120"/>
            <a:ext cx="1005840" cy="1005840"/>
          </a:xfrm>
          <a:prstGeom prst="ellipse">
            <a:avLst/>
          </a:prstGeom>
          <a:solidFill>
            <a:srgbClr val="B0402C"/>
          </a:solidFill>
          <a:ln/>
        </p:spPr>
        <p:txBody>
          <a:bodyPr wrap="square" lIns="0" tIns="0" rIns="0" bIns="0" rtlCol="0" anchor="ctr"/>
          <a:lstStyle/>
          <a:p>
            <a:pPr marL="0" indent="0" algn="ctr">
              <a:buNone/>
            </a:pPr>
            <a:r>
              <a:rPr lang="en-US" sz="1800" b="1" dirty="0">
                <a:solidFill>
                  <a:srgbClr val="FFFFFF"/>
                </a:solidFill>
                <a:latin typeface="Malgun Gothic" pitchFamily="34" charset="0"/>
                <a:ea typeface="Malgun Gothic" pitchFamily="34" charset="-122"/>
                <a:cs typeface="Malgun Gothic" pitchFamily="34" charset="-120"/>
              </a:rPr>
              <a:t>동전</a:t>
            </a:r>
            <a:endParaRPr lang="en-US" sz="1800" dirty="0"/>
          </a:p>
        </p:txBody>
      </p:sp>
      <p:sp>
        <p:nvSpPr>
          <p:cNvPr id="14" name="Shape 11"/>
          <p:cNvSpPr/>
          <p:nvPr/>
        </p:nvSpPr>
        <p:spPr>
          <a:xfrm>
            <a:off x="9235440" y="4754880"/>
            <a:ext cx="310896" cy="310896"/>
          </a:xfrm>
          <a:prstGeom prst="rect">
            <a:avLst/>
          </a:prstGeom>
          <a:solidFill>
            <a:srgbClr val="FFFBF0"/>
          </a:solidFill>
          <a:ln w="25400">
            <a:solidFill>
              <a:srgbClr val="B0402C"/>
            </a:solidFill>
            <a:prstDash val="solid"/>
          </a:ln>
        </p:spPr>
        <p:txBody>
          <a:bodyPr/>
          <a:lstStyle/>
          <a:p>
            <a:endParaRPr lang="ko-KR" altLang="en-US"/>
          </a:p>
        </p:txBody>
      </p:sp>
      <p:sp>
        <p:nvSpPr>
          <p:cNvPr id="15" name="Text 12"/>
          <p:cNvSpPr txBox="1"/>
          <p:nvPr/>
        </p:nvSpPr>
        <p:spPr>
          <a:xfrm>
            <a:off x="9692640" y="4617720"/>
            <a:ext cx="1920240" cy="594360"/>
          </a:xfrm>
          <a:prstGeom prst="rect">
            <a:avLst/>
          </a:prstGeom>
          <a:noFill/>
          <a:ln/>
        </p:spPr>
        <p:txBody>
          <a:bodyPr wrap="square" lIns="0" tIns="0" rIns="0" bIns="0" rtlCol="0" anchor="ctr"/>
          <a:lstStyle/>
          <a:p>
            <a:pPr marL="0" indent="0">
              <a:buNone/>
            </a:pPr>
            <a:r>
              <a:rPr lang="en-US" sz="2000" b="1" dirty="0">
                <a:solidFill>
                  <a:srgbClr val="2A2314"/>
                </a:solidFill>
                <a:latin typeface="Malgun Gothic" pitchFamily="34" charset="0"/>
                <a:ea typeface="Malgun Gothic" pitchFamily="34" charset="-122"/>
                <a:cs typeface="Malgun Gothic" pitchFamily="34" charset="-120"/>
              </a:rPr>
              <a:t>요금 확인</a:t>
            </a:r>
            <a:endParaRPr lang="en-US" sz="2000" dirty="0"/>
          </a:p>
        </p:txBody>
      </p:sp>
      <p:sp>
        <p:nvSpPr>
          <p:cNvPr id="16" name="Text 13"/>
          <p:cNvSpPr txBox="1"/>
          <p:nvPr/>
        </p:nvSpPr>
        <p:spPr>
          <a:xfrm>
            <a:off x="5669280" y="5897880"/>
            <a:ext cx="5943600" cy="365760"/>
          </a:xfrm>
          <a:prstGeom prst="rect">
            <a:avLst/>
          </a:prstGeom>
          <a:noFill/>
          <a:ln/>
        </p:spPr>
        <p:txBody>
          <a:bodyPr wrap="square" lIns="0" tIns="0" rIns="0" bIns="0" rtlCol="0" anchor="ctr"/>
          <a:lstStyle/>
          <a:p>
            <a:pPr marL="0" indent="0" algn="r">
              <a:buNone/>
            </a:pPr>
            <a:r>
              <a:rPr lang="en-US" sz="1400" dirty="0">
                <a:solidFill>
                  <a:srgbClr val="6B5E45"/>
                </a:solidFill>
                <a:latin typeface="Malgun Gothic" pitchFamily="34" charset="0"/>
                <a:ea typeface="Malgun Gothic" pitchFamily="34" charset="-122"/>
                <a:cs typeface="Malgun Gothic" pitchFamily="34" charset="-120"/>
              </a:rPr>
              <a:t>실제 학생 정보는 이 연수에서 쓰지 않았습니다.</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548640" y="274320"/>
            <a:ext cx="4937760" cy="329184"/>
          </a:xfrm>
          <a:prstGeom prst="rect">
            <a:avLst/>
          </a:prstGeom>
          <a:noFill/>
          <a:ln/>
        </p:spPr>
        <p:txBody>
          <a:bodyPr wrap="square" lIns="0" tIns="0" rIns="0" bIns="0" rtlCol="0" anchor="ctr"/>
          <a:lstStyle/>
          <a:p>
            <a:pPr marL="0" indent="0">
              <a:buNone/>
            </a:pPr>
            <a:r>
              <a:rPr lang="en-US" sz="1600" b="1" dirty="0">
                <a:solidFill>
                  <a:srgbClr val="356E67"/>
                </a:solidFill>
                <a:latin typeface="Malgun Gothic" pitchFamily="34" charset="0"/>
                <a:ea typeface="Malgun Gothic" pitchFamily="34" charset="-122"/>
                <a:cs typeface="Malgun Gothic" pitchFamily="34" charset="-120"/>
              </a:rPr>
              <a:t>모듈 7 · 배포·보안 규칙·마무리</a:t>
            </a:r>
            <a:endParaRPr lang="en-US" sz="1600" dirty="0"/>
          </a:p>
        </p:txBody>
      </p:sp>
      <p:sp>
        <p:nvSpPr>
          <p:cNvPr id="3" name="Text 1"/>
          <p:cNvSpPr/>
          <p:nvPr/>
        </p:nvSpPr>
        <p:spPr>
          <a:xfrm>
            <a:off x="5394960" y="274320"/>
            <a:ext cx="822960" cy="329184"/>
          </a:xfrm>
          <a:prstGeom prst="roundRect">
            <a:avLst>
              <a:gd name="adj" fmla="val 50000"/>
            </a:avLst>
          </a:prstGeom>
          <a:solidFill>
            <a:srgbClr val="6B5E45"/>
          </a:solid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정리</a:t>
            </a:r>
            <a:endParaRPr lang="en-US" sz="1400" dirty="0"/>
          </a:p>
        </p:txBody>
      </p:sp>
      <p:sp>
        <p:nvSpPr>
          <p:cNvPr id="4" name="Text 1"/>
          <p:cNvSpPr>
            <a:spLocks noGrp="1"/>
          </p:cNvSpPr>
          <p:nvPr>
            <p:ph type="title" idx="101" hasCustomPrompt="1"/>
          </p:nvPr>
        </p:nvSpPr>
        <p:spPr>
          <a:xfrm>
            <a:off x="548640" y="658368"/>
            <a:ext cx="11064240" cy="777240"/>
          </a:xfrm>
          <a:prstGeom prst="rect">
            <a:avLst/>
          </a:prstGeom>
          <a:noFill/>
          <a:ln/>
        </p:spPr>
        <p:txBody>
          <a:bodyPr wrap="square" lIns="0" tIns="0" rIns="0" bIns="0" rtlCol="0" anchor="ctr"/>
          <a:lstStyle/>
          <a:p>
            <a:pPr marL="0" indent="0" algn="l">
              <a:buNone/>
            </a:pPr>
            <a:r>
              <a:rPr lang="en-US" sz="3600" b="1" dirty="0">
                <a:solidFill>
                  <a:srgbClr val="2A2314"/>
                </a:solidFill>
                <a:latin typeface="Malgun Gothic" pitchFamily="34" charset="0"/>
                <a:ea typeface="Malgun Gothic" pitchFamily="34" charset="-122"/>
                <a:cs typeface="Malgun Gothic" pitchFamily="34" charset="-120"/>
              </a:rPr>
              <a:t>다음 걸음과 설문</a:t>
            </a:r>
            <a:endParaRPr lang="en-US" sz="3600" dirty="0"/>
          </a:p>
        </p:txBody>
      </p:sp>
      <p:sp>
        <p:nvSpPr>
          <p:cNvPr id="6" name="Text 3"/>
          <p:cNvSpPr txBox="1"/>
          <p:nvPr/>
        </p:nvSpPr>
        <p:spPr>
          <a:xfrm>
            <a:off x="548640" y="1554480"/>
            <a:ext cx="11064240" cy="1828800"/>
          </a:xfrm>
          <a:prstGeom prst="rect">
            <a:avLst/>
          </a:prstGeom>
          <a:noFill/>
          <a:ln/>
        </p:spPr>
        <p:txBody>
          <a:bodyPr wrap="square" lIns="0" tIns="0" rIns="0" bIns="0" rtlCol="0" anchor="t"/>
          <a:lstStyle/>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심화 과제: AI 피드백 붙이기, 화면 디자인 다듬기</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막혔던 분은 checkpoint-final에서 이어서</a:t>
            </a:r>
            <a:endParaRPr lang="en-US" sz="2400" dirty="0"/>
          </a:p>
          <a:p>
            <a:pPr marL="304800" indent="-304800">
              <a:spcAft>
                <a:spcPts val="600"/>
              </a:spcAft>
              <a:buSzPct val="100000"/>
              <a:buChar char="•"/>
            </a:pPr>
            <a:r>
              <a:rPr lang="en-US" sz="2400" dirty="0">
                <a:solidFill>
                  <a:srgbClr val="2A2314"/>
                </a:solidFill>
                <a:latin typeface="Malgun Gothic" pitchFamily="34" charset="0"/>
                <a:ea typeface="Malgun Gothic" pitchFamily="34" charset="-122"/>
                <a:cs typeface="Malgun Gothic" pitchFamily="34" charset="-120"/>
              </a:rPr>
              <a:t>설문에 답하고 내 공개 주소를 적어 두자</a:t>
            </a:r>
            <a:endParaRPr lang="en-US" sz="2400" dirty="0"/>
          </a:p>
        </p:txBody>
      </p:sp>
      <p:sp>
        <p:nvSpPr>
          <p:cNvPr id="7" name="Text 4"/>
          <p:cNvSpPr txBox="1"/>
          <p:nvPr/>
        </p:nvSpPr>
        <p:spPr>
          <a:xfrm>
            <a:off x="548640" y="3566160"/>
            <a:ext cx="3566160" cy="457200"/>
          </a:xfrm>
          <a:prstGeom prst="rect">
            <a:avLst/>
          </a:prstGeom>
          <a:noFill/>
          <a:ln/>
        </p:spPr>
        <p:txBody>
          <a:bodyPr wrap="square" lIns="0" tIns="0" rIns="0" bIns="0" rtlCol="0" anchor="ctr"/>
          <a:lstStyle/>
          <a:p>
            <a:pPr marL="0" indent="0">
              <a:buNone/>
            </a:pPr>
            <a:r>
              <a:rPr lang="en-US" sz="2000" b="1" dirty="0">
                <a:solidFill>
                  <a:srgbClr val="356E67"/>
                </a:solidFill>
                <a:latin typeface="Malgun Gothic" pitchFamily="34" charset="0"/>
                <a:ea typeface="Malgun Gothic" pitchFamily="34" charset="-122"/>
                <a:cs typeface="Malgun Gothic" pitchFamily="34" charset="-120"/>
              </a:rPr>
              <a:t>심화 과제</a:t>
            </a:r>
            <a:endParaRPr lang="en-US" sz="2000" dirty="0"/>
          </a:p>
        </p:txBody>
      </p:sp>
      <p:sp>
        <p:nvSpPr>
          <p:cNvPr id="8" name="Text 5"/>
          <p:cNvSpPr/>
          <p:nvPr/>
        </p:nvSpPr>
        <p:spPr>
          <a:xfrm>
            <a:off x="548640" y="4069080"/>
            <a:ext cx="3566160" cy="2103120"/>
          </a:xfrm>
          <a:prstGeom prst="rect">
            <a:avLst/>
          </a:prstGeom>
          <a:solidFill>
            <a:srgbClr val="FFF1CC"/>
          </a:solidFill>
          <a:ln w="25400">
            <a:solidFill>
              <a:srgbClr val="B0402C"/>
            </a:solidFill>
            <a:prstDash val="dash"/>
          </a:ln>
        </p:spPr>
        <p:txBody>
          <a:bodyPr wrap="square" lIns="76200" tIns="76200" rIns="76200" bIns="76200" rtlCol="0" anchor="ctr"/>
          <a:lstStyle/>
          <a:p>
            <a:pPr marL="0" indent="0" algn="ctr">
              <a:buNone/>
            </a:pPr>
            <a:r>
              <a:rPr lang="en-US" sz="1500" b="1" dirty="0">
                <a:solidFill>
                  <a:srgbClr val="B0402C"/>
                </a:solidFill>
                <a:latin typeface="Malgun Gothic" pitchFamily="34" charset="0"/>
                <a:ea typeface="Malgun Gothic" pitchFamily="34" charset="-122"/>
                <a:cs typeface="Malgun Gothic" pitchFamily="34" charset="-120"/>
              </a:rPr>
              <a:t>[QR 자리]</a:t>
            </a:r>
            <a:endParaRPr lang="en-US" sz="1500" dirty="0"/>
          </a:p>
          <a:p>
            <a:pPr marL="0" indent="0" algn="ctr">
              <a:buNone/>
            </a:pPr>
            <a:r>
              <a:rPr lang="en-US" sz="1500" b="1" dirty="0">
                <a:solidFill>
                  <a:srgbClr val="B0402C"/>
                </a:solidFill>
                <a:latin typeface="Malgun Gothic" pitchFamily="34" charset="0"/>
                <a:ea typeface="Malgun Gothic" pitchFamily="34" charset="-122"/>
                <a:cs typeface="Malgun Gothic" pitchFamily="34" charset="-120"/>
              </a:rPr>
              <a:t>슬라이드 45 연수 후 과제 프롬프트</a:t>
            </a:r>
            <a:endParaRPr lang="en-US" sz="1500" dirty="0"/>
          </a:p>
          <a:p>
            <a:pPr marL="0" indent="0" algn="ctr">
              <a:buNone/>
            </a:pPr>
            <a:r>
              <a:rPr lang="en-US" sz="1500" b="1" dirty="0">
                <a:solidFill>
                  <a:srgbClr val="B0402C"/>
                </a:solidFill>
                <a:latin typeface="Malgun Gothic" pitchFamily="34" charset="0"/>
                <a:ea typeface="Malgun Gothic" pitchFamily="34" charset="-122"/>
                <a:cs typeface="Malgun Gothic" pitchFamily="34" charset="-120"/>
              </a:rPr>
              <a:t>예: "학생 화면을 글자를 크게, 색을 부드럽게 바꿔 줘"</a:t>
            </a:r>
            <a:endParaRPr lang="en-US" sz="1500" dirty="0"/>
          </a:p>
        </p:txBody>
      </p:sp>
      <p:sp>
        <p:nvSpPr>
          <p:cNvPr id="9" name="Text 6"/>
          <p:cNvSpPr txBox="1"/>
          <p:nvPr/>
        </p:nvSpPr>
        <p:spPr>
          <a:xfrm>
            <a:off x="4297680" y="3566160"/>
            <a:ext cx="3566160" cy="457200"/>
          </a:xfrm>
          <a:prstGeom prst="rect">
            <a:avLst/>
          </a:prstGeom>
          <a:noFill/>
          <a:ln/>
        </p:spPr>
        <p:txBody>
          <a:bodyPr wrap="square" lIns="0" tIns="0" rIns="0" bIns="0" rtlCol="0" anchor="ctr"/>
          <a:lstStyle/>
          <a:p>
            <a:pPr marL="0" indent="0">
              <a:buNone/>
            </a:pPr>
            <a:r>
              <a:rPr lang="en-US" sz="2000" b="1" dirty="0">
                <a:solidFill>
                  <a:srgbClr val="356E67"/>
                </a:solidFill>
                <a:latin typeface="Malgun Gothic" pitchFamily="34" charset="0"/>
                <a:ea typeface="Malgun Gothic" pitchFamily="34" charset="-122"/>
                <a:cs typeface="Malgun Gothic" pitchFamily="34" charset="-120"/>
              </a:rPr>
              <a:t>자료 링크</a:t>
            </a:r>
            <a:endParaRPr lang="en-US" sz="2000" dirty="0"/>
          </a:p>
        </p:txBody>
      </p:sp>
      <p:sp>
        <p:nvSpPr>
          <p:cNvPr id="10" name="Text 7"/>
          <p:cNvSpPr/>
          <p:nvPr/>
        </p:nvSpPr>
        <p:spPr>
          <a:xfrm>
            <a:off x="4297680" y="4069080"/>
            <a:ext cx="3566160" cy="2103120"/>
          </a:xfrm>
          <a:prstGeom prst="rect">
            <a:avLst/>
          </a:prstGeom>
          <a:solidFill>
            <a:srgbClr val="FFF1CC"/>
          </a:solidFill>
          <a:ln w="25400">
            <a:solidFill>
              <a:srgbClr val="B0402C"/>
            </a:solidFill>
            <a:prstDash val="dash"/>
          </a:ln>
        </p:spPr>
        <p:txBody>
          <a:bodyPr wrap="square" lIns="76200" tIns="76200" rIns="76200" bIns="76200" rtlCol="0" anchor="ctr"/>
          <a:lstStyle/>
          <a:p>
            <a:pPr marL="0" indent="0" algn="ctr">
              <a:buNone/>
            </a:pPr>
            <a:r>
              <a:rPr lang="en-US" sz="1500" b="1" dirty="0">
                <a:solidFill>
                  <a:srgbClr val="B0402C"/>
                </a:solidFill>
                <a:latin typeface="Malgun Gothic" pitchFamily="34" charset="0"/>
                <a:ea typeface="Malgun Gothic" pitchFamily="34" charset="-122"/>
                <a:cs typeface="Malgun Gothic" pitchFamily="34" charset="-120"/>
              </a:rPr>
              <a:t>[링크 자리: 강사가 연수 직전에 채움]</a:t>
            </a:r>
            <a:endParaRPr lang="en-US" sz="1500" dirty="0"/>
          </a:p>
          <a:p>
            <a:pPr marL="0" indent="0" algn="ctr">
              <a:buNone/>
            </a:pPr>
            <a:r>
              <a:rPr lang="en-US" sz="1500" b="1" dirty="0">
                <a:solidFill>
                  <a:srgbClr val="B0402C"/>
                </a:solidFill>
                <a:latin typeface="Malgun Gothic" pitchFamily="34" charset="0"/>
                <a:ea typeface="Malgun Gothic" pitchFamily="34" charset="-122"/>
                <a:cs typeface="Malgun Gothic" pitchFamily="34" charset="-120"/>
              </a:rPr>
              <a:t>오늘 슬라이드 · 프롬프트 모음 · checkpoint-final</a:t>
            </a:r>
            <a:endParaRPr lang="en-US" sz="1500" dirty="0"/>
          </a:p>
        </p:txBody>
      </p:sp>
      <p:sp>
        <p:nvSpPr>
          <p:cNvPr id="11" name="Text 8"/>
          <p:cNvSpPr txBox="1"/>
          <p:nvPr/>
        </p:nvSpPr>
        <p:spPr>
          <a:xfrm>
            <a:off x="8046720" y="3566160"/>
            <a:ext cx="3566160" cy="457200"/>
          </a:xfrm>
          <a:prstGeom prst="rect">
            <a:avLst/>
          </a:prstGeom>
          <a:noFill/>
          <a:ln/>
        </p:spPr>
        <p:txBody>
          <a:bodyPr wrap="square" lIns="0" tIns="0" rIns="0" bIns="0" rtlCol="0" anchor="ctr"/>
          <a:lstStyle/>
          <a:p>
            <a:pPr marL="0" indent="0">
              <a:buNone/>
            </a:pPr>
            <a:r>
              <a:rPr lang="en-US" sz="2000" b="1" dirty="0">
                <a:solidFill>
                  <a:srgbClr val="356E67"/>
                </a:solidFill>
                <a:latin typeface="Malgun Gothic" pitchFamily="34" charset="0"/>
                <a:ea typeface="Malgun Gothic" pitchFamily="34" charset="-122"/>
                <a:cs typeface="Malgun Gothic" pitchFamily="34" charset="-120"/>
              </a:rPr>
              <a:t>설문</a:t>
            </a:r>
            <a:endParaRPr lang="en-US" sz="2000" dirty="0"/>
          </a:p>
        </p:txBody>
      </p:sp>
      <p:sp>
        <p:nvSpPr>
          <p:cNvPr id="12" name="Text 9"/>
          <p:cNvSpPr/>
          <p:nvPr/>
        </p:nvSpPr>
        <p:spPr>
          <a:xfrm>
            <a:off x="8046720" y="4069080"/>
            <a:ext cx="3566160" cy="2103120"/>
          </a:xfrm>
          <a:prstGeom prst="rect">
            <a:avLst/>
          </a:prstGeom>
          <a:solidFill>
            <a:srgbClr val="FFF1CC"/>
          </a:solidFill>
          <a:ln w="25400">
            <a:solidFill>
              <a:srgbClr val="B0402C"/>
            </a:solidFill>
            <a:prstDash val="dash"/>
          </a:ln>
        </p:spPr>
        <p:txBody>
          <a:bodyPr wrap="square" lIns="76200" tIns="76200" rIns="76200" bIns="76200" rtlCol="0" anchor="ctr"/>
          <a:lstStyle/>
          <a:p>
            <a:pPr marL="0" indent="0" algn="ctr">
              <a:buNone/>
            </a:pPr>
            <a:r>
              <a:rPr lang="en-US" sz="1500" b="1" dirty="0">
                <a:solidFill>
                  <a:srgbClr val="B0402C"/>
                </a:solidFill>
                <a:latin typeface="Malgun Gothic" pitchFamily="34" charset="0"/>
                <a:ea typeface="Malgun Gothic" pitchFamily="34" charset="-122"/>
                <a:cs typeface="Malgun Gothic" pitchFamily="34" charset="-120"/>
              </a:rPr>
              <a:t>[설문 링크/QR 자리: 강사가 연수 직전에 채움]</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5E45"/>
                </a:solidFill>
                <a:latin typeface="Malgun Gothic"/>
                <a:ea typeface="Malgun Gothic"/>
                <a:cs typeface="Malgun Gothic"/>
              </a:defRPr>
            </a:lvl1pPr>
          </a:lstStyle>
          <a:p>
            <a:pPr algn="r"/>
            <a:fld id="{F7021451-1387-4CA6-816F-3879F97B5CBC}" type="slidenum">
              <a:rPr lang="en-US" b="0"/>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24678</Words>
  <Application>Microsoft Macintosh PowerPoint</Application>
  <PresentationFormat>와이드스크린</PresentationFormat>
  <Paragraphs>1050</Paragraphs>
  <Slides>54</Slides>
  <Notes>54</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54</vt:i4>
      </vt:variant>
    </vt:vector>
  </HeadingPairs>
  <TitlesOfParts>
    <vt:vector size="58" baseType="lpstr">
      <vt:lpstr>Malgun Gothic</vt:lpstr>
      <vt:lpstr>Arial</vt:lpstr>
      <vt:lpstr>Consolas</vt:lpstr>
      <vt:lpstr>Office Theme</vt:lpstr>
      <vt:lpstr>PowerPoint 프레젠테이션</vt:lpstr>
      <vt:lpstr>완성본 먼저 보기</vt:lpstr>
      <vt:lpstr>오늘의 지도와 준비물</vt:lpstr>
      <vt:lpstr>Claude Code는 말로 시키는 보조교사</vt:lpstr>
      <vt:lpstr>첫 요청: "환영합니다" 페이지</vt:lpstr>
      <vt:lpstr>오늘의 작업 리듬</vt:lpstr>
      <vt:lpstr>Firebase 한 장 정리</vt:lpstr>
      <vt:lpstr>프로젝트 만들기</vt:lpstr>
      <vt:lpstr>웹 앱 등록과 firebaseConfig 복사</vt:lpstr>
      <vt:lpstr>웹 설정값은 공개돼도 괜찮다</vt:lpstr>
      <vt:lpstr>구글 로그인 제공업체 켜기</vt:lpstr>
      <vt:lpstr>승인된 도메인에 localhost 추가</vt:lpstr>
      <vt:lpstr>Firestore 만들기와 임시 규칙</vt:lpstr>
      <vt:lpstr>설정값을 프로젝트에 저장</vt:lpstr>
      <vt:lpstr>프롬프트 1: 로그인/로그아웃 버튼</vt:lpstr>
      <vt:lpstr>프롬프트 2: users 문서와 역할 선택</vt:lpstr>
      <vt:lpstr>확인: Firestore에서 내 문서 보기</vt:lpstr>
      <vt:lpstr>막힘 모음과 복구 지점</vt:lpstr>
      <vt:lpstr>수업코드 = 교실 열쇠</vt:lpstr>
      <vt:lpstr>보안 원칙 3·4 미리보기</vt:lpstr>
      <vt:lpstr>실습 1: 교사가 수업 만들기</vt:lpstr>
      <vt:lpstr>실습 2: 학생이 코드로 가입</vt:lpstr>
      <vt:lpstr>실습 3: 내 수업 목록</vt:lpstr>
      <vt:lpstr>짝 활동: 옆 사람 코드로 가입</vt:lpstr>
      <vt:lpstr>막힘 모음과 복구 지점</vt:lpstr>
      <vt:lpstr>휴식 10분</vt:lpstr>
      <vt:lpstr>내 HTML 자료, 클래스룸에 올리자</vt:lpstr>
      <vt:lpstr>자료는 유리 진열장에 넣어서 보여 준다</vt:lpstr>
      <vt:lpstr>실습 1: 교사 자료 등록 폼</vt:lpstr>
      <vt:lpstr>실습 2: 학생 목록과 유리 진열장</vt:lpstr>
      <vt:lpstr>실습 3: 학생 계정으로 확인</vt:lpstr>
      <vt:lpstr>정리: 막힘 모음과 복구 지점</vt:lpstr>
      <vt:lpstr>학습지 = 문항지 1장 + 학생별 답안지</vt:lpstr>
      <vt:lpstr>답안지 이름이 학생 번호인 이유</vt:lpstr>
      <vt:lpstr>교사 학습지 작성 화면 만들기</vt:lpstr>
      <vt:lpstr>학생 학습지 풀기와 제출</vt:lpstr>
      <vt:lpstr>교사 제출현황 표</vt:lpstr>
      <vt:lpstr>생각해 보기: 정답이 문항 속에 있으면?</vt:lpstr>
      <vt:lpstr>막힘 모음과 복구 지점</vt:lpstr>
      <vt:lpstr>맞춤 피드백, 세 단계로 만든다</vt:lpstr>
      <vt:lpstr>비밀은 서버에, 피드백은 본인만</vt:lpstr>
      <vt:lpstr>정답 비교로 피드백 초안 만들기</vt:lpstr>
      <vt:lpstr>고쳐서 저장하면 학생 화면에 도착</vt:lpstr>
      <vt:lpstr>확인: 제출부터 피드백 수신까지</vt:lpstr>
      <vt:lpstr>심화: AI가 초안을 써 주는 피드백</vt:lpstr>
      <vt:lpstr>AI를 쓸 때 지킬 것, 그리고 복구 지점</vt:lpstr>
      <vt:lpstr>보안 규칙 = 교무실 출입 규칙</vt:lpstr>
      <vt:lpstr>5원칙을 문장으로 주고 규칙 파일 만들기</vt:lpstr>
      <vt:lpstr>규칙과 웹사이트를 인터넷에 올리기</vt:lpstr>
      <vt:lpstr>막히는지 직접 눈으로 확인하기</vt:lpstr>
      <vt:lpstr>검증 체크리스트 5항목</vt:lpstr>
      <vt:lpstr>오늘 만든 것: 7개 모듈 회고</vt:lpstr>
      <vt:lpstr>우리 학교에서 쓰기 전에 확인할 3가지</vt:lpstr>
      <vt:lpstr>다음 걸음과 설문</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온라인 클래스룸 교원 연수</dc:title>
  <dc:subject>PptxGenJS Presentation</dc:subject>
  <dc:creator>교원 연수 팀</dc:creator>
  <cp:lastModifiedBy>이준구</cp:lastModifiedBy>
  <cp:revision>2</cp:revision>
  <dcterms:created xsi:type="dcterms:W3CDTF">2026-10-03T13:23:11Z</dcterms:created>
  <dcterms:modified xsi:type="dcterms:W3CDTF">2026-10-03T13:46:19Z</dcterms:modified>
</cp:coreProperties>
</file>